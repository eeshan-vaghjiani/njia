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Njia means path in Swahili. We are Dhruzzz, a Kenya ONLINE team. Wanjiru is an illustrative persona, not an interviewed user. The working production advisor connects CV evidence to historical country-and-role demand, suggested CV rewrites and a seven-day plan. Public desktop, mobile and recording runs used real Groq inference; the evidence is summarized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hand-authored illustration of the intended assessment output, not a captured model response. Both bullets use the same facts: cleaned sales data in Excel and built weekly charts. There is no invented business impact, percentage or credential. The SQL recommendation is an illustrative gap when SQL is not evidenced in the CV; absence of CV evidence does not mean absence of ability. The current upgrade adds a tailored seven-day action plan and interview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recalculated directly from data/africa_jobs_subset.jsonl. The full subset has 18,371 postings across ten countries, including 1,326 Kenyan postings across roles. The denominator for this chart is 391 Kenya Data Analyst postings. A posting may mention several skills, so the bars are not parts of a total. Source: Hugging Face lukebarousse/data_jobs, Apache-2.0, 2023. This is a historical job-posting sample, not live hiring demand or a representative census of Kenya's labor market.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production desktop, mobile and recording runs confirmed Groq, openai/gpt-oss-20b. User opts in before CV text is sent to the external AI provider, after basic PII redaction. Redaction is best-effort rather than full anonymization. There is no application database persistence of the CV; this does not make a provider-retention claim. The advisor validates output shape, supported skill IDs and source quotes, and checks newly introduced numbers/tools in rewrites. These checks do not prove semantic factuality: the recorded rewrite added unsupported real-time sales monitoring. Human factual review remains necessary. Rules-based guidance is the fallback when the model is unavailable or output is rejected.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phone panels are code-native illustrations, not screenshots. The new public mobile flow passed at 390 by 844 with real Groq output, no horizontal overflow and no JavaScript errors. The flow covers consent, CV strengths, historical market priorities, a seven-day plan, an interview question and a downloadable HTML brief. The real sample returned 39.6% demand-weighted coverage over 391 Kenya Data Analyst postings; this is not hiring probability. Desktop returned three rewrites; mobile returned an honest empty rewrite list. No app install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implementation owner confirms 72 passing backend unit-test methods. Separately, coach-acceptance-results.json records 48 passing public acceptance assertions and njia-coach-demo-results.json records nine passing recording assertions, totaling 57 new public assertions. No mocked responses. Desktop, mobile and recording used Groq openai/gpt-oss-20b. Observed elapsed times were 2.259 seconds desktop, 1.318 mobile and 2.260 recording including PDF processing; these are individual observations, not a latency benchmark. All three runs recorded no JavaScript errors and all observed API responses succeeded. The sample used 391 Kenya Data Analyst postings and returned 39.6% demand-weighted coverage, not hiring odds. Recording is exactly 90 seconds at normal speed. Semantic factuality is not guaranteed: the recorded rewrite added unsupported real-time sales monitoring, despite number/tool checks. Human review is required. No real-user adoption or employment impact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pilot, not adoption or a signed partnership. We propose recruiting ten Kenyan learners with one training partner, reviewing outputs with a facilitator and following up after seven days. Measure completion, factual rewrite acceptance, saved practice artifacts, usefulness and mobile friction; do not present target outcomes as achieved. Click Mobile fit is the practical mobile-first Kenyan learner journey, with Dhruzzz participating as Kenya ONLINE. Published Kenya-only scope aligns with the team context; final award eligibility is determined by organizers. Brightest fits skills and employability, and Artefact fits visible use of local data and AI. No award win or organizer endorsement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live product and source repository. Team: Eeshan Vaghjiani, Bhavin Mepani and Dhruvin Bhudia; Kenya ONLINE. The new recorded production demo is verified locally at exactly 90 seconds, normal speed, with captions. Slide 8 links to the expected demo-v1 release asset njia-demo-90s.webm; upload of the updated asset is pending confirmation. Ask for a Kenyan learner or training partner to run the proposed pilot.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lukebarousse/data_jobs"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omycode-2026.vercel.app" TargetMode="External"/><Relationship Id="rId3" Type="http://schemas.openxmlformats.org/officeDocument/2006/relationships/hyperlink" Target="https://github.com/Eeshan-Vaghjiani/njia" TargetMode="External"/><Relationship Id="rId4" Type="http://schemas.openxmlformats.org/officeDocument/2006/relationships/hyperlink" Target="https://github.com/Eeshan-Vaghjiani/njia/releases/download/demo-v1/njia-demo-90s.webm" TargetMode="External"/><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01  /  THE KENYAN LEARNER</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F7F4EC"/>
                </a:solidFill>
                <a:latin typeface="Georgia"/>
              </a:rPr>
              <a:t>A CV tells your past.</a:t>
            </a:r>
          </a:p>
          <a:p>
            <a:pPr algn="l">
              <a:lnSpc>
                <a:spcPct val="112000"/>
              </a:lnSpc>
              <a:spcBef>
                <a:spcPts val="0"/>
              </a:spcBef>
              <a:spcAft>
                <a:spcPts val="0"/>
              </a:spcAft>
            </a:pPr>
            <a:r>
              <a:rPr sz="4680" b="1">
                <a:solidFill>
                  <a:srgbClr val="F7F4EC"/>
                </a:solidFill>
                <a:latin typeface="Georgia"/>
              </a:rPr>
              <a:t>Njia helps choose your next step.</a:t>
            </a:r>
          </a:p>
        </p:txBody>
      </p:sp>
      <p:sp>
        <p:nvSpPr>
          <p:cNvPr id="5" name="Rectangle 4"/>
          <p:cNvSpPr/>
          <p:nvPr/>
        </p:nvSpPr>
        <p:spPr>
          <a:xfrm>
            <a:off x="658368" y="7662672"/>
            <a:ext cx="13313664" cy="9144"/>
          </a:xfrm>
          <a:prstGeom prst="rect">
            <a:avLst/>
          </a:prstGeom>
          <a:solidFill>
            <a:srgbClr val="385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D4DEE6"/>
                </a:solidFill>
                <a:latin typeface="Segoe UI"/>
              </a:rPr>
              <a:t>NJIA  /  DHRUZZZ  /  KENYA · ONLINE</a:t>
            </a:r>
          </a:p>
        </p:txBody>
      </p:sp>
      <p:sp>
        <p:nvSpPr>
          <p:cNvPr id="7" name="TextBox 6"/>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D4DEE6"/>
                </a:solidFill>
                <a:latin typeface="Segoe UI"/>
              </a:rPr>
              <a:t>01 / 08</a:t>
            </a:r>
          </a:p>
        </p:txBody>
      </p:sp>
      <p:sp>
        <p:nvSpPr>
          <p:cNvPr id="8" name="TextBox 7"/>
          <p:cNvSpPr txBox="1"/>
          <p:nvPr/>
        </p:nvSpPr>
        <p:spPr>
          <a:xfrm>
            <a:off x="694944" y="2697480"/>
            <a:ext cx="8412480" cy="960120"/>
          </a:xfrm>
          <a:prstGeom prst="rect">
            <a:avLst/>
          </a:prstGeom>
          <a:noFill/>
        </p:spPr>
        <p:txBody>
          <a:bodyPr wrap="square" lIns="0" rIns="0" tIns="0" bIns="0">
            <a:spAutoFit/>
          </a:bodyPr>
          <a:lstStyle/>
          <a:p>
            <a:pPr algn="l">
              <a:lnSpc>
                <a:spcPct val="112000"/>
              </a:lnSpc>
              <a:spcBef>
                <a:spcPts val="0"/>
              </a:spcBef>
              <a:spcAft>
                <a:spcPts val="0"/>
              </a:spcAft>
            </a:pPr>
            <a:r>
              <a:rPr sz="2448" b="0">
                <a:solidFill>
                  <a:srgbClr val="D4DEE6"/>
                </a:solidFill>
                <a:latin typeface="Segoe UI"/>
              </a:rPr>
              <a:t>AI career guidance grounded in your CV</a:t>
            </a:r>
          </a:p>
          <a:p>
            <a:pPr algn="l">
              <a:lnSpc>
                <a:spcPct val="112000"/>
              </a:lnSpc>
              <a:spcBef>
                <a:spcPts val="0"/>
              </a:spcBef>
              <a:spcAft>
                <a:spcPts val="0"/>
              </a:spcAft>
            </a:pPr>
            <a:r>
              <a:rPr sz="2448" b="0">
                <a:solidFill>
                  <a:srgbClr val="D4DEE6"/>
                </a:solidFill>
                <a:latin typeface="Segoe UI"/>
              </a:rPr>
              <a:t>and the skills your target market asks for.</a:t>
            </a:r>
          </a:p>
        </p:txBody>
      </p:sp>
      <p:sp>
        <p:nvSpPr>
          <p:cNvPr id="9" name="TextBox 8"/>
          <p:cNvSpPr txBox="1"/>
          <p:nvPr/>
        </p:nvSpPr>
        <p:spPr>
          <a:xfrm>
            <a:off x="694944" y="4215384"/>
            <a:ext cx="548640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THE LEARNER'S THREE QUESTIONS</a:t>
            </a:r>
          </a:p>
        </p:txBody>
      </p:sp>
      <p:sp>
        <p:nvSpPr>
          <p:cNvPr id="10" name="TextBox 9"/>
          <p:cNvSpPr txBox="1"/>
          <p:nvPr/>
        </p:nvSpPr>
        <p:spPr>
          <a:xfrm>
            <a:off x="694944" y="4736592"/>
            <a:ext cx="502920" cy="411480"/>
          </a:xfrm>
          <a:prstGeom prst="rect">
            <a:avLst/>
          </a:prstGeom>
          <a:noFill/>
        </p:spPr>
        <p:txBody>
          <a:bodyPr wrap="square" lIns="0" rIns="0" tIns="0" bIns="0">
            <a:spAutoFit/>
          </a:bodyPr>
          <a:lstStyle/>
          <a:p>
            <a:pPr algn="l">
              <a:lnSpc>
                <a:spcPct val="112000"/>
              </a:lnSpc>
              <a:spcBef>
                <a:spcPts val="0"/>
              </a:spcBef>
              <a:spcAft>
                <a:spcPts val="0"/>
              </a:spcAft>
            </a:pPr>
            <a:r>
              <a:rPr sz="1943" b="1">
                <a:solidFill>
                  <a:srgbClr val="F27B43"/>
                </a:solidFill>
                <a:latin typeface="Segoe UI"/>
              </a:rPr>
              <a:t>01</a:t>
            </a:r>
          </a:p>
        </p:txBody>
      </p:sp>
      <p:sp>
        <p:nvSpPr>
          <p:cNvPr id="11" name="TextBox 10"/>
          <p:cNvSpPr txBox="1"/>
          <p:nvPr/>
        </p:nvSpPr>
        <p:spPr>
          <a:xfrm>
            <a:off x="1353312" y="4736592"/>
            <a:ext cx="7223760" cy="384048"/>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F7F4EC"/>
                </a:solidFill>
                <a:latin typeface="Segoe UI"/>
              </a:rPr>
              <a:t>What can I already show?</a:t>
            </a:r>
          </a:p>
        </p:txBody>
      </p:sp>
      <p:sp>
        <p:nvSpPr>
          <p:cNvPr id="12" name="TextBox 11"/>
          <p:cNvSpPr txBox="1"/>
          <p:nvPr/>
        </p:nvSpPr>
        <p:spPr>
          <a:xfrm>
            <a:off x="1353312" y="5120640"/>
            <a:ext cx="7315200" cy="356616"/>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Find strengths backed by actual CV excerpts.</a:t>
            </a:r>
          </a:p>
        </p:txBody>
      </p:sp>
      <p:sp>
        <p:nvSpPr>
          <p:cNvPr id="13" name="TextBox 12"/>
          <p:cNvSpPr txBox="1"/>
          <p:nvPr/>
        </p:nvSpPr>
        <p:spPr>
          <a:xfrm>
            <a:off x="694944" y="5596128"/>
            <a:ext cx="502920" cy="411480"/>
          </a:xfrm>
          <a:prstGeom prst="rect">
            <a:avLst/>
          </a:prstGeom>
          <a:noFill/>
        </p:spPr>
        <p:txBody>
          <a:bodyPr wrap="square" lIns="0" rIns="0" tIns="0" bIns="0">
            <a:spAutoFit/>
          </a:bodyPr>
          <a:lstStyle/>
          <a:p>
            <a:pPr algn="l">
              <a:lnSpc>
                <a:spcPct val="112000"/>
              </a:lnSpc>
              <a:spcBef>
                <a:spcPts val="0"/>
              </a:spcBef>
              <a:spcAft>
                <a:spcPts val="0"/>
              </a:spcAft>
            </a:pPr>
            <a:r>
              <a:rPr sz="1943" b="1">
                <a:solidFill>
                  <a:srgbClr val="F27B43"/>
                </a:solidFill>
                <a:latin typeface="Segoe UI"/>
              </a:rPr>
              <a:t>02</a:t>
            </a:r>
          </a:p>
        </p:txBody>
      </p:sp>
      <p:sp>
        <p:nvSpPr>
          <p:cNvPr id="14" name="TextBox 13"/>
          <p:cNvSpPr txBox="1"/>
          <p:nvPr/>
        </p:nvSpPr>
        <p:spPr>
          <a:xfrm>
            <a:off x="1353312" y="5596128"/>
            <a:ext cx="7223760" cy="384048"/>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F7F4EC"/>
                </a:solidFill>
                <a:latin typeface="Segoe UI"/>
              </a:rPr>
              <a:t>What should I work on first?</a:t>
            </a:r>
          </a:p>
        </p:txBody>
      </p:sp>
      <p:sp>
        <p:nvSpPr>
          <p:cNvPr id="15" name="TextBox 14"/>
          <p:cNvSpPr txBox="1"/>
          <p:nvPr/>
        </p:nvSpPr>
        <p:spPr>
          <a:xfrm>
            <a:off x="1353312" y="5980176"/>
            <a:ext cx="7315200" cy="356616"/>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Prioritize skills using Kenya + target-role data.</a:t>
            </a:r>
          </a:p>
        </p:txBody>
      </p:sp>
      <p:sp>
        <p:nvSpPr>
          <p:cNvPr id="16" name="TextBox 15"/>
          <p:cNvSpPr txBox="1"/>
          <p:nvPr/>
        </p:nvSpPr>
        <p:spPr>
          <a:xfrm>
            <a:off x="694944" y="6455664"/>
            <a:ext cx="502920" cy="411480"/>
          </a:xfrm>
          <a:prstGeom prst="rect">
            <a:avLst/>
          </a:prstGeom>
          <a:noFill/>
        </p:spPr>
        <p:txBody>
          <a:bodyPr wrap="square" lIns="0" rIns="0" tIns="0" bIns="0">
            <a:spAutoFit/>
          </a:bodyPr>
          <a:lstStyle/>
          <a:p>
            <a:pPr algn="l">
              <a:lnSpc>
                <a:spcPct val="112000"/>
              </a:lnSpc>
              <a:spcBef>
                <a:spcPts val="0"/>
              </a:spcBef>
              <a:spcAft>
                <a:spcPts val="0"/>
              </a:spcAft>
            </a:pPr>
            <a:r>
              <a:rPr sz="1943" b="1">
                <a:solidFill>
                  <a:srgbClr val="F27B43"/>
                </a:solidFill>
                <a:latin typeface="Segoe UI"/>
              </a:rPr>
              <a:t>03</a:t>
            </a:r>
          </a:p>
        </p:txBody>
      </p:sp>
      <p:sp>
        <p:nvSpPr>
          <p:cNvPr id="17" name="TextBox 16"/>
          <p:cNvSpPr txBox="1"/>
          <p:nvPr/>
        </p:nvSpPr>
        <p:spPr>
          <a:xfrm>
            <a:off x="1353312" y="6455664"/>
            <a:ext cx="7223760" cy="384048"/>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F7F4EC"/>
                </a:solidFill>
                <a:latin typeface="Segoe UI"/>
              </a:rPr>
              <a:t>What can I do this week?</a:t>
            </a:r>
          </a:p>
        </p:txBody>
      </p:sp>
      <p:sp>
        <p:nvSpPr>
          <p:cNvPr id="18" name="TextBox 17"/>
          <p:cNvSpPr txBox="1"/>
          <p:nvPr/>
        </p:nvSpPr>
        <p:spPr>
          <a:xfrm>
            <a:off x="1353312" y="6839712"/>
            <a:ext cx="7315200" cy="356616"/>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Leave with clearer CV bullets and concrete practice.</a:t>
            </a:r>
          </a:p>
        </p:txBody>
      </p:sp>
      <p:sp>
        <p:nvSpPr>
          <p:cNvPr id="19" name="Rounded Rectangle 18"/>
          <p:cNvSpPr/>
          <p:nvPr/>
        </p:nvSpPr>
        <p:spPr>
          <a:xfrm>
            <a:off x="9601200" y="2743200"/>
            <a:ext cx="4370832" cy="4398264"/>
          </a:xfrm>
          <a:prstGeom prst="roundRect">
            <a:avLst>
              <a:gd name="adj" fmla="val 3765"/>
            </a:avLst>
          </a:prstGeom>
          <a:solidFill>
            <a:srgbClr val="20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85248" y="2999232"/>
            <a:ext cx="1188720" cy="1097280"/>
          </a:xfrm>
          <a:prstGeom prst="rect">
            <a:avLst/>
          </a:prstGeom>
          <a:noFill/>
        </p:spPr>
        <p:txBody>
          <a:bodyPr wrap="square" lIns="0" rIns="0" tIns="0" bIns="0">
            <a:spAutoFit/>
          </a:bodyPr>
          <a:lstStyle/>
          <a:p>
            <a:pPr algn="l">
              <a:lnSpc>
                <a:spcPct val="112000"/>
              </a:lnSpc>
              <a:spcBef>
                <a:spcPts val="0"/>
              </a:spcBef>
              <a:spcAft>
                <a:spcPts val="0"/>
              </a:spcAft>
            </a:pPr>
            <a:r>
              <a:rPr sz="6480" b="0">
                <a:solidFill>
                  <a:srgbClr val="F27B43"/>
                </a:solidFill>
                <a:latin typeface="Georgia"/>
              </a:rPr>
              <a:t>W</a:t>
            </a:r>
          </a:p>
        </p:txBody>
      </p:sp>
      <p:sp>
        <p:nvSpPr>
          <p:cNvPr id="21" name="TextBox 20"/>
          <p:cNvSpPr txBox="1"/>
          <p:nvPr/>
        </p:nvSpPr>
        <p:spPr>
          <a:xfrm>
            <a:off x="10012680" y="4251960"/>
            <a:ext cx="34747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D4DEE6"/>
                </a:solidFill>
                <a:latin typeface="Segoe UI"/>
              </a:rPr>
              <a:t>ILLUSTRATIVE PERSONA</a:t>
            </a:r>
          </a:p>
        </p:txBody>
      </p:sp>
      <p:sp>
        <p:nvSpPr>
          <p:cNvPr id="22" name="TextBox 21"/>
          <p:cNvSpPr txBox="1"/>
          <p:nvPr/>
        </p:nvSpPr>
        <p:spPr>
          <a:xfrm>
            <a:off x="10012680" y="4672584"/>
            <a:ext cx="3547872" cy="1024128"/>
          </a:xfrm>
          <a:prstGeom prst="rect">
            <a:avLst/>
          </a:prstGeom>
          <a:noFill/>
        </p:spPr>
        <p:txBody>
          <a:bodyPr wrap="square" lIns="0" rIns="0" tIns="0" bIns="0">
            <a:spAutoFit/>
          </a:bodyPr>
          <a:lstStyle/>
          <a:p>
            <a:pPr algn="l">
              <a:lnSpc>
                <a:spcPct val="112000"/>
              </a:lnSpc>
              <a:spcBef>
                <a:spcPts val="0"/>
              </a:spcBef>
              <a:spcAft>
                <a:spcPts val="0"/>
              </a:spcAft>
            </a:pPr>
            <a:r>
              <a:rPr sz="2232" b="1">
                <a:solidFill>
                  <a:srgbClr val="F7F4EC"/>
                </a:solidFill>
                <a:latin typeface="Segoe UI"/>
              </a:rPr>
              <a:t>Wanjiru</a:t>
            </a:r>
          </a:p>
          <a:p>
            <a:pPr algn="l">
              <a:lnSpc>
                <a:spcPct val="112000"/>
              </a:lnSpc>
              <a:spcBef>
                <a:spcPts val="0"/>
              </a:spcBef>
              <a:spcAft>
                <a:spcPts val="0"/>
              </a:spcAft>
            </a:pPr>
            <a:r>
              <a:rPr sz="2232" b="1">
                <a:solidFill>
                  <a:srgbClr val="F7F4EC"/>
                </a:solidFill>
                <a:latin typeface="Segoe UI"/>
              </a:rPr>
              <a:t>Nairobi · aspiring data analyst</a:t>
            </a:r>
          </a:p>
        </p:txBody>
      </p:sp>
      <p:sp>
        <p:nvSpPr>
          <p:cNvPr id="23" name="TextBox 22"/>
          <p:cNvSpPr txBox="1"/>
          <p:nvPr/>
        </p:nvSpPr>
        <p:spPr>
          <a:xfrm>
            <a:off x="10012680" y="5934456"/>
            <a:ext cx="3557016" cy="978408"/>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D4DEE6"/>
                </a:solidFill>
                <a:latin typeface="Segoe UI"/>
              </a:rPr>
              <a:t>Has project experience.</a:t>
            </a:r>
          </a:p>
          <a:p>
            <a:pPr algn="l">
              <a:lnSpc>
                <a:spcPct val="112000"/>
              </a:lnSpc>
              <a:spcBef>
                <a:spcPts val="0"/>
              </a:spcBef>
              <a:spcAft>
                <a:spcPts val="0"/>
              </a:spcAft>
            </a:pPr>
            <a:r>
              <a:rPr sz="1872" b="0">
                <a:solidFill>
                  <a:srgbClr val="D4DEE6"/>
                </a:solidFill>
                <a:latin typeface="Segoe UI"/>
              </a:rPr>
              <a:t>Needs a credible CV and</a:t>
            </a:r>
          </a:p>
          <a:p>
            <a:pPr algn="l">
              <a:lnSpc>
                <a:spcPct val="112000"/>
              </a:lnSpc>
              <a:spcBef>
                <a:spcPts val="0"/>
              </a:spcBef>
              <a:spcAft>
                <a:spcPts val="0"/>
              </a:spcAft>
            </a:pPr>
            <a:r>
              <a:rPr sz="1872" b="0">
                <a:solidFill>
                  <a:srgbClr val="D4DEE6"/>
                </a:solidFill>
                <a:latin typeface="Segoe UI"/>
              </a:rPr>
              <a:t>a focused learning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02  /  THE PRODUCT UPGRADE</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1B2D40"/>
                </a:solidFill>
                <a:latin typeface="Georgia"/>
              </a:rPr>
              <a:t>From a vague bullet to a useful next move.</a:t>
            </a:r>
          </a:p>
        </p:txBody>
      </p:sp>
      <p:sp>
        <p:nvSpPr>
          <p:cNvPr id="5" name="TextBox 4"/>
          <p:cNvSpPr txBox="1"/>
          <p:nvPr/>
        </p:nvSpPr>
        <p:spPr>
          <a:xfrm>
            <a:off x="685800" y="2514600"/>
            <a:ext cx="13167360" cy="640080"/>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586777"/>
                </a:solidFill>
                <a:latin typeface="Segoe UI"/>
              </a:rPr>
              <a:t>One assessment: evidence-grounded strengths, demand priorities, suggested rewrites and interview practice.</a:t>
            </a:r>
          </a:p>
        </p:txBody>
      </p:sp>
      <p:sp>
        <p:nvSpPr>
          <p:cNvPr id="6" name="Rectangle 5"/>
          <p:cNvSpPr/>
          <p:nvPr/>
        </p:nvSpPr>
        <p:spPr>
          <a:xfrm>
            <a:off x="658368" y="7662672"/>
            <a:ext cx="13313664" cy="9144"/>
          </a:xfrm>
          <a:prstGeom prst="rect">
            <a:avLst/>
          </a:prstGeom>
          <a:solidFill>
            <a:srgbClr val="DD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86777"/>
                </a:solidFill>
                <a:latin typeface="Segoe UI"/>
              </a:rPr>
              <a:t>NJIA  /  DHRUZZZ  /  KENYA · ONLINE</a:t>
            </a:r>
          </a:p>
        </p:txBody>
      </p:sp>
      <p:sp>
        <p:nvSpPr>
          <p:cNvPr id="8" name="TextBox 7"/>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86777"/>
                </a:solidFill>
                <a:latin typeface="Segoe UI"/>
              </a:rPr>
              <a:t>02 / 08</a:t>
            </a:r>
          </a:p>
        </p:txBody>
      </p:sp>
      <p:sp>
        <p:nvSpPr>
          <p:cNvPr id="9" name="Rounded Rectangle 8"/>
          <p:cNvSpPr/>
          <p:nvPr/>
        </p:nvSpPr>
        <p:spPr>
          <a:xfrm>
            <a:off x="676656" y="3429000"/>
            <a:ext cx="6035040" cy="2212848"/>
          </a:xfrm>
          <a:prstGeom prst="roundRect">
            <a:avLst>
              <a:gd name="adj" fmla="val 578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77456" y="3429000"/>
            <a:ext cx="6894576" cy="2212848"/>
          </a:xfrm>
          <a:prstGeom prst="roundRect">
            <a:avLst>
              <a:gd name="adj" fmla="val 5785"/>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3657600"/>
            <a:ext cx="53035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BEFORE / SUPPLIED CV FACTS</a:t>
            </a:r>
          </a:p>
        </p:txBody>
      </p:sp>
      <p:sp>
        <p:nvSpPr>
          <p:cNvPr id="12" name="TextBox 11"/>
          <p:cNvSpPr txBox="1"/>
          <p:nvPr/>
        </p:nvSpPr>
        <p:spPr>
          <a:xfrm>
            <a:off x="950976" y="4123944"/>
            <a:ext cx="5303520" cy="1033271"/>
          </a:xfrm>
          <a:prstGeom prst="rect">
            <a:avLst/>
          </a:prstGeom>
          <a:noFill/>
        </p:spPr>
        <p:txBody>
          <a:bodyPr wrap="square" lIns="0" rIns="0" tIns="0" bIns="0">
            <a:spAutoFit/>
          </a:bodyPr>
          <a:lstStyle/>
          <a:p>
            <a:pPr algn="l">
              <a:lnSpc>
                <a:spcPct val="112000"/>
              </a:lnSpc>
              <a:spcBef>
                <a:spcPts val="0"/>
              </a:spcBef>
              <a:spcAft>
                <a:spcPts val="0"/>
              </a:spcAft>
            </a:pPr>
            <a:r>
              <a:rPr sz="2664" b="0">
                <a:solidFill>
                  <a:srgbClr val="1B2D40"/>
                </a:solidFill>
                <a:latin typeface="Georgia"/>
              </a:rPr>
              <a:t>“Cleaned sales data in Excel</a:t>
            </a:r>
          </a:p>
          <a:p>
            <a:pPr algn="l">
              <a:lnSpc>
                <a:spcPct val="112000"/>
              </a:lnSpc>
              <a:spcBef>
                <a:spcPts val="0"/>
              </a:spcBef>
              <a:spcAft>
                <a:spcPts val="0"/>
              </a:spcAft>
            </a:pPr>
            <a:r>
              <a:rPr sz="2664" b="0">
                <a:solidFill>
                  <a:srgbClr val="1B2D40"/>
                </a:solidFill>
                <a:latin typeface="Georgia"/>
              </a:rPr>
              <a:t>and made weekly charts.”</a:t>
            </a:r>
          </a:p>
        </p:txBody>
      </p:sp>
      <p:sp>
        <p:nvSpPr>
          <p:cNvPr id="13" name="TextBox 12"/>
          <p:cNvSpPr txBox="1"/>
          <p:nvPr/>
        </p:nvSpPr>
        <p:spPr>
          <a:xfrm>
            <a:off x="7388352" y="3657600"/>
            <a:ext cx="62179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AFTER / HUMAN-REVIEWED EXAMPLE</a:t>
            </a:r>
          </a:p>
        </p:txBody>
      </p:sp>
      <p:sp>
        <p:nvSpPr>
          <p:cNvPr id="14" name="TextBox 13"/>
          <p:cNvSpPr txBox="1"/>
          <p:nvPr/>
        </p:nvSpPr>
        <p:spPr>
          <a:xfrm>
            <a:off x="7388352" y="4123944"/>
            <a:ext cx="6190488" cy="1033271"/>
          </a:xfrm>
          <a:prstGeom prst="rect">
            <a:avLst/>
          </a:prstGeom>
          <a:noFill/>
        </p:spPr>
        <p:txBody>
          <a:bodyPr wrap="square" lIns="0" rIns="0" tIns="0" bIns="0">
            <a:spAutoFit/>
          </a:bodyPr>
          <a:lstStyle/>
          <a:p>
            <a:pPr algn="l">
              <a:lnSpc>
                <a:spcPct val="112000"/>
              </a:lnSpc>
              <a:spcBef>
                <a:spcPts val="0"/>
              </a:spcBef>
              <a:spcAft>
                <a:spcPts val="0"/>
              </a:spcAft>
            </a:pPr>
            <a:r>
              <a:rPr sz="2592" b="0">
                <a:solidFill>
                  <a:srgbClr val="F7F4EC"/>
                </a:solidFill>
                <a:latin typeface="Georgia"/>
              </a:rPr>
              <a:t>“Prepared weekly sales charts in Excel</a:t>
            </a:r>
          </a:p>
          <a:p>
            <a:pPr algn="l">
              <a:lnSpc>
                <a:spcPct val="112000"/>
              </a:lnSpc>
              <a:spcBef>
                <a:spcPts val="0"/>
              </a:spcBef>
              <a:spcAft>
                <a:spcPts val="0"/>
              </a:spcAft>
            </a:pPr>
            <a:r>
              <a:rPr sz="2592" b="0">
                <a:solidFill>
                  <a:srgbClr val="F7F4EC"/>
                </a:solidFill>
                <a:latin typeface="Georgia"/>
              </a:rPr>
              <a:t>using cleaned sales data.”</a:t>
            </a:r>
          </a:p>
        </p:txBody>
      </p:sp>
      <p:sp>
        <p:nvSpPr>
          <p:cNvPr id="15" name="Rectangle 14"/>
          <p:cNvSpPr/>
          <p:nvPr/>
        </p:nvSpPr>
        <p:spPr>
          <a:xfrm>
            <a:off x="676656" y="5971032"/>
            <a:ext cx="4160520" cy="36576"/>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6217920"/>
            <a:ext cx="4160520" cy="393192"/>
          </a:xfrm>
          <a:prstGeom prst="rect">
            <a:avLst/>
          </a:prstGeom>
          <a:noFill/>
        </p:spPr>
        <p:txBody>
          <a:bodyPr wrap="square" lIns="0" rIns="0" tIns="0" bIns="0">
            <a:spAutoFit/>
          </a:bodyPr>
          <a:lstStyle/>
          <a:p>
            <a:pPr algn="l">
              <a:lnSpc>
                <a:spcPct val="112000"/>
              </a:lnSpc>
              <a:spcBef>
                <a:spcPts val="0"/>
              </a:spcBef>
              <a:spcAft>
                <a:spcPts val="0"/>
              </a:spcAft>
            </a:pPr>
            <a:r>
              <a:rPr sz="2016" b="1">
                <a:solidFill>
                  <a:srgbClr val="1B2D40"/>
                </a:solidFill>
                <a:latin typeface="Segoe UI"/>
              </a:rPr>
              <a:t>01 / Strength</a:t>
            </a:r>
          </a:p>
        </p:txBody>
      </p:sp>
      <p:sp>
        <p:nvSpPr>
          <p:cNvPr id="17" name="TextBox 16"/>
          <p:cNvSpPr txBox="1"/>
          <p:nvPr/>
        </p:nvSpPr>
        <p:spPr>
          <a:xfrm>
            <a:off x="676656" y="6693408"/>
            <a:ext cx="4160520" cy="65836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86777"/>
                </a:solidFill>
                <a:latin typeface="Segoe UI"/>
              </a:rPr>
              <a:t>Excel data preparation, supported</a:t>
            </a:r>
          </a:p>
          <a:p>
            <a:pPr algn="l">
              <a:lnSpc>
                <a:spcPct val="112000"/>
              </a:lnSpc>
              <a:spcBef>
                <a:spcPts val="0"/>
              </a:spcBef>
              <a:spcAft>
                <a:spcPts val="0"/>
              </a:spcAft>
            </a:pPr>
            <a:r>
              <a:rPr sz="1728" b="0">
                <a:solidFill>
                  <a:srgbClr val="586777"/>
                </a:solidFill>
                <a:latin typeface="Segoe UI"/>
              </a:rPr>
              <a:t>by the learner's own CV excerpt.</a:t>
            </a:r>
          </a:p>
        </p:txBody>
      </p:sp>
      <p:sp>
        <p:nvSpPr>
          <p:cNvPr id="18" name="Rectangle 17"/>
          <p:cNvSpPr/>
          <p:nvPr/>
        </p:nvSpPr>
        <p:spPr>
          <a:xfrm>
            <a:off x="5221224" y="5971032"/>
            <a:ext cx="4160520" cy="36576"/>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21224" y="6217920"/>
            <a:ext cx="4160520" cy="393192"/>
          </a:xfrm>
          <a:prstGeom prst="rect">
            <a:avLst/>
          </a:prstGeom>
          <a:noFill/>
        </p:spPr>
        <p:txBody>
          <a:bodyPr wrap="square" lIns="0" rIns="0" tIns="0" bIns="0">
            <a:spAutoFit/>
          </a:bodyPr>
          <a:lstStyle/>
          <a:p>
            <a:pPr algn="l">
              <a:lnSpc>
                <a:spcPct val="112000"/>
              </a:lnSpc>
              <a:spcBef>
                <a:spcPts val="0"/>
              </a:spcBef>
              <a:spcAft>
                <a:spcPts val="0"/>
              </a:spcAft>
            </a:pPr>
            <a:r>
              <a:rPr sz="2016" b="1">
                <a:solidFill>
                  <a:srgbClr val="1B2D40"/>
                </a:solidFill>
                <a:latin typeface="Segoe UI"/>
              </a:rPr>
              <a:t>02 / Priority</a:t>
            </a:r>
          </a:p>
        </p:txBody>
      </p:sp>
      <p:sp>
        <p:nvSpPr>
          <p:cNvPr id="20" name="TextBox 19"/>
          <p:cNvSpPr txBox="1"/>
          <p:nvPr/>
        </p:nvSpPr>
        <p:spPr>
          <a:xfrm>
            <a:off x="5221224" y="6693408"/>
            <a:ext cx="4160520" cy="65836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86777"/>
                </a:solidFill>
                <a:latin typeface="Segoe UI"/>
              </a:rPr>
              <a:t>If SQL is not evidenced, start with</a:t>
            </a:r>
          </a:p>
          <a:p>
            <a:pPr algn="l">
              <a:lnSpc>
                <a:spcPct val="112000"/>
              </a:lnSpc>
              <a:spcBef>
                <a:spcPts val="0"/>
              </a:spcBef>
              <a:spcAft>
                <a:spcPts val="0"/>
              </a:spcAft>
            </a:pPr>
            <a:r>
              <a:rPr sz="1728" b="0">
                <a:solidFill>
                  <a:srgbClr val="586777"/>
                </a:solidFill>
                <a:latin typeface="Segoe UI"/>
              </a:rPr>
              <a:t>a JOIN and a checked summary.</a:t>
            </a:r>
          </a:p>
        </p:txBody>
      </p:sp>
      <p:sp>
        <p:nvSpPr>
          <p:cNvPr id="21" name="Rectangle 20"/>
          <p:cNvSpPr/>
          <p:nvPr/>
        </p:nvSpPr>
        <p:spPr>
          <a:xfrm>
            <a:off x="9765792" y="5971032"/>
            <a:ext cx="4160520" cy="36576"/>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6217920"/>
            <a:ext cx="4160520" cy="393192"/>
          </a:xfrm>
          <a:prstGeom prst="rect">
            <a:avLst/>
          </a:prstGeom>
          <a:noFill/>
        </p:spPr>
        <p:txBody>
          <a:bodyPr wrap="square" lIns="0" rIns="0" tIns="0" bIns="0">
            <a:spAutoFit/>
          </a:bodyPr>
          <a:lstStyle/>
          <a:p>
            <a:pPr algn="l">
              <a:lnSpc>
                <a:spcPct val="112000"/>
              </a:lnSpc>
              <a:spcBef>
                <a:spcPts val="0"/>
              </a:spcBef>
              <a:spcAft>
                <a:spcPts val="0"/>
              </a:spcAft>
            </a:pPr>
            <a:r>
              <a:rPr sz="2016" b="1">
                <a:solidFill>
                  <a:srgbClr val="1B2D40"/>
                </a:solidFill>
                <a:latin typeface="Segoe UI"/>
              </a:rPr>
              <a:t>03 / Action</a:t>
            </a:r>
          </a:p>
        </p:txBody>
      </p:sp>
      <p:sp>
        <p:nvSpPr>
          <p:cNvPr id="23" name="TextBox 22"/>
          <p:cNvSpPr txBox="1"/>
          <p:nvPr/>
        </p:nvSpPr>
        <p:spPr>
          <a:xfrm>
            <a:off x="9765792" y="6693408"/>
            <a:ext cx="4160520" cy="65836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86777"/>
                </a:solidFill>
                <a:latin typeface="Segoe UI"/>
              </a:rPr>
              <a:t>A seven-day plan plus a tailored</a:t>
            </a:r>
          </a:p>
          <a:p>
            <a:pPr algn="l">
              <a:lnSpc>
                <a:spcPct val="112000"/>
              </a:lnSpc>
              <a:spcBef>
                <a:spcPts val="0"/>
              </a:spcBef>
              <a:spcAft>
                <a:spcPts val="0"/>
              </a:spcAft>
            </a:pPr>
            <a:r>
              <a:rPr sz="1728" b="0">
                <a:solidFill>
                  <a:srgbClr val="586777"/>
                </a:solidFill>
                <a:latin typeface="Segoe UI"/>
              </a:rPr>
              <a:t>interview question and rubric.</a:t>
            </a:r>
          </a:p>
        </p:txBody>
      </p:sp>
      <p:sp>
        <p:nvSpPr>
          <p:cNvPr id="24" name="TextBox 23"/>
          <p:cNvSpPr txBox="1"/>
          <p:nvPr/>
        </p:nvSpPr>
        <p:spPr>
          <a:xfrm>
            <a:off x="694944" y="3072384"/>
            <a:ext cx="13167360" cy="256032"/>
          </a:xfrm>
          <a:prstGeom prst="rect">
            <a:avLst/>
          </a:prstGeom>
          <a:noFill/>
        </p:spPr>
        <p:txBody>
          <a:bodyPr wrap="square" lIns="0" rIns="0" tIns="0" bIns="0">
            <a:spAutoFit/>
          </a:bodyPr>
          <a:lstStyle/>
          <a:p>
            <a:pPr algn="l">
              <a:lnSpc>
                <a:spcPct val="112000"/>
              </a:lnSpc>
              <a:spcBef>
                <a:spcPts val="0"/>
              </a:spcBef>
              <a:spcAft>
                <a:spcPts val="0"/>
              </a:spcAft>
            </a:pPr>
            <a:r>
              <a:rPr sz="1296" b="0">
                <a:solidFill>
                  <a:srgbClr val="586777"/>
                </a:solidFill>
                <a:latin typeface="Segoe UI"/>
              </a:rPr>
              <a:t>CV rewrites checked for numbers/tools, still require human factual review. Example below is illustrative.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03  /  LOCAL DATA, VISIBLE DENOMINATORS</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1B2D40"/>
                </a:solidFill>
                <a:latin typeface="Georgia"/>
              </a:rPr>
              <a:t>Better priorities start with local context.</a:t>
            </a:r>
          </a:p>
        </p:txBody>
      </p:sp>
      <p:sp>
        <p:nvSpPr>
          <p:cNvPr id="5" name="TextBox 4"/>
          <p:cNvSpPr txBox="1"/>
          <p:nvPr/>
        </p:nvSpPr>
        <p:spPr>
          <a:xfrm>
            <a:off x="685800" y="2514600"/>
            <a:ext cx="13167360" cy="640080"/>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586777"/>
                </a:solidFill>
                <a:latin typeface="Segoe UI"/>
              </a:rPr>
              <a:t>Historical skill mentions inform the advice; the language model does not invent demand figures.</a:t>
            </a:r>
          </a:p>
        </p:txBody>
      </p:sp>
      <p:sp>
        <p:nvSpPr>
          <p:cNvPr id="6" name="Rectangle 5"/>
          <p:cNvSpPr/>
          <p:nvPr/>
        </p:nvSpPr>
        <p:spPr>
          <a:xfrm>
            <a:off x="658368" y="7662672"/>
            <a:ext cx="13313664" cy="9144"/>
          </a:xfrm>
          <a:prstGeom prst="rect">
            <a:avLst/>
          </a:prstGeom>
          <a:solidFill>
            <a:srgbClr val="DD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86777"/>
                </a:solidFill>
                <a:latin typeface="Segoe UI"/>
              </a:rPr>
              <a:t>NJIA  /  DHRUZZZ  /  KENYA · ONLINE</a:t>
            </a:r>
          </a:p>
        </p:txBody>
      </p:sp>
      <p:sp>
        <p:nvSpPr>
          <p:cNvPr id="8" name="TextBox 7"/>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86777"/>
                </a:solidFill>
                <a:latin typeface="Segoe UI"/>
              </a:rPr>
              <a:t>03 / 08</a:t>
            </a:r>
          </a:p>
        </p:txBody>
      </p:sp>
      <p:sp>
        <p:nvSpPr>
          <p:cNvPr id="9" name="TextBox 8"/>
          <p:cNvSpPr txBox="1"/>
          <p:nvPr/>
        </p:nvSpPr>
        <p:spPr>
          <a:xfrm>
            <a:off x="694944" y="3328416"/>
            <a:ext cx="4114800" cy="749808"/>
          </a:xfrm>
          <a:prstGeom prst="rect">
            <a:avLst/>
          </a:prstGeom>
          <a:noFill/>
        </p:spPr>
        <p:txBody>
          <a:bodyPr wrap="square" lIns="0" rIns="0" tIns="0" bIns="0">
            <a:spAutoFit/>
          </a:bodyPr>
          <a:lstStyle/>
          <a:p>
            <a:pPr algn="l">
              <a:lnSpc>
                <a:spcPct val="112000"/>
              </a:lnSpc>
              <a:spcBef>
                <a:spcPts val="0"/>
              </a:spcBef>
              <a:spcAft>
                <a:spcPts val="0"/>
              </a:spcAft>
            </a:pPr>
            <a:r>
              <a:rPr sz="4896" b="1">
                <a:solidFill>
                  <a:srgbClr val="1B2D40"/>
                </a:solidFill>
                <a:latin typeface="Georgia"/>
              </a:rPr>
              <a:t>18,371</a:t>
            </a:r>
          </a:p>
        </p:txBody>
      </p:sp>
      <p:sp>
        <p:nvSpPr>
          <p:cNvPr id="10" name="TextBox 9"/>
          <p:cNvSpPr txBox="1"/>
          <p:nvPr/>
        </p:nvSpPr>
        <p:spPr>
          <a:xfrm>
            <a:off x="694944" y="4142232"/>
            <a:ext cx="4160520" cy="320040"/>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2023 postings in the subset</a:t>
            </a:r>
          </a:p>
        </p:txBody>
      </p:sp>
      <p:sp>
        <p:nvSpPr>
          <p:cNvPr id="11" name="TextBox 10"/>
          <p:cNvSpPr txBox="1"/>
          <p:nvPr/>
        </p:nvSpPr>
        <p:spPr>
          <a:xfrm>
            <a:off x="5239512" y="3328416"/>
            <a:ext cx="4114800" cy="749808"/>
          </a:xfrm>
          <a:prstGeom prst="rect">
            <a:avLst/>
          </a:prstGeom>
          <a:noFill/>
        </p:spPr>
        <p:txBody>
          <a:bodyPr wrap="square" lIns="0" rIns="0" tIns="0" bIns="0">
            <a:spAutoFit/>
          </a:bodyPr>
          <a:lstStyle/>
          <a:p>
            <a:pPr algn="l">
              <a:lnSpc>
                <a:spcPct val="112000"/>
              </a:lnSpc>
              <a:spcBef>
                <a:spcPts val="0"/>
              </a:spcBef>
              <a:spcAft>
                <a:spcPts val="0"/>
              </a:spcAft>
            </a:pPr>
            <a:r>
              <a:rPr sz="4896" b="1">
                <a:solidFill>
                  <a:srgbClr val="1B2D40"/>
                </a:solidFill>
                <a:latin typeface="Georgia"/>
              </a:rPr>
              <a:t>10</a:t>
            </a:r>
          </a:p>
        </p:txBody>
      </p:sp>
      <p:sp>
        <p:nvSpPr>
          <p:cNvPr id="12" name="TextBox 11"/>
          <p:cNvSpPr txBox="1"/>
          <p:nvPr/>
        </p:nvSpPr>
        <p:spPr>
          <a:xfrm>
            <a:off x="5239512" y="4142232"/>
            <a:ext cx="4160520" cy="320040"/>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countries represented</a:t>
            </a:r>
          </a:p>
        </p:txBody>
      </p:sp>
      <p:sp>
        <p:nvSpPr>
          <p:cNvPr id="13" name="TextBox 12"/>
          <p:cNvSpPr txBox="1"/>
          <p:nvPr/>
        </p:nvSpPr>
        <p:spPr>
          <a:xfrm>
            <a:off x="9784080" y="3328416"/>
            <a:ext cx="4114800" cy="749808"/>
          </a:xfrm>
          <a:prstGeom prst="rect">
            <a:avLst/>
          </a:prstGeom>
          <a:noFill/>
        </p:spPr>
        <p:txBody>
          <a:bodyPr wrap="square" lIns="0" rIns="0" tIns="0" bIns="0">
            <a:spAutoFit/>
          </a:bodyPr>
          <a:lstStyle/>
          <a:p>
            <a:pPr algn="l">
              <a:lnSpc>
                <a:spcPct val="112000"/>
              </a:lnSpc>
              <a:spcBef>
                <a:spcPts val="0"/>
              </a:spcBef>
              <a:spcAft>
                <a:spcPts val="0"/>
              </a:spcAft>
            </a:pPr>
            <a:r>
              <a:rPr sz="4896" b="1">
                <a:solidFill>
                  <a:srgbClr val="1B2D40"/>
                </a:solidFill>
                <a:latin typeface="Georgia"/>
              </a:rPr>
              <a:t>1,326</a:t>
            </a:r>
          </a:p>
        </p:txBody>
      </p:sp>
      <p:sp>
        <p:nvSpPr>
          <p:cNvPr id="14" name="TextBox 13"/>
          <p:cNvSpPr txBox="1"/>
          <p:nvPr/>
        </p:nvSpPr>
        <p:spPr>
          <a:xfrm>
            <a:off x="9784080" y="4142232"/>
            <a:ext cx="4160520" cy="320040"/>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Kenya postings · all roles</a:t>
            </a:r>
          </a:p>
        </p:txBody>
      </p:sp>
      <p:sp>
        <p:nvSpPr>
          <p:cNvPr id="15" name="TextBox 14"/>
          <p:cNvSpPr txBox="1"/>
          <p:nvPr/>
        </p:nvSpPr>
        <p:spPr>
          <a:xfrm>
            <a:off x="694944" y="4846320"/>
            <a:ext cx="777240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1B2D40"/>
                </a:solidFill>
                <a:latin typeface="Segoe UI"/>
              </a:rPr>
              <a:t>KENYA / DATA ANALYST / N = 391</a:t>
            </a:r>
          </a:p>
        </p:txBody>
      </p:sp>
      <p:sp>
        <p:nvSpPr>
          <p:cNvPr id="16" name="TextBox 15"/>
          <p:cNvSpPr txBox="1"/>
          <p:nvPr/>
        </p:nvSpPr>
        <p:spPr>
          <a:xfrm>
            <a:off x="694944" y="5285232"/>
            <a:ext cx="1207008" cy="32004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Excel</a:t>
            </a:r>
          </a:p>
        </p:txBody>
      </p:sp>
      <p:sp>
        <p:nvSpPr>
          <p:cNvPr id="17" name="Rounded Rectangle 16"/>
          <p:cNvSpPr/>
          <p:nvPr/>
        </p:nvSpPr>
        <p:spPr>
          <a:xfrm>
            <a:off x="1984248" y="5312664"/>
            <a:ext cx="5257800" cy="210312"/>
          </a:xfrm>
          <a:prstGeom prst="roundRect">
            <a:avLst>
              <a:gd name="adj" fmla="val 13043"/>
            </a:avLst>
          </a:prstGeom>
          <a:solidFill>
            <a:srgbClr val="E7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984248" y="5312664"/>
            <a:ext cx="5110581" cy="210312"/>
          </a:xfrm>
          <a:prstGeom prst="roundRect">
            <a:avLst>
              <a:gd name="adj" fmla="val 13043"/>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5266944"/>
            <a:ext cx="1005840" cy="32918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48.6%</a:t>
            </a:r>
          </a:p>
        </p:txBody>
      </p:sp>
      <p:sp>
        <p:nvSpPr>
          <p:cNvPr id="20" name="TextBox 19"/>
          <p:cNvSpPr txBox="1"/>
          <p:nvPr/>
        </p:nvSpPr>
        <p:spPr>
          <a:xfrm>
            <a:off x="694944" y="5650992"/>
            <a:ext cx="1207008" cy="32004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SQL</a:t>
            </a:r>
          </a:p>
        </p:txBody>
      </p:sp>
      <p:sp>
        <p:nvSpPr>
          <p:cNvPr id="21" name="Rounded Rectangle 20"/>
          <p:cNvSpPr/>
          <p:nvPr/>
        </p:nvSpPr>
        <p:spPr>
          <a:xfrm>
            <a:off x="1984248" y="5678424"/>
            <a:ext cx="5257800" cy="210312"/>
          </a:xfrm>
          <a:prstGeom prst="roundRect">
            <a:avLst>
              <a:gd name="adj" fmla="val 13043"/>
            </a:avLst>
          </a:prstGeom>
          <a:solidFill>
            <a:srgbClr val="E7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984248" y="5678424"/>
            <a:ext cx="4889754" cy="210312"/>
          </a:xfrm>
          <a:prstGeom prst="roundRect">
            <a:avLst>
              <a:gd name="adj" fmla="val 13043"/>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5632704"/>
            <a:ext cx="1005840" cy="32918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46.5%</a:t>
            </a:r>
          </a:p>
        </p:txBody>
      </p:sp>
      <p:sp>
        <p:nvSpPr>
          <p:cNvPr id="24" name="TextBox 23"/>
          <p:cNvSpPr txBox="1"/>
          <p:nvPr/>
        </p:nvSpPr>
        <p:spPr>
          <a:xfrm>
            <a:off x="694944" y="6016752"/>
            <a:ext cx="1207008" cy="32004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Python</a:t>
            </a:r>
          </a:p>
        </p:txBody>
      </p:sp>
      <p:sp>
        <p:nvSpPr>
          <p:cNvPr id="25" name="Rounded Rectangle 24"/>
          <p:cNvSpPr/>
          <p:nvPr/>
        </p:nvSpPr>
        <p:spPr>
          <a:xfrm>
            <a:off x="1984248" y="6044184"/>
            <a:ext cx="5257800" cy="210312"/>
          </a:xfrm>
          <a:prstGeom prst="roundRect">
            <a:avLst>
              <a:gd name="adj" fmla="val 13043"/>
            </a:avLst>
          </a:prstGeom>
          <a:solidFill>
            <a:srgbClr val="E7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984248" y="6044184"/>
            <a:ext cx="4406036" cy="210312"/>
          </a:xfrm>
          <a:prstGeom prst="roundRect">
            <a:avLst>
              <a:gd name="adj" fmla="val 13043"/>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5998464"/>
            <a:ext cx="1005840" cy="32918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41.9%</a:t>
            </a:r>
          </a:p>
        </p:txBody>
      </p:sp>
      <p:sp>
        <p:nvSpPr>
          <p:cNvPr id="28" name="TextBox 27"/>
          <p:cNvSpPr txBox="1"/>
          <p:nvPr/>
        </p:nvSpPr>
        <p:spPr>
          <a:xfrm>
            <a:off x="694944" y="6382512"/>
            <a:ext cx="1207008" cy="32004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R</a:t>
            </a:r>
          </a:p>
        </p:txBody>
      </p:sp>
      <p:sp>
        <p:nvSpPr>
          <p:cNvPr id="29" name="Rounded Rectangle 28"/>
          <p:cNvSpPr/>
          <p:nvPr/>
        </p:nvSpPr>
        <p:spPr>
          <a:xfrm>
            <a:off x="1984248" y="6409944"/>
            <a:ext cx="5257800" cy="210312"/>
          </a:xfrm>
          <a:prstGeom prst="roundRect">
            <a:avLst>
              <a:gd name="adj" fmla="val 13043"/>
            </a:avLst>
          </a:prstGeom>
          <a:solidFill>
            <a:srgbClr val="E7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984248" y="6409944"/>
            <a:ext cx="4406036" cy="210312"/>
          </a:xfrm>
          <a:prstGeom prst="roundRect">
            <a:avLst>
              <a:gd name="adj" fmla="val 13043"/>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6364224"/>
            <a:ext cx="1005840" cy="32918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41.9%</a:t>
            </a:r>
          </a:p>
        </p:txBody>
      </p:sp>
      <p:sp>
        <p:nvSpPr>
          <p:cNvPr id="32" name="TextBox 31"/>
          <p:cNvSpPr txBox="1"/>
          <p:nvPr/>
        </p:nvSpPr>
        <p:spPr>
          <a:xfrm>
            <a:off x="694944" y="6748272"/>
            <a:ext cx="1207008" cy="32004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SPSS</a:t>
            </a:r>
          </a:p>
        </p:txBody>
      </p:sp>
      <p:sp>
        <p:nvSpPr>
          <p:cNvPr id="33" name="Rounded Rectangle 32"/>
          <p:cNvSpPr/>
          <p:nvPr/>
        </p:nvSpPr>
        <p:spPr>
          <a:xfrm>
            <a:off x="1984248" y="6775704"/>
            <a:ext cx="5257800" cy="210312"/>
          </a:xfrm>
          <a:prstGeom prst="roundRect">
            <a:avLst>
              <a:gd name="adj" fmla="val 13043"/>
            </a:avLst>
          </a:prstGeom>
          <a:solidFill>
            <a:srgbClr val="E7E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984248" y="6775704"/>
            <a:ext cx="1451152" cy="210312"/>
          </a:xfrm>
          <a:prstGeom prst="roundRect">
            <a:avLst>
              <a:gd name="adj" fmla="val 13043"/>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6729984"/>
            <a:ext cx="1005840" cy="329184"/>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13.8%</a:t>
            </a:r>
          </a:p>
        </p:txBody>
      </p:sp>
      <p:sp>
        <p:nvSpPr>
          <p:cNvPr id="36" name="Rounded Rectangle 35"/>
          <p:cNvSpPr/>
          <p:nvPr/>
        </p:nvSpPr>
        <p:spPr>
          <a:xfrm>
            <a:off x="9006840" y="4818888"/>
            <a:ext cx="4965192" cy="2212848"/>
          </a:xfrm>
          <a:prstGeom prst="roundRect">
            <a:avLst>
              <a:gd name="adj" fmla="val 4958"/>
            </a:avLst>
          </a:prstGeom>
          <a:solidFill>
            <a:srgbClr val="F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99448" y="5074920"/>
            <a:ext cx="4389120" cy="768096"/>
          </a:xfrm>
          <a:prstGeom prst="rect">
            <a:avLst/>
          </a:prstGeom>
          <a:noFill/>
        </p:spPr>
        <p:txBody>
          <a:bodyPr wrap="square" lIns="0" rIns="0" tIns="0" bIns="0">
            <a:spAutoFit/>
          </a:bodyPr>
          <a:lstStyle/>
          <a:p>
            <a:pPr algn="l">
              <a:lnSpc>
                <a:spcPct val="112000"/>
              </a:lnSpc>
              <a:spcBef>
                <a:spcPts val="0"/>
              </a:spcBef>
              <a:spcAft>
                <a:spcPts val="0"/>
              </a:spcAft>
            </a:pPr>
            <a:r>
              <a:rPr sz="2664" b="1">
                <a:solidFill>
                  <a:srgbClr val="1B2D40"/>
                </a:solidFill>
                <a:latin typeface="Georgia"/>
              </a:rPr>
              <a:t>A direction, not a prediction.</a:t>
            </a:r>
          </a:p>
        </p:txBody>
      </p:sp>
      <p:sp>
        <p:nvSpPr>
          <p:cNvPr id="38" name="TextBox 37"/>
          <p:cNvSpPr txBox="1"/>
          <p:nvPr/>
        </p:nvSpPr>
        <p:spPr>
          <a:xfrm>
            <a:off x="9299448" y="5971032"/>
            <a:ext cx="4361688" cy="850392"/>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Share of sampled posts mentioning each skill.</a:t>
            </a:r>
          </a:p>
          <a:p>
            <a:pPr algn="l">
              <a:lnSpc>
                <a:spcPct val="112000"/>
              </a:lnSpc>
              <a:spcBef>
                <a:spcPts val="0"/>
              </a:spcBef>
              <a:spcAft>
                <a:spcPts val="0"/>
              </a:spcAft>
            </a:pPr>
            <a:r>
              <a:rPr sz="1655" b="0">
                <a:solidFill>
                  <a:srgbClr val="586777"/>
                </a:solidFill>
                <a:latin typeface="Segoe UI"/>
              </a:rPr>
              <a:t>Multiple skills can appear in one posting.</a:t>
            </a:r>
          </a:p>
          <a:p>
            <a:pPr algn="l">
              <a:lnSpc>
                <a:spcPct val="112000"/>
              </a:lnSpc>
              <a:spcBef>
                <a:spcPts val="0"/>
              </a:spcBef>
              <a:spcAft>
                <a:spcPts val="0"/>
              </a:spcAft>
            </a:pPr>
            <a:r>
              <a:rPr sz="1655" b="0">
                <a:solidFill>
                  <a:srgbClr val="586777"/>
                </a:solidFill>
                <a:latin typeface="Segoe UI"/>
              </a:rPr>
              <a:t>2023 sample; not current vacancies.</a:t>
            </a:r>
          </a:p>
        </p:txBody>
      </p:sp>
      <p:sp>
        <p:nvSpPr>
          <p:cNvPr id="39" name="TextBox 38"/>
          <p:cNvSpPr txBox="1"/>
          <p:nvPr/>
        </p:nvSpPr>
        <p:spPr>
          <a:xfrm>
            <a:off x="694944" y="7269480"/>
            <a:ext cx="12801600" cy="237744"/>
          </a:xfrm>
          <a:prstGeom prst="rect">
            <a:avLst/>
          </a:prstGeom>
          <a:noFill/>
        </p:spPr>
        <p:txBody>
          <a:bodyPr wrap="square" lIns="0" rIns="0" tIns="0" bIns="0">
            <a:spAutoFit/>
          </a:bodyPr>
          <a:lstStyle/>
          <a:p>
            <a:pPr algn="l">
              <a:lnSpc>
                <a:spcPct val="112000"/>
              </a:lnSpc>
              <a:spcBef>
                <a:spcPts val="0"/>
              </a:spcBef>
              <a:spcAft>
                <a:spcPts val="0"/>
              </a:spcAft>
            </a:pPr>
            <a:r>
              <a:rPr sz="1224" b="0">
                <a:solidFill>
                  <a:srgbClr val="586777"/>
                </a:solidFill>
                <a:latin typeface="Segoe UI"/>
                <a:hlinkClick r:id="rId2"/>
              </a:rPr>
              <a:t>Source: Hugging Face · lukebarousse/data_jobs · Apache-2.0 ·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04  /  AI ARCHITECTURE &amp; RELEVANCE</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F7F4EC"/>
                </a:solidFill>
                <a:latin typeface="Georgia"/>
              </a:rPr>
              <a:t>Ground the facts. Personalize the next step.</a:t>
            </a:r>
          </a:p>
        </p:txBody>
      </p:sp>
      <p:sp>
        <p:nvSpPr>
          <p:cNvPr id="5" name="TextBox 4"/>
          <p:cNvSpPr txBox="1"/>
          <p:nvPr/>
        </p:nvSpPr>
        <p:spPr>
          <a:xfrm>
            <a:off x="685800" y="2514600"/>
            <a:ext cx="13167360" cy="640080"/>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D4DEE6"/>
                </a:solidFill>
                <a:latin typeface="Segoe UI"/>
              </a:rPr>
              <a:t>AI interprets experience and writes tailored guidance; deterministic code supplies the market evidence.</a:t>
            </a:r>
          </a:p>
        </p:txBody>
      </p:sp>
      <p:sp>
        <p:nvSpPr>
          <p:cNvPr id="6" name="Rectangle 5"/>
          <p:cNvSpPr/>
          <p:nvPr/>
        </p:nvSpPr>
        <p:spPr>
          <a:xfrm>
            <a:off x="658368" y="7662672"/>
            <a:ext cx="13313664" cy="9144"/>
          </a:xfrm>
          <a:prstGeom prst="rect">
            <a:avLst/>
          </a:prstGeom>
          <a:solidFill>
            <a:srgbClr val="385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D4DEE6"/>
                </a:solidFill>
                <a:latin typeface="Segoe UI"/>
              </a:rPr>
              <a:t>NJIA  /  DHRUZZZ  /  KENYA · ONLINE</a:t>
            </a:r>
          </a:p>
        </p:txBody>
      </p:sp>
      <p:sp>
        <p:nvSpPr>
          <p:cNvPr id="8" name="TextBox 7"/>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D4DEE6"/>
                </a:solidFill>
                <a:latin typeface="Segoe UI"/>
              </a:rPr>
              <a:t>04 / 08</a:t>
            </a:r>
          </a:p>
        </p:txBody>
      </p:sp>
      <p:sp>
        <p:nvSpPr>
          <p:cNvPr id="9" name="Rounded Rectangle 8"/>
          <p:cNvSpPr/>
          <p:nvPr/>
        </p:nvSpPr>
        <p:spPr>
          <a:xfrm>
            <a:off x="694944" y="3465576"/>
            <a:ext cx="3145536" cy="2468880"/>
          </a:xfrm>
          <a:prstGeom prst="roundRect">
            <a:avLst>
              <a:gd name="adj" fmla="val 4444"/>
            </a:avLst>
          </a:prstGeom>
          <a:solidFill>
            <a:srgbClr val="20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3675887"/>
            <a:ext cx="2606040" cy="585216"/>
          </a:xfrm>
          <a:prstGeom prst="rect">
            <a:avLst/>
          </a:prstGeom>
          <a:noFill/>
        </p:spPr>
        <p:txBody>
          <a:bodyPr wrap="square" lIns="0" rIns="0" tIns="0" bIns="0">
            <a:spAutoFit/>
          </a:bodyPr>
          <a:lstStyle/>
          <a:p>
            <a:pPr algn="l">
              <a:lnSpc>
                <a:spcPct val="112000"/>
              </a:lnSpc>
              <a:spcBef>
                <a:spcPts val="0"/>
              </a:spcBef>
              <a:spcAft>
                <a:spcPts val="0"/>
              </a:spcAft>
            </a:pPr>
            <a:r>
              <a:rPr sz="3168" b="1">
                <a:solidFill>
                  <a:srgbClr val="F27B43"/>
                </a:solidFill>
                <a:latin typeface="Georgia"/>
              </a:rPr>
              <a:t>01</a:t>
            </a:r>
          </a:p>
        </p:txBody>
      </p:sp>
      <p:sp>
        <p:nvSpPr>
          <p:cNvPr id="11" name="TextBox 10"/>
          <p:cNvSpPr txBox="1"/>
          <p:nvPr/>
        </p:nvSpPr>
        <p:spPr>
          <a:xfrm>
            <a:off x="923544" y="4361688"/>
            <a:ext cx="2688336" cy="411480"/>
          </a:xfrm>
          <a:prstGeom prst="rect">
            <a:avLst/>
          </a:prstGeom>
          <a:noFill/>
        </p:spPr>
        <p:txBody>
          <a:bodyPr wrap="square" lIns="0" rIns="0" tIns="0" bIns="0">
            <a:spAutoFit/>
          </a:bodyPr>
          <a:lstStyle/>
          <a:p>
            <a:pPr algn="l">
              <a:lnSpc>
                <a:spcPct val="112000"/>
              </a:lnSpc>
              <a:spcBef>
                <a:spcPts val="0"/>
              </a:spcBef>
              <a:spcAft>
                <a:spcPts val="0"/>
              </a:spcAft>
            </a:pPr>
            <a:r>
              <a:rPr sz="2232" b="1">
                <a:solidFill>
                  <a:srgbClr val="F7F4EC"/>
                </a:solidFill>
                <a:latin typeface="Segoe UI"/>
              </a:rPr>
              <a:t>CV + consent</a:t>
            </a:r>
          </a:p>
        </p:txBody>
      </p:sp>
      <p:sp>
        <p:nvSpPr>
          <p:cNvPr id="12" name="TextBox 11"/>
          <p:cNvSpPr txBox="1"/>
          <p:nvPr/>
        </p:nvSpPr>
        <p:spPr>
          <a:xfrm>
            <a:off x="923544" y="4892040"/>
            <a:ext cx="2715768" cy="93268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Country + target role</a:t>
            </a:r>
          </a:p>
          <a:p>
            <a:pPr algn="l">
              <a:lnSpc>
                <a:spcPct val="112000"/>
              </a:lnSpc>
              <a:spcBef>
                <a:spcPts val="0"/>
              </a:spcBef>
              <a:spcAft>
                <a:spcPts val="0"/>
              </a:spcAft>
            </a:pPr>
            <a:r>
              <a:rPr sz="1655" b="0">
                <a:solidFill>
                  <a:srgbClr val="D4DEE6"/>
                </a:solidFill>
                <a:latin typeface="Segoe UI"/>
              </a:rPr>
              <a:t>Basic PII redaction</a:t>
            </a:r>
          </a:p>
          <a:p>
            <a:pPr algn="l">
              <a:lnSpc>
                <a:spcPct val="112000"/>
              </a:lnSpc>
              <a:spcBef>
                <a:spcPts val="0"/>
              </a:spcBef>
              <a:spcAft>
                <a:spcPts val="0"/>
              </a:spcAft>
            </a:pPr>
            <a:r>
              <a:rPr sz="1655" b="0">
                <a:solidFill>
                  <a:srgbClr val="D4DEE6"/>
                </a:solidFill>
                <a:latin typeface="Segoe UI"/>
              </a:rPr>
              <a:t>Opt-in before AI transfer</a:t>
            </a:r>
          </a:p>
        </p:txBody>
      </p:sp>
      <p:sp>
        <p:nvSpPr>
          <p:cNvPr id="13" name="TextBox 12"/>
          <p:cNvSpPr txBox="1"/>
          <p:nvPr/>
        </p:nvSpPr>
        <p:spPr>
          <a:xfrm>
            <a:off x="3840480" y="4389120"/>
            <a:ext cx="256032" cy="457200"/>
          </a:xfrm>
          <a:prstGeom prst="rect">
            <a:avLst/>
          </a:prstGeom>
          <a:noFill/>
        </p:spPr>
        <p:txBody>
          <a:bodyPr wrap="square" lIns="0" rIns="0" tIns="0" bIns="0">
            <a:spAutoFit/>
          </a:bodyPr>
          <a:lstStyle/>
          <a:p>
            <a:pPr algn="ctr">
              <a:lnSpc>
                <a:spcPct val="112000"/>
              </a:lnSpc>
              <a:spcBef>
                <a:spcPts val="0"/>
              </a:spcBef>
              <a:spcAft>
                <a:spcPts val="0"/>
              </a:spcAft>
            </a:pPr>
            <a:r>
              <a:rPr sz="1943" b="1">
                <a:solidFill>
                  <a:srgbClr val="F27B43"/>
                </a:solidFill>
                <a:latin typeface="Segoe UI"/>
              </a:rPr>
              <a:t>→</a:t>
            </a:r>
          </a:p>
        </p:txBody>
      </p:sp>
      <p:sp>
        <p:nvSpPr>
          <p:cNvPr id="14" name="Rounded Rectangle 13"/>
          <p:cNvSpPr/>
          <p:nvPr/>
        </p:nvSpPr>
        <p:spPr>
          <a:xfrm>
            <a:off x="4078224" y="3465576"/>
            <a:ext cx="3145536" cy="2468880"/>
          </a:xfrm>
          <a:prstGeom prst="roundRect">
            <a:avLst>
              <a:gd name="adj" fmla="val 4444"/>
            </a:avLst>
          </a:prstGeom>
          <a:solidFill>
            <a:srgbClr val="20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6824" y="3675887"/>
            <a:ext cx="2606040" cy="585216"/>
          </a:xfrm>
          <a:prstGeom prst="rect">
            <a:avLst/>
          </a:prstGeom>
          <a:noFill/>
        </p:spPr>
        <p:txBody>
          <a:bodyPr wrap="square" lIns="0" rIns="0" tIns="0" bIns="0">
            <a:spAutoFit/>
          </a:bodyPr>
          <a:lstStyle/>
          <a:p>
            <a:pPr algn="l">
              <a:lnSpc>
                <a:spcPct val="112000"/>
              </a:lnSpc>
              <a:spcBef>
                <a:spcPts val="0"/>
              </a:spcBef>
              <a:spcAft>
                <a:spcPts val="0"/>
              </a:spcAft>
            </a:pPr>
            <a:r>
              <a:rPr sz="3168" b="1">
                <a:solidFill>
                  <a:srgbClr val="F27B43"/>
                </a:solidFill>
                <a:latin typeface="Georgia"/>
              </a:rPr>
              <a:t>02</a:t>
            </a:r>
          </a:p>
        </p:txBody>
      </p:sp>
      <p:sp>
        <p:nvSpPr>
          <p:cNvPr id="16" name="TextBox 15"/>
          <p:cNvSpPr txBox="1"/>
          <p:nvPr/>
        </p:nvSpPr>
        <p:spPr>
          <a:xfrm>
            <a:off x="4306824" y="4361688"/>
            <a:ext cx="2688336" cy="411480"/>
          </a:xfrm>
          <a:prstGeom prst="rect">
            <a:avLst/>
          </a:prstGeom>
          <a:noFill/>
        </p:spPr>
        <p:txBody>
          <a:bodyPr wrap="square" lIns="0" rIns="0" tIns="0" bIns="0">
            <a:spAutoFit/>
          </a:bodyPr>
          <a:lstStyle/>
          <a:p>
            <a:pPr algn="l">
              <a:lnSpc>
                <a:spcPct val="112000"/>
              </a:lnSpc>
              <a:spcBef>
                <a:spcPts val="0"/>
              </a:spcBef>
              <a:spcAft>
                <a:spcPts val="0"/>
              </a:spcAft>
            </a:pPr>
            <a:r>
              <a:rPr sz="2232" b="1">
                <a:solidFill>
                  <a:srgbClr val="F7F4EC"/>
                </a:solidFill>
                <a:latin typeface="Segoe UI"/>
              </a:rPr>
              <a:t>Grounding</a:t>
            </a:r>
          </a:p>
        </p:txBody>
      </p:sp>
      <p:sp>
        <p:nvSpPr>
          <p:cNvPr id="17" name="TextBox 16"/>
          <p:cNvSpPr txBox="1"/>
          <p:nvPr/>
        </p:nvSpPr>
        <p:spPr>
          <a:xfrm>
            <a:off x="4306824" y="4892040"/>
            <a:ext cx="2715768" cy="93268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CV evidence excerpts</a:t>
            </a:r>
          </a:p>
          <a:p>
            <a:pPr algn="l">
              <a:lnSpc>
                <a:spcPct val="112000"/>
              </a:lnSpc>
              <a:spcBef>
                <a:spcPts val="0"/>
              </a:spcBef>
              <a:spcAft>
                <a:spcPts val="0"/>
              </a:spcAft>
            </a:pPr>
            <a:r>
              <a:rPr sz="1655" b="0">
                <a:solidFill>
                  <a:srgbClr val="D4DEE6"/>
                </a:solidFill>
                <a:latin typeface="Segoe UI"/>
              </a:rPr>
              <a:t>Allowed skill vocabulary</a:t>
            </a:r>
          </a:p>
          <a:p>
            <a:pPr algn="l">
              <a:lnSpc>
                <a:spcPct val="112000"/>
              </a:lnSpc>
              <a:spcBef>
                <a:spcPts val="0"/>
              </a:spcBef>
              <a:spcAft>
                <a:spcPts val="0"/>
              </a:spcAft>
            </a:pPr>
            <a:r>
              <a:rPr sz="1655" b="0">
                <a:solidFill>
                  <a:srgbClr val="D4DEE6"/>
                </a:solidFill>
                <a:latin typeface="Segoe UI"/>
              </a:rPr>
              <a:t>Fixed 2023 demand data</a:t>
            </a:r>
          </a:p>
        </p:txBody>
      </p:sp>
      <p:sp>
        <p:nvSpPr>
          <p:cNvPr id="18" name="TextBox 17"/>
          <p:cNvSpPr txBox="1"/>
          <p:nvPr/>
        </p:nvSpPr>
        <p:spPr>
          <a:xfrm>
            <a:off x="7223760" y="4389120"/>
            <a:ext cx="256032" cy="457200"/>
          </a:xfrm>
          <a:prstGeom prst="rect">
            <a:avLst/>
          </a:prstGeom>
          <a:noFill/>
        </p:spPr>
        <p:txBody>
          <a:bodyPr wrap="square" lIns="0" rIns="0" tIns="0" bIns="0">
            <a:spAutoFit/>
          </a:bodyPr>
          <a:lstStyle/>
          <a:p>
            <a:pPr algn="ctr">
              <a:lnSpc>
                <a:spcPct val="112000"/>
              </a:lnSpc>
              <a:spcBef>
                <a:spcPts val="0"/>
              </a:spcBef>
              <a:spcAft>
                <a:spcPts val="0"/>
              </a:spcAft>
            </a:pPr>
            <a:r>
              <a:rPr sz="1943" b="1">
                <a:solidFill>
                  <a:srgbClr val="F27B43"/>
                </a:solidFill>
                <a:latin typeface="Segoe UI"/>
              </a:rPr>
              <a:t>→</a:t>
            </a:r>
          </a:p>
        </p:txBody>
      </p:sp>
      <p:sp>
        <p:nvSpPr>
          <p:cNvPr id="19" name="Rounded Rectangle 18"/>
          <p:cNvSpPr/>
          <p:nvPr/>
        </p:nvSpPr>
        <p:spPr>
          <a:xfrm>
            <a:off x="7461504" y="3465576"/>
            <a:ext cx="3145536" cy="2468880"/>
          </a:xfrm>
          <a:prstGeom prst="roundRect">
            <a:avLst>
              <a:gd name="adj" fmla="val 4444"/>
            </a:avLst>
          </a:prstGeom>
          <a:solidFill>
            <a:srgbClr val="20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90104" y="3675887"/>
            <a:ext cx="2606040" cy="585216"/>
          </a:xfrm>
          <a:prstGeom prst="rect">
            <a:avLst/>
          </a:prstGeom>
          <a:noFill/>
        </p:spPr>
        <p:txBody>
          <a:bodyPr wrap="square" lIns="0" rIns="0" tIns="0" bIns="0">
            <a:spAutoFit/>
          </a:bodyPr>
          <a:lstStyle/>
          <a:p>
            <a:pPr algn="l">
              <a:lnSpc>
                <a:spcPct val="112000"/>
              </a:lnSpc>
              <a:spcBef>
                <a:spcPts val="0"/>
              </a:spcBef>
              <a:spcAft>
                <a:spcPts val="0"/>
              </a:spcAft>
            </a:pPr>
            <a:r>
              <a:rPr sz="3168" b="1">
                <a:solidFill>
                  <a:srgbClr val="F27B43"/>
                </a:solidFill>
                <a:latin typeface="Georgia"/>
              </a:rPr>
              <a:t>03</a:t>
            </a:r>
          </a:p>
        </p:txBody>
      </p:sp>
      <p:sp>
        <p:nvSpPr>
          <p:cNvPr id="21" name="TextBox 20"/>
          <p:cNvSpPr txBox="1"/>
          <p:nvPr/>
        </p:nvSpPr>
        <p:spPr>
          <a:xfrm>
            <a:off x="7690104" y="4361688"/>
            <a:ext cx="2688336" cy="411480"/>
          </a:xfrm>
          <a:prstGeom prst="rect">
            <a:avLst/>
          </a:prstGeom>
          <a:noFill/>
        </p:spPr>
        <p:txBody>
          <a:bodyPr wrap="square" lIns="0" rIns="0" tIns="0" bIns="0">
            <a:spAutoFit/>
          </a:bodyPr>
          <a:lstStyle/>
          <a:p>
            <a:pPr algn="l">
              <a:lnSpc>
                <a:spcPct val="112000"/>
              </a:lnSpc>
              <a:spcBef>
                <a:spcPts val="0"/>
              </a:spcBef>
              <a:spcAft>
                <a:spcPts val="0"/>
              </a:spcAft>
            </a:pPr>
            <a:r>
              <a:rPr sz="2232" b="1">
                <a:solidFill>
                  <a:srgbClr val="F7F4EC"/>
                </a:solidFill>
                <a:latin typeface="Segoe UI"/>
              </a:rPr>
              <a:t>AI advisor</a:t>
            </a:r>
          </a:p>
        </p:txBody>
      </p:sp>
      <p:sp>
        <p:nvSpPr>
          <p:cNvPr id="22" name="TextBox 21"/>
          <p:cNvSpPr txBox="1"/>
          <p:nvPr/>
        </p:nvSpPr>
        <p:spPr>
          <a:xfrm>
            <a:off x="7690104" y="4892040"/>
            <a:ext cx="2715768" cy="93268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Groq-hosted inference</a:t>
            </a:r>
          </a:p>
          <a:p>
            <a:pPr algn="l">
              <a:lnSpc>
                <a:spcPct val="112000"/>
              </a:lnSpc>
              <a:spcBef>
                <a:spcPts val="0"/>
              </a:spcBef>
              <a:spcAft>
                <a:spcPts val="0"/>
              </a:spcAft>
            </a:pPr>
            <a:r>
              <a:rPr sz="1655" b="0">
                <a:solidFill>
                  <a:srgbClr val="D4DEE6"/>
                </a:solidFill>
                <a:latin typeface="Segoe UI"/>
              </a:rPr>
              <a:t>openai/gpt-oss-20b</a:t>
            </a:r>
          </a:p>
          <a:p>
            <a:pPr algn="l">
              <a:lnSpc>
                <a:spcPct val="112000"/>
              </a:lnSpc>
              <a:spcBef>
                <a:spcPts val="0"/>
              </a:spcBef>
              <a:spcAft>
                <a:spcPts val="0"/>
              </a:spcAft>
            </a:pPr>
            <a:r>
              <a:rPr sz="1655" b="0">
                <a:solidFill>
                  <a:srgbClr val="D4DEE6"/>
                </a:solidFill>
                <a:latin typeface="Segoe UI"/>
              </a:rPr>
              <a:t>Structured JSON output</a:t>
            </a:r>
          </a:p>
        </p:txBody>
      </p:sp>
      <p:sp>
        <p:nvSpPr>
          <p:cNvPr id="23" name="TextBox 22"/>
          <p:cNvSpPr txBox="1"/>
          <p:nvPr/>
        </p:nvSpPr>
        <p:spPr>
          <a:xfrm>
            <a:off x="10607040" y="4389120"/>
            <a:ext cx="256032" cy="457200"/>
          </a:xfrm>
          <a:prstGeom prst="rect">
            <a:avLst/>
          </a:prstGeom>
          <a:noFill/>
        </p:spPr>
        <p:txBody>
          <a:bodyPr wrap="square" lIns="0" rIns="0" tIns="0" bIns="0">
            <a:spAutoFit/>
          </a:bodyPr>
          <a:lstStyle/>
          <a:p>
            <a:pPr algn="ctr">
              <a:lnSpc>
                <a:spcPct val="112000"/>
              </a:lnSpc>
              <a:spcBef>
                <a:spcPts val="0"/>
              </a:spcBef>
              <a:spcAft>
                <a:spcPts val="0"/>
              </a:spcAft>
            </a:pPr>
            <a:r>
              <a:rPr sz="1943" b="1">
                <a:solidFill>
                  <a:srgbClr val="F27B43"/>
                </a:solidFill>
                <a:latin typeface="Segoe UI"/>
              </a:rPr>
              <a:t>→</a:t>
            </a:r>
          </a:p>
        </p:txBody>
      </p:sp>
      <p:sp>
        <p:nvSpPr>
          <p:cNvPr id="24" name="Rounded Rectangle 23"/>
          <p:cNvSpPr/>
          <p:nvPr/>
        </p:nvSpPr>
        <p:spPr>
          <a:xfrm>
            <a:off x="10844784" y="3465576"/>
            <a:ext cx="3145536" cy="2468880"/>
          </a:xfrm>
          <a:prstGeom prst="roundRect">
            <a:avLst>
              <a:gd name="adj" fmla="val 4444"/>
            </a:avLst>
          </a:prstGeom>
          <a:solidFill>
            <a:srgbClr val="20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73384" y="3675887"/>
            <a:ext cx="2606040" cy="585216"/>
          </a:xfrm>
          <a:prstGeom prst="rect">
            <a:avLst/>
          </a:prstGeom>
          <a:noFill/>
        </p:spPr>
        <p:txBody>
          <a:bodyPr wrap="square" lIns="0" rIns="0" tIns="0" bIns="0">
            <a:spAutoFit/>
          </a:bodyPr>
          <a:lstStyle/>
          <a:p>
            <a:pPr algn="l">
              <a:lnSpc>
                <a:spcPct val="112000"/>
              </a:lnSpc>
              <a:spcBef>
                <a:spcPts val="0"/>
              </a:spcBef>
              <a:spcAft>
                <a:spcPts val="0"/>
              </a:spcAft>
            </a:pPr>
            <a:r>
              <a:rPr sz="3168" b="1">
                <a:solidFill>
                  <a:srgbClr val="F27B43"/>
                </a:solidFill>
                <a:latin typeface="Georgia"/>
              </a:rPr>
              <a:t>04</a:t>
            </a:r>
          </a:p>
        </p:txBody>
      </p:sp>
      <p:sp>
        <p:nvSpPr>
          <p:cNvPr id="26" name="TextBox 25"/>
          <p:cNvSpPr txBox="1"/>
          <p:nvPr/>
        </p:nvSpPr>
        <p:spPr>
          <a:xfrm>
            <a:off x="11073384" y="4361688"/>
            <a:ext cx="2688336" cy="411480"/>
          </a:xfrm>
          <a:prstGeom prst="rect">
            <a:avLst/>
          </a:prstGeom>
          <a:noFill/>
        </p:spPr>
        <p:txBody>
          <a:bodyPr wrap="square" lIns="0" rIns="0" tIns="0" bIns="0">
            <a:spAutoFit/>
          </a:bodyPr>
          <a:lstStyle/>
          <a:p>
            <a:pPr algn="l">
              <a:lnSpc>
                <a:spcPct val="112000"/>
              </a:lnSpc>
              <a:spcBef>
                <a:spcPts val="0"/>
              </a:spcBef>
              <a:spcAft>
                <a:spcPts val="0"/>
              </a:spcAft>
            </a:pPr>
            <a:r>
              <a:rPr sz="2232" b="1">
                <a:solidFill>
                  <a:srgbClr val="F7F4EC"/>
                </a:solidFill>
                <a:latin typeface="Segoe UI"/>
              </a:rPr>
              <a:t>Checked advice</a:t>
            </a:r>
          </a:p>
        </p:txBody>
      </p:sp>
      <p:sp>
        <p:nvSpPr>
          <p:cNvPr id="27" name="TextBox 26"/>
          <p:cNvSpPr txBox="1"/>
          <p:nvPr/>
        </p:nvSpPr>
        <p:spPr>
          <a:xfrm>
            <a:off x="11073384" y="4892040"/>
            <a:ext cx="2715768" cy="93268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D4DEE6"/>
                </a:solidFill>
                <a:latin typeface="Segoe UI"/>
              </a:rPr>
              <a:t>Schema + quote checks</a:t>
            </a:r>
          </a:p>
          <a:p>
            <a:pPr algn="l">
              <a:lnSpc>
                <a:spcPct val="112000"/>
              </a:lnSpc>
              <a:spcBef>
                <a:spcPts val="0"/>
              </a:spcBef>
              <a:spcAft>
                <a:spcPts val="0"/>
              </a:spcAft>
            </a:pPr>
            <a:r>
              <a:rPr sz="1655" b="0">
                <a:solidFill>
                  <a:srgbClr val="D4DEE6"/>
                </a:solidFill>
                <a:latin typeface="Segoe UI"/>
              </a:rPr>
              <a:t>Rewrite number/tool checks</a:t>
            </a:r>
          </a:p>
          <a:p>
            <a:pPr algn="l">
              <a:lnSpc>
                <a:spcPct val="112000"/>
              </a:lnSpc>
              <a:spcBef>
                <a:spcPts val="0"/>
              </a:spcBef>
              <a:spcAft>
                <a:spcPts val="0"/>
              </a:spcAft>
            </a:pPr>
            <a:r>
              <a:rPr sz="1655" b="0">
                <a:solidFill>
                  <a:srgbClr val="D4DEE6"/>
                </a:solidFill>
                <a:latin typeface="Segoe UI"/>
              </a:rPr>
              <a:t>Strengths → plan → practice</a:t>
            </a:r>
          </a:p>
        </p:txBody>
      </p:sp>
      <p:sp>
        <p:nvSpPr>
          <p:cNvPr id="28" name="Rounded Rectangle 27"/>
          <p:cNvSpPr/>
          <p:nvPr/>
        </p:nvSpPr>
        <p:spPr>
          <a:xfrm>
            <a:off x="694944" y="6227064"/>
            <a:ext cx="13277088" cy="1078992"/>
          </a:xfrm>
          <a:prstGeom prst="roundRect">
            <a:avLst>
              <a:gd name="adj" fmla="val 8474"/>
            </a:avLst>
          </a:prstGeom>
          <a:solidFill>
            <a:srgbClr val="2943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6409944"/>
            <a:ext cx="34747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RESILIENT BY DESIGN</a:t>
            </a:r>
          </a:p>
        </p:txBody>
      </p:sp>
      <p:sp>
        <p:nvSpPr>
          <p:cNvPr id="30" name="TextBox 29"/>
          <p:cNvSpPr txBox="1"/>
          <p:nvPr/>
        </p:nvSpPr>
        <p:spPr>
          <a:xfrm>
            <a:off x="4754880" y="6382512"/>
            <a:ext cx="8915400" cy="338328"/>
          </a:xfrm>
          <a:prstGeom prst="rect">
            <a:avLst/>
          </a:prstGeom>
          <a:noFill/>
        </p:spPr>
        <p:txBody>
          <a:bodyPr wrap="square" lIns="0" rIns="0" tIns="0" bIns="0">
            <a:spAutoFit/>
          </a:bodyPr>
          <a:lstStyle/>
          <a:p>
            <a:pPr algn="l">
              <a:lnSpc>
                <a:spcPct val="112000"/>
              </a:lnSpc>
              <a:spcBef>
                <a:spcPts val="0"/>
              </a:spcBef>
              <a:spcAft>
                <a:spcPts val="0"/>
              </a:spcAft>
            </a:pPr>
            <a:r>
              <a:rPr sz="1872" b="1">
                <a:solidFill>
                  <a:srgbClr val="F7F4EC"/>
                </a:solidFill>
                <a:latin typeface="Segoe UI"/>
              </a:rPr>
              <a:t>Model unavailable or output rejected → rules-based guidance</a:t>
            </a:r>
          </a:p>
        </p:txBody>
      </p:sp>
      <p:sp>
        <p:nvSpPr>
          <p:cNvPr id="31" name="TextBox 30"/>
          <p:cNvSpPr txBox="1"/>
          <p:nvPr/>
        </p:nvSpPr>
        <p:spPr>
          <a:xfrm>
            <a:off x="960120" y="6867144"/>
            <a:ext cx="12664440" cy="274320"/>
          </a:xfrm>
          <a:prstGeom prst="rect">
            <a:avLst/>
          </a:prstGeom>
          <a:noFill/>
        </p:spPr>
        <p:txBody>
          <a:bodyPr wrap="square" lIns="0" rIns="0" tIns="0" bIns="0">
            <a:spAutoFit/>
          </a:bodyPr>
          <a:lstStyle/>
          <a:p>
            <a:pPr algn="l">
              <a:lnSpc>
                <a:spcPct val="112000"/>
              </a:lnSpc>
              <a:spcBef>
                <a:spcPts val="0"/>
              </a:spcBef>
              <a:spcAft>
                <a:spcPts val="0"/>
              </a:spcAft>
            </a:pPr>
            <a:r>
              <a:rPr sz="1512" b="0">
                <a:solidFill>
                  <a:srgbClr val="D4DEE6"/>
                </a:solidFill>
                <a:latin typeface="Segoe UI"/>
              </a:rPr>
              <a:t>Best-effort PII redaction · CV text sent to AI only with opt-in · no application database persistence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05  /  PHONE-FIRST WORKFLOW</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1B2D40"/>
                </a:solidFill>
                <a:latin typeface="Georgia"/>
              </a:rPr>
              <a:t>A career next step, from a phone browser.</a:t>
            </a:r>
          </a:p>
        </p:txBody>
      </p:sp>
      <p:sp>
        <p:nvSpPr>
          <p:cNvPr id="5" name="TextBox 4"/>
          <p:cNvSpPr txBox="1"/>
          <p:nvPr/>
        </p:nvSpPr>
        <p:spPr>
          <a:xfrm>
            <a:off x="685800" y="2514600"/>
            <a:ext cx="13167360" cy="640080"/>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586777"/>
                </a:solidFill>
                <a:latin typeface="Segoe UI"/>
              </a:rPr>
              <a:t>Public desktop + 390 × 844 mobile-browser checks passed. Editable panels below illustrate the journey.</a:t>
            </a:r>
          </a:p>
        </p:txBody>
      </p:sp>
      <p:sp>
        <p:nvSpPr>
          <p:cNvPr id="6" name="Rectangle 5"/>
          <p:cNvSpPr/>
          <p:nvPr/>
        </p:nvSpPr>
        <p:spPr>
          <a:xfrm>
            <a:off x="658368" y="7662672"/>
            <a:ext cx="13313664" cy="9144"/>
          </a:xfrm>
          <a:prstGeom prst="rect">
            <a:avLst/>
          </a:prstGeom>
          <a:solidFill>
            <a:srgbClr val="DD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86777"/>
                </a:solidFill>
                <a:latin typeface="Segoe UI"/>
              </a:rPr>
              <a:t>NJIA  /  DHRUZZZ  /  KENYA · ONLINE</a:t>
            </a:r>
          </a:p>
        </p:txBody>
      </p:sp>
      <p:sp>
        <p:nvSpPr>
          <p:cNvPr id="8" name="TextBox 7"/>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86777"/>
                </a:solidFill>
                <a:latin typeface="Segoe UI"/>
              </a:rPr>
              <a:t>05 / 08</a:t>
            </a:r>
          </a:p>
        </p:txBody>
      </p:sp>
      <p:sp>
        <p:nvSpPr>
          <p:cNvPr id="9" name="TextBox 8"/>
          <p:cNvSpPr txBox="1"/>
          <p:nvPr/>
        </p:nvSpPr>
        <p:spPr>
          <a:xfrm>
            <a:off x="713232" y="3300984"/>
            <a:ext cx="4160520" cy="36576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B2D40"/>
                </a:solidFill>
                <a:latin typeface="Segoe UI"/>
              </a:rPr>
              <a:t>01 / Give context</a:t>
            </a:r>
          </a:p>
        </p:txBody>
      </p:sp>
      <p:sp>
        <p:nvSpPr>
          <p:cNvPr id="10" name="TextBox 9"/>
          <p:cNvSpPr txBox="1"/>
          <p:nvPr/>
        </p:nvSpPr>
        <p:spPr>
          <a:xfrm>
            <a:off x="713232" y="3721608"/>
            <a:ext cx="4160520" cy="320040"/>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CV + role + permission</a:t>
            </a:r>
          </a:p>
        </p:txBody>
      </p:sp>
      <p:sp>
        <p:nvSpPr>
          <p:cNvPr id="11" name="Rounded Rectangle 10"/>
          <p:cNvSpPr/>
          <p:nvPr/>
        </p:nvSpPr>
        <p:spPr>
          <a:xfrm>
            <a:off x="1133856" y="4224528"/>
            <a:ext cx="3236976" cy="3136392"/>
          </a:xfrm>
          <a:prstGeom prst="roundRect">
            <a:avLst>
              <a:gd name="adj" fmla="val 6997"/>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234440" y="4334256"/>
            <a:ext cx="3035808" cy="2907792"/>
          </a:xfrm>
          <a:prstGeom prst="roundRect">
            <a:avLst>
              <a:gd name="adj" fmla="val 503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86584" y="4389120"/>
            <a:ext cx="731520" cy="54864"/>
          </a:xfrm>
          <a:prstGeom prst="roundRect">
            <a:avLst>
              <a:gd name="adj" fmla="val 30000"/>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8" y="4535424"/>
            <a:ext cx="2633472" cy="338328"/>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B2D40"/>
                </a:solidFill>
                <a:latin typeface="Georgia"/>
              </a:rPr>
              <a:t>njia</a:t>
            </a:r>
          </a:p>
        </p:txBody>
      </p:sp>
      <p:sp>
        <p:nvSpPr>
          <p:cNvPr id="15" name="TextBox 14"/>
          <p:cNvSpPr txBox="1"/>
          <p:nvPr/>
        </p:nvSpPr>
        <p:spPr>
          <a:xfrm>
            <a:off x="1389888" y="5020056"/>
            <a:ext cx="25603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YOUR NEXT ROLE</a:t>
            </a:r>
          </a:p>
        </p:txBody>
      </p:sp>
      <p:sp>
        <p:nvSpPr>
          <p:cNvPr id="16" name="TextBox 15"/>
          <p:cNvSpPr txBox="1"/>
          <p:nvPr/>
        </p:nvSpPr>
        <p:spPr>
          <a:xfrm>
            <a:off x="1389888" y="5358384"/>
            <a:ext cx="2697480" cy="301752"/>
          </a:xfrm>
          <a:prstGeom prst="rect">
            <a:avLst/>
          </a:prstGeom>
          <a:noFill/>
        </p:spPr>
        <p:txBody>
          <a:bodyPr wrap="square" lIns="0" rIns="0" tIns="0" bIns="0">
            <a:spAutoFit/>
          </a:bodyPr>
          <a:lstStyle/>
          <a:p>
            <a:pPr algn="l">
              <a:lnSpc>
                <a:spcPct val="112000"/>
              </a:lnSpc>
              <a:spcBef>
                <a:spcPts val="0"/>
              </a:spcBef>
              <a:spcAft>
                <a:spcPts val="0"/>
              </a:spcAft>
            </a:pPr>
            <a:r>
              <a:rPr sz="1655" b="1">
                <a:solidFill>
                  <a:srgbClr val="1B2D40"/>
                </a:solidFill>
                <a:latin typeface="Segoe UI"/>
              </a:rPr>
              <a:t>Kenya  /  Data Analyst</a:t>
            </a:r>
          </a:p>
        </p:txBody>
      </p:sp>
      <p:sp>
        <p:nvSpPr>
          <p:cNvPr id="17" name="Rounded Rectangle 16"/>
          <p:cNvSpPr/>
          <p:nvPr/>
        </p:nvSpPr>
        <p:spPr>
          <a:xfrm>
            <a:off x="1371600" y="5769864"/>
            <a:ext cx="2761488" cy="621792"/>
          </a:xfrm>
          <a:prstGeom prst="roundRect">
            <a:avLst>
              <a:gd name="adj" fmla="val 8823"/>
            </a:avLst>
          </a:prstGeom>
          <a:solidFill>
            <a:srgbClr val="F7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90472" y="5961888"/>
            <a:ext cx="2468880" cy="283464"/>
          </a:xfrm>
          <a:prstGeom prst="rect">
            <a:avLst/>
          </a:prstGeom>
          <a:noFill/>
        </p:spPr>
        <p:txBody>
          <a:bodyPr wrap="square" lIns="0" rIns="0" tIns="0" bIns="0">
            <a:spAutoFit/>
          </a:bodyPr>
          <a:lstStyle/>
          <a:p>
            <a:pPr algn="l">
              <a:lnSpc>
                <a:spcPct val="112000"/>
              </a:lnSpc>
              <a:spcBef>
                <a:spcPts val="0"/>
              </a:spcBef>
              <a:spcAft>
                <a:spcPts val="0"/>
              </a:spcAft>
            </a:pPr>
            <a:r>
              <a:rPr sz="1512" b="0">
                <a:solidFill>
                  <a:srgbClr val="586777"/>
                </a:solidFill>
                <a:latin typeface="Segoe UI"/>
              </a:rPr>
              <a:t>Paste or upload your CV</a:t>
            </a:r>
          </a:p>
        </p:txBody>
      </p:sp>
      <p:sp>
        <p:nvSpPr>
          <p:cNvPr id="19" name="TextBox 18"/>
          <p:cNvSpPr txBox="1"/>
          <p:nvPr/>
        </p:nvSpPr>
        <p:spPr>
          <a:xfrm>
            <a:off x="1389888" y="6528816"/>
            <a:ext cx="2670048" cy="292608"/>
          </a:xfrm>
          <a:prstGeom prst="rect">
            <a:avLst/>
          </a:prstGeom>
          <a:noFill/>
        </p:spPr>
        <p:txBody>
          <a:bodyPr wrap="square" lIns="0" rIns="0" tIns="0" bIns="0">
            <a:spAutoFit/>
          </a:bodyPr>
          <a:lstStyle/>
          <a:p>
            <a:pPr algn="l">
              <a:lnSpc>
                <a:spcPct val="112000"/>
              </a:lnSpc>
              <a:spcBef>
                <a:spcPts val="0"/>
              </a:spcBef>
              <a:spcAft>
                <a:spcPts val="0"/>
              </a:spcAft>
            </a:pPr>
            <a:r>
              <a:rPr sz="1368" b="0">
                <a:solidFill>
                  <a:srgbClr val="586777"/>
                </a:solidFill>
                <a:latin typeface="Segoe UI"/>
              </a:rPr>
              <a:t>Opt in to send CV text to AI</a:t>
            </a:r>
          </a:p>
        </p:txBody>
      </p:sp>
      <p:sp>
        <p:nvSpPr>
          <p:cNvPr id="20" name="Rounded Rectangle 19"/>
          <p:cNvSpPr/>
          <p:nvPr/>
        </p:nvSpPr>
        <p:spPr>
          <a:xfrm>
            <a:off x="1371600" y="6885432"/>
            <a:ext cx="2761488" cy="256032"/>
          </a:xfrm>
          <a:prstGeom prst="roundRect">
            <a:avLst>
              <a:gd name="adj" fmla="val 17857"/>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08176" y="6903720"/>
            <a:ext cx="2688336" cy="228600"/>
          </a:xfrm>
          <a:prstGeom prst="rect">
            <a:avLst/>
          </a:prstGeom>
          <a:noFill/>
        </p:spPr>
        <p:txBody>
          <a:bodyPr wrap="square" lIns="0" rIns="0" tIns="0" bIns="0">
            <a:spAutoFit/>
          </a:bodyPr>
          <a:lstStyle/>
          <a:p>
            <a:pPr algn="ctr">
              <a:lnSpc>
                <a:spcPct val="112000"/>
              </a:lnSpc>
              <a:spcBef>
                <a:spcPts val="0"/>
              </a:spcBef>
              <a:spcAft>
                <a:spcPts val="0"/>
              </a:spcAft>
            </a:pPr>
            <a:r>
              <a:rPr sz="1296" b="1">
                <a:solidFill>
                  <a:srgbClr val="14283F"/>
                </a:solidFill>
                <a:latin typeface="Segoe UI"/>
              </a:rPr>
              <a:t>Assess my CV</a:t>
            </a:r>
          </a:p>
        </p:txBody>
      </p:sp>
      <p:sp>
        <p:nvSpPr>
          <p:cNvPr id="22" name="TextBox 21"/>
          <p:cNvSpPr txBox="1"/>
          <p:nvPr/>
        </p:nvSpPr>
        <p:spPr>
          <a:xfrm>
            <a:off x="5239512" y="3300984"/>
            <a:ext cx="4160520" cy="36576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B2D40"/>
                </a:solidFill>
                <a:latin typeface="Segoe UI"/>
              </a:rPr>
              <a:t>02 / Read the evidence</a:t>
            </a:r>
          </a:p>
        </p:txBody>
      </p:sp>
      <p:sp>
        <p:nvSpPr>
          <p:cNvPr id="23" name="TextBox 22"/>
          <p:cNvSpPr txBox="1"/>
          <p:nvPr/>
        </p:nvSpPr>
        <p:spPr>
          <a:xfrm>
            <a:off x="5239512" y="3721608"/>
            <a:ext cx="4160520" cy="320040"/>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Strengths + local priorities</a:t>
            </a:r>
          </a:p>
        </p:txBody>
      </p:sp>
      <p:sp>
        <p:nvSpPr>
          <p:cNvPr id="24" name="Rounded Rectangle 23"/>
          <p:cNvSpPr/>
          <p:nvPr/>
        </p:nvSpPr>
        <p:spPr>
          <a:xfrm>
            <a:off x="5660136" y="4224528"/>
            <a:ext cx="3236976" cy="3136392"/>
          </a:xfrm>
          <a:prstGeom prst="roundRect">
            <a:avLst>
              <a:gd name="adj" fmla="val 6997"/>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760720" y="4334256"/>
            <a:ext cx="3035808" cy="2907792"/>
          </a:xfrm>
          <a:prstGeom prst="roundRect">
            <a:avLst>
              <a:gd name="adj" fmla="val 503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12864" y="4389120"/>
            <a:ext cx="731520" cy="54864"/>
          </a:xfrm>
          <a:prstGeom prst="roundRect">
            <a:avLst>
              <a:gd name="adj" fmla="val 30000"/>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16168" y="4535424"/>
            <a:ext cx="2633472" cy="338328"/>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B2D40"/>
                </a:solidFill>
                <a:latin typeface="Georgia"/>
              </a:rPr>
              <a:t>njia</a:t>
            </a:r>
          </a:p>
        </p:txBody>
      </p:sp>
      <p:sp>
        <p:nvSpPr>
          <p:cNvPr id="28" name="TextBox 27"/>
          <p:cNvSpPr txBox="1"/>
          <p:nvPr/>
        </p:nvSpPr>
        <p:spPr>
          <a:xfrm>
            <a:off x="5916168" y="5020056"/>
            <a:ext cx="269748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EVIDENCE IN YOUR CV</a:t>
            </a:r>
          </a:p>
        </p:txBody>
      </p:sp>
      <p:sp>
        <p:nvSpPr>
          <p:cNvPr id="29" name="TextBox 28"/>
          <p:cNvSpPr txBox="1"/>
          <p:nvPr/>
        </p:nvSpPr>
        <p:spPr>
          <a:xfrm>
            <a:off x="5916168" y="5376672"/>
            <a:ext cx="2706624" cy="320040"/>
          </a:xfrm>
          <a:prstGeom prst="rect">
            <a:avLst/>
          </a:prstGeom>
          <a:noFill/>
        </p:spPr>
        <p:txBody>
          <a:bodyPr wrap="square" lIns="0" rIns="0" tIns="0" bIns="0">
            <a:spAutoFit/>
          </a:bodyPr>
          <a:lstStyle/>
          <a:p>
            <a:pPr algn="l">
              <a:lnSpc>
                <a:spcPct val="112000"/>
              </a:lnSpc>
              <a:spcBef>
                <a:spcPts val="0"/>
              </a:spcBef>
              <a:spcAft>
                <a:spcPts val="0"/>
              </a:spcAft>
            </a:pPr>
            <a:r>
              <a:rPr sz="1728" b="1">
                <a:solidFill>
                  <a:srgbClr val="1B2D40"/>
                </a:solidFill>
                <a:latin typeface="Segoe UI"/>
              </a:rPr>
              <a:t>Excel data preparation</a:t>
            </a:r>
          </a:p>
        </p:txBody>
      </p:sp>
      <p:sp>
        <p:nvSpPr>
          <p:cNvPr id="30" name="TextBox 29"/>
          <p:cNvSpPr txBox="1"/>
          <p:nvPr/>
        </p:nvSpPr>
        <p:spPr>
          <a:xfrm>
            <a:off x="5916168" y="5779008"/>
            <a:ext cx="2651760" cy="557784"/>
          </a:xfrm>
          <a:prstGeom prst="rect">
            <a:avLst/>
          </a:prstGeom>
          <a:noFill/>
        </p:spPr>
        <p:txBody>
          <a:bodyPr wrap="square" lIns="0" rIns="0" tIns="0" bIns="0">
            <a:spAutoFit/>
          </a:bodyPr>
          <a:lstStyle/>
          <a:p>
            <a:pPr algn="l">
              <a:lnSpc>
                <a:spcPct val="112000"/>
              </a:lnSpc>
              <a:spcBef>
                <a:spcPts val="0"/>
              </a:spcBef>
              <a:spcAft>
                <a:spcPts val="0"/>
              </a:spcAft>
            </a:pPr>
            <a:r>
              <a:rPr sz="1512" b="0">
                <a:solidFill>
                  <a:srgbClr val="586777"/>
                </a:solidFill>
                <a:latin typeface="Segoe UI"/>
              </a:rPr>
              <a:t>“Cleaned sales data in Excel”</a:t>
            </a:r>
          </a:p>
        </p:txBody>
      </p:sp>
      <p:sp>
        <p:nvSpPr>
          <p:cNvPr id="31" name="Rounded Rectangle 30"/>
          <p:cNvSpPr/>
          <p:nvPr/>
        </p:nvSpPr>
        <p:spPr>
          <a:xfrm>
            <a:off x="5897880" y="6464808"/>
            <a:ext cx="2761488" cy="612648"/>
          </a:xfrm>
          <a:prstGeom prst="roundRect">
            <a:avLst>
              <a:gd name="adj" fmla="val 8955"/>
            </a:avLst>
          </a:prstGeom>
          <a:solidFill>
            <a:srgbClr val="F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16752" y="6556248"/>
            <a:ext cx="2532888" cy="512064"/>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1B2D40"/>
                </a:solidFill>
                <a:latin typeface="Segoe UI"/>
              </a:rPr>
              <a:t>Next: practise a SQL JOIN</a:t>
            </a:r>
          </a:p>
          <a:p>
            <a:pPr algn="l">
              <a:lnSpc>
                <a:spcPct val="112000"/>
              </a:lnSpc>
              <a:spcBef>
                <a:spcPts val="0"/>
              </a:spcBef>
              <a:spcAft>
                <a:spcPts val="0"/>
              </a:spcAft>
            </a:pPr>
            <a:r>
              <a:rPr sz="1439" b="0">
                <a:solidFill>
                  <a:srgbClr val="1B2D40"/>
                </a:solidFill>
                <a:latin typeface="Segoe UI"/>
              </a:rPr>
              <a:t>SQL mentioned in 46.5%*</a:t>
            </a:r>
          </a:p>
        </p:txBody>
      </p:sp>
      <p:sp>
        <p:nvSpPr>
          <p:cNvPr id="33" name="TextBox 32"/>
          <p:cNvSpPr txBox="1"/>
          <p:nvPr/>
        </p:nvSpPr>
        <p:spPr>
          <a:xfrm>
            <a:off x="9765792" y="3300984"/>
            <a:ext cx="4160520" cy="365760"/>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B2D40"/>
                </a:solidFill>
                <a:latin typeface="Segoe UI"/>
              </a:rPr>
              <a:t>03 / Take action</a:t>
            </a:r>
          </a:p>
        </p:txBody>
      </p:sp>
      <p:sp>
        <p:nvSpPr>
          <p:cNvPr id="34" name="TextBox 33"/>
          <p:cNvSpPr txBox="1"/>
          <p:nvPr/>
        </p:nvSpPr>
        <p:spPr>
          <a:xfrm>
            <a:off x="9765792" y="3721608"/>
            <a:ext cx="4160520" cy="320040"/>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Plan + interview practice</a:t>
            </a:r>
          </a:p>
        </p:txBody>
      </p:sp>
      <p:sp>
        <p:nvSpPr>
          <p:cNvPr id="35" name="Rounded Rectangle 34"/>
          <p:cNvSpPr/>
          <p:nvPr/>
        </p:nvSpPr>
        <p:spPr>
          <a:xfrm>
            <a:off x="10186416" y="4224528"/>
            <a:ext cx="3236976" cy="3136392"/>
          </a:xfrm>
          <a:prstGeom prst="roundRect">
            <a:avLst>
              <a:gd name="adj" fmla="val 6997"/>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287000" y="4334256"/>
            <a:ext cx="3035808" cy="2907792"/>
          </a:xfrm>
          <a:prstGeom prst="roundRect">
            <a:avLst>
              <a:gd name="adj" fmla="val 503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1439144" y="4389120"/>
            <a:ext cx="731520" cy="54864"/>
          </a:xfrm>
          <a:prstGeom prst="roundRect">
            <a:avLst>
              <a:gd name="adj" fmla="val 30000"/>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42448" y="4535424"/>
            <a:ext cx="2633472" cy="338328"/>
          </a:xfrm>
          <a:prstGeom prst="rect">
            <a:avLst/>
          </a:prstGeom>
          <a:noFill/>
        </p:spPr>
        <p:txBody>
          <a:bodyPr wrap="square" lIns="0" rIns="0" tIns="0" bIns="0">
            <a:spAutoFit/>
          </a:bodyPr>
          <a:lstStyle/>
          <a:p>
            <a:pPr algn="l">
              <a:lnSpc>
                <a:spcPct val="112000"/>
              </a:lnSpc>
              <a:spcBef>
                <a:spcPts val="0"/>
              </a:spcBef>
              <a:spcAft>
                <a:spcPts val="0"/>
              </a:spcAft>
            </a:pPr>
            <a:r>
              <a:rPr sz="2088" b="1">
                <a:solidFill>
                  <a:srgbClr val="1B2D40"/>
                </a:solidFill>
                <a:latin typeface="Georgia"/>
              </a:rPr>
              <a:t>njia</a:t>
            </a:r>
          </a:p>
        </p:txBody>
      </p:sp>
      <p:sp>
        <p:nvSpPr>
          <p:cNvPr id="39" name="TextBox 38"/>
          <p:cNvSpPr txBox="1"/>
          <p:nvPr/>
        </p:nvSpPr>
        <p:spPr>
          <a:xfrm>
            <a:off x="10442448" y="5020056"/>
            <a:ext cx="2670048"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YOUR SEVEN-DAY PLAN</a:t>
            </a:r>
          </a:p>
        </p:txBody>
      </p:sp>
      <p:sp>
        <p:nvSpPr>
          <p:cNvPr id="40" name="TextBox 39"/>
          <p:cNvSpPr txBox="1"/>
          <p:nvPr/>
        </p:nvSpPr>
        <p:spPr>
          <a:xfrm>
            <a:off x="10442448" y="5394960"/>
            <a:ext cx="2706624" cy="969264"/>
          </a:xfrm>
          <a:prstGeom prst="rect">
            <a:avLst/>
          </a:prstGeom>
          <a:noFill/>
        </p:spPr>
        <p:txBody>
          <a:bodyPr wrap="square" lIns="0" rIns="0" tIns="0" bIns="0">
            <a:spAutoFit/>
          </a:bodyPr>
          <a:lstStyle/>
          <a:p>
            <a:pPr algn="l">
              <a:lnSpc>
                <a:spcPct val="112000"/>
              </a:lnSpc>
              <a:spcBef>
                <a:spcPts val="0"/>
              </a:spcBef>
              <a:spcAft>
                <a:spcPts val="0"/>
              </a:spcAft>
            </a:pPr>
            <a:r>
              <a:rPr sz="1512" b="0">
                <a:solidFill>
                  <a:srgbClr val="1B2D40"/>
                </a:solidFill>
                <a:latin typeface="Segoe UI"/>
              </a:rPr>
              <a:t>Day 1  /  Review CV evidence</a:t>
            </a:r>
          </a:p>
          <a:p>
            <a:pPr algn="l">
              <a:lnSpc>
                <a:spcPct val="112000"/>
              </a:lnSpc>
              <a:spcBef>
                <a:spcPts val="0"/>
              </a:spcBef>
              <a:spcAft>
                <a:spcPts val="0"/>
              </a:spcAft>
            </a:pPr>
            <a:r>
              <a:rPr sz="1512" b="0">
                <a:solidFill>
                  <a:srgbClr val="1B2D40"/>
                </a:solidFill>
                <a:latin typeface="Segoe UI"/>
              </a:rPr>
              <a:t>Day 2  /  Build a SQL exercise</a:t>
            </a:r>
          </a:p>
          <a:p>
            <a:pPr algn="l">
              <a:lnSpc>
                <a:spcPct val="112000"/>
              </a:lnSpc>
              <a:spcBef>
                <a:spcPts val="0"/>
              </a:spcBef>
              <a:spcAft>
                <a:spcPts val="0"/>
              </a:spcAft>
            </a:pPr>
            <a:r>
              <a:rPr sz="1512" b="0">
                <a:solidFill>
                  <a:srgbClr val="1B2D40"/>
                </a:solidFill>
                <a:latin typeface="Segoe UI"/>
              </a:rPr>
              <a:t>Day 3  /  Check edge cases</a:t>
            </a:r>
          </a:p>
        </p:txBody>
      </p:sp>
      <p:sp>
        <p:nvSpPr>
          <p:cNvPr id="41" name="Rounded Rectangle 40"/>
          <p:cNvSpPr/>
          <p:nvPr/>
        </p:nvSpPr>
        <p:spPr>
          <a:xfrm>
            <a:off x="10424160" y="6483096"/>
            <a:ext cx="2761488" cy="603504"/>
          </a:xfrm>
          <a:prstGeom prst="roundRect">
            <a:avLst>
              <a:gd name="adj" fmla="val 9090"/>
            </a:avLst>
          </a:prstGeom>
          <a:solidFill>
            <a:srgbClr val="F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33888" y="6565392"/>
            <a:ext cx="2587752" cy="512064"/>
          </a:xfrm>
          <a:prstGeom prst="rect">
            <a:avLst/>
          </a:prstGeom>
          <a:noFill/>
        </p:spPr>
        <p:txBody>
          <a:bodyPr wrap="square" lIns="0" rIns="0" tIns="0" bIns="0">
            <a:spAutoFit/>
          </a:bodyPr>
          <a:lstStyle/>
          <a:p>
            <a:pPr algn="l">
              <a:lnSpc>
                <a:spcPct val="112000"/>
              </a:lnSpc>
              <a:spcBef>
                <a:spcPts val="0"/>
              </a:spcBef>
              <a:spcAft>
                <a:spcPts val="0"/>
              </a:spcAft>
            </a:pPr>
            <a:r>
              <a:rPr sz="1296" b="0">
                <a:solidFill>
                  <a:srgbClr val="1B2D40"/>
                </a:solidFill>
                <a:latin typeface="Segoe UI"/>
              </a:rPr>
              <a:t>Interview practice</a:t>
            </a:r>
          </a:p>
          <a:p>
            <a:pPr algn="l">
              <a:lnSpc>
                <a:spcPct val="112000"/>
              </a:lnSpc>
              <a:spcBef>
                <a:spcPts val="0"/>
              </a:spcBef>
              <a:spcAft>
                <a:spcPts val="0"/>
              </a:spcAft>
            </a:pPr>
            <a:r>
              <a:rPr sz="1296" b="0">
                <a:solidFill>
                  <a:srgbClr val="1B2D40"/>
                </a:solidFill>
                <a:latin typeface="Segoe UI"/>
              </a:rPr>
              <a:t>How do you check duplicates?</a:t>
            </a:r>
          </a:p>
        </p:txBody>
      </p:sp>
      <p:sp>
        <p:nvSpPr>
          <p:cNvPr id="43" name="TextBox 42"/>
          <p:cNvSpPr txBox="1"/>
          <p:nvPr/>
        </p:nvSpPr>
        <p:spPr>
          <a:xfrm>
            <a:off x="694944" y="7415783"/>
            <a:ext cx="13167360" cy="219456"/>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86777"/>
                </a:solidFill>
                <a:latin typeface="Segoe UI"/>
              </a:rPr>
              <a:t>*Kenya Data Analyst, 2023; n = 391. Tested sample: 39.6% demand-weighted coverage, not hiring odds. Panels illustrative.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06  /  EVIDENCE &amp; HONEST LIMITS</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1B2D40"/>
                </a:solidFill>
                <a:latin typeface="Georgia"/>
              </a:rPr>
              <a:t>A working product. Evidence you can inspect.</a:t>
            </a:r>
          </a:p>
        </p:txBody>
      </p:sp>
      <p:sp>
        <p:nvSpPr>
          <p:cNvPr id="5" name="TextBox 4"/>
          <p:cNvSpPr txBox="1"/>
          <p:nvPr/>
        </p:nvSpPr>
        <p:spPr>
          <a:xfrm>
            <a:off x="685800" y="2514600"/>
            <a:ext cx="13167360" cy="640080"/>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586777"/>
                </a:solidFill>
                <a:latin typeface="Segoe UI"/>
              </a:rPr>
              <a:t>Real public Groq calls · synthetic CVs · strengths, rewrites, seven-day plans and tailored interview questions.</a:t>
            </a:r>
          </a:p>
        </p:txBody>
      </p:sp>
      <p:sp>
        <p:nvSpPr>
          <p:cNvPr id="6" name="Rectangle 5"/>
          <p:cNvSpPr/>
          <p:nvPr/>
        </p:nvSpPr>
        <p:spPr>
          <a:xfrm>
            <a:off x="658368" y="7662672"/>
            <a:ext cx="13313664" cy="9144"/>
          </a:xfrm>
          <a:prstGeom prst="rect">
            <a:avLst/>
          </a:prstGeom>
          <a:solidFill>
            <a:srgbClr val="DD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86777"/>
                </a:solidFill>
                <a:latin typeface="Segoe UI"/>
              </a:rPr>
              <a:t>NJIA  /  DHRUZZZ  /  KENYA · ONLINE</a:t>
            </a:r>
          </a:p>
        </p:txBody>
      </p:sp>
      <p:sp>
        <p:nvSpPr>
          <p:cNvPr id="8" name="TextBox 7"/>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86777"/>
                </a:solidFill>
                <a:latin typeface="Segoe UI"/>
              </a:rPr>
              <a:t>06 / 08</a:t>
            </a:r>
          </a:p>
        </p:txBody>
      </p:sp>
      <p:sp>
        <p:nvSpPr>
          <p:cNvPr id="9" name="Rounded Rectangle 8"/>
          <p:cNvSpPr/>
          <p:nvPr/>
        </p:nvSpPr>
        <p:spPr>
          <a:xfrm>
            <a:off x="694944" y="3401568"/>
            <a:ext cx="6089904" cy="2203704"/>
          </a:xfrm>
          <a:prstGeom prst="roundRect">
            <a:avLst>
              <a:gd name="adj" fmla="val 4979"/>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611880"/>
            <a:ext cx="548640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D4DEE6"/>
                </a:solidFill>
                <a:latin typeface="Segoe UI"/>
              </a:rPr>
              <a:t>PASSED / TWO DISTINCT TEST LAYERS</a:t>
            </a:r>
          </a:p>
        </p:txBody>
      </p:sp>
      <p:sp>
        <p:nvSpPr>
          <p:cNvPr id="11" name="TextBox 10"/>
          <p:cNvSpPr txBox="1"/>
          <p:nvPr/>
        </p:nvSpPr>
        <p:spPr>
          <a:xfrm>
            <a:off x="969264" y="4050791"/>
            <a:ext cx="2468880" cy="896112"/>
          </a:xfrm>
          <a:prstGeom prst="rect">
            <a:avLst/>
          </a:prstGeom>
          <a:noFill/>
        </p:spPr>
        <p:txBody>
          <a:bodyPr wrap="square" lIns="0" rIns="0" tIns="0" bIns="0">
            <a:spAutoFit/>
          </a:bodyPr>
          <a:lstStyle/>
          <a:p>
            <a:pPr algn="l">
              <a:lnSpc>
                <a:spcPct val="112000"/>
              </a:lnSpc>
              <a:spcBef>
                <a:spcPts val="0"/>
              </a:spcBef>
              <a:spcAft>
                <a:spcPts val="0"/>
              </a:spcAft>
            </a:pPr>
            <a:r>
              <a:rPr sz="5904" b="1">
                <a:solidFill>
                  <a:srgbClr val="F7F4EC"/>
                </a:solidFill>
                <a:latin typeface="Georgia"/>
              </a:rPr>
              <a:t>72</a:t>
            </a:r>
          </a:p>
        </p:txBody>
      </p:sp>
      <p:sp>
        <p:nvSpPr>
          <p:cNvPr id="12" name="TextBox 11"/>
          <p:cNvSpPr txBox="1"/>
          <p:nvPr/>
        </p:nvSpPr>
        <p:spPr>
          <a:xfrm>
            <a:off x="3977639" y="4050791"/>
            <a:ext cx="2468880" cy="896112"/>
          </a:xfrm>
          <a:prstGeom prst="rect">
            <a:avLst/>
          </a:prstGeom>
          <a:noFill/>
        </p:spPr>
        <p:txBody>
          <a:bodyPr wrap="square" lIns="0" rIns="0" tIns="0" bIns="0">
            <a:spAutoFit/>
          </a:bodyPr>
          <a:lstStyle/>
          <a:p>
            <a:pPr algn="l">
              <a:lnSpc>
                <a:spcPct val="112000"/>
              </a:lnSpc>
              <a:spcBef>
                <a:spcPts val="0"/>
              </a:spcBef>
              <a:spcAft>
                <a:spcPts val="0"/>
              </a:spcAft>
            </a:pPr>
            <a:r>
              <a:rPr sz="5904" b="1">
                <a:solidFill>
                  <a:srgbClr val="F27B43"/>
                </a:solidFill>
                <a:latin typeface="Georgia"/>
              </a:rPr>
              <a:t>57</a:t>
            </a:r>
          </a:p>
        </p:txBody>
      </p:sp>
      <p:sp>
        <p:nvSpPr>
          <p:cNvPr id="13" name="TextBox 12"/>
          <p:cNvSpPr txBox="1"/>
          <p:nvPr/>
        </p:nvSpPr>
        <p:spPr>
          <a:xfrm>
            <a:off x="1005840" y="5020056"/>
            <a:ext cx="2651760" cy="329184"/>
          </a:xfrm>
          <a:prstGeom prst="rect">
            <a:avLst/>
          </a:prstGeom>
          <a:noFill/>
        </p:spPr>
        <p:txBody>
          <a:bodyPr wrap="square" lIns="0" rIns="0" tIns="0" bIns="0">
            <a:spAutoFit/>
          </a:bodyPr>
          <a:lstStyle/>
          <a:p>
            <a:pPr algn="l">
              <a:lnSpc>
                <a:spcPct val="112000"/>
              </a:lnSpc>
              <a:spcBef>
                <a:spcPts val="0"/>
              </a:spcBef>
              <a:spcAft>
                <a:spcPts val="0"/>
              </a:spcAft>
            </a:pPr>
            <a:r>
              <a:rPr sz="1800" b="0">
                <a:solidFill>
                  <a:srgbClr val="D4DEE6"/>
                </a:solidFill>
                <a:latin typeface="Segoe UI"/>
              </a:rPr>
              <a:t>backend tests</a:t>
            </a:r>
          </a:p>
        </p:txBody>
      </p:sp>
      <p:sp>
        <p:nvSpPr>
          <p:cNvPr id="14" name="TextBox 13"/>
          <p:cNvSpPr txBox="1"/>
          <p:nvPr/>
        </p:nvSpPr>
        <p:spPr>
          <a:xfrm>
            <a:off x="4014215" y="5001768"/>
            <a:ext cx="2523744" cy="301752"/>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D4DEE6"/>
                </a:solidFill>
                <a:latin typeface="Segoe UI"/>
              </a:rPr>
              <a:t>public assertions</a:t>
            </a:r>
          </a:p>
        </p:txBody>
      </p:sp>
      <p:sp>
        <p:nvSpPr>
          <p:cNvPr id="15" name="TextBox 14"/>
          <p:cNvSpPr txBox="1"/>
          <p:nvPr/>
        </p:nvSpPr>
        <p:spPr>
          <a:xfrm>
            <a:off x="4014215" y="5330952"/>
            <a:ext cx="2542032" cy="228600"/>
          </a:xfrm>
          <a:prstGeom prst="rect">
            <a:avLst/>
          </a:prstGeom>
          <a:noFill/>
        </p:spPr>
        <p:txBody>
          <a:bodyPr wrap="square" lIns="0" rIns="0" tIns="0" bIns="0">
            <a:spAutoFit/>
          </a:bodyPr>
          <a:lstStyle/>
          <a:p>
            <a:pPr algn="l">
              <a:lnSpc>
                <a:spcPct val="112000"/>
              </a:lnSpc>
              <a:spcBef>
                <a:spcPts val="0"/>
              </a:spcBef>
              <a:spcAft>
                <a:spcPts val="0"/>
              </a:spcAft>
            </a:pPr>
            <a:r>
              <a:rPr sz="1296" b="0">
                <a:solidFill>
                  <a:srgbClr val="D4DEE6"/>
                </a:solidFill>
                <a:latin typeface="Segoe UI"/>
              </a:rPr>
              <a:t>48 acceptance + 9 recording</a:t>
            </a:r>
          </a:p>
        </p:txBody>
      </p:sp>
      <p:sp>
        <p:nvSpPr>
          <p:cNvPr id="16" name="Rounded Rectangle 15"/>
          <p:cNvSpPr/>
          <p:nvPr/>
        </p:nvSpPr>
        <p:spPr>
          <a:xfrm>
            <a:off x="7132320" y="3401568"/>
            <a:ext cx="6839712" cy="2203704"/>
          </a:xfrm>
          <a:prstGeom prst="roundRect">
            <a:avLst>
              <a:gd name="adj" fmla="val 4979"/>
            </a:avLst>
          </a:prstGeom>
          <a:solidFill>
            <a:srgbClr val="F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4927" y="3611880"/>
            <a:ext cx="62179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1B2D40"/>
                </a:solidFill>
                <a:latin typeface="Segoe UI"/>
              </a:rPr>
              <a:t>LIVE GROQ / OBSERVED RESPONSE TIMES</a:t>
            </a:r>
          </a:p>
        </p:txBody>
      </p:sp>
      <p:sp>
        <p:nvSpPr>
          <p:cNvPr id="18" name="TextBox 17"/>
          <p:cNvSpPr txBox="1"/>
          <p:nvPr/>
        </p:nvSpPr>
        <p:spPr>
          <a:xfrm>
            <a:off x="7424927" y="4123944"/>
            <a:ext cx="6199632" cy="1005840"/>
          </a:xfrm>
          <a:prstGeom prst="rect">
            <a:avLst/>
          </a:prstGeom>
          <a:noFill/>
        </p:spPr>
        <p:txBody>
          <a:bodyPr wrap="square" lIns="0" rIns="0" tIns="0" bIns="0">
            <a:spAutoFit/>
          </a:bodyPr>
          <a:lstStyle/>
          <a:p>
            <a:pPr algn="l">
              <a:lnSpc>
                <a:spcPct val="112000"/>
              </a:lnSpc>
              <a:spcBef>
                <a:spcPts val="0"/>
              </a:spcBef>
              <a:spcAft>
                <a:spcPts val="0"/>
              </a:spcAft>
            </a:pPr>
            <a:r>
              <a:rPr sz="1943" b="0">
                <a:solidFill>
                  <a:srgbClr val="1B2D40"/>
                </a:solidFill>
                <a:latin typeface="Segoe UI"/>
              </a:rPr>
              <a:t>2.259s desktop  /  1.318s mobile</a:t>
            </a:r>
          </a:p>
          <a:p>
            <a:pPr algn="l">
              <a:lnSpc>
                <a:spcPct val="112000"/>
              </a:lnSpc>
              <a:spcBef>
                <a:spcPts val="0"/>
              </a:spcBef>
              <a:spcAft>
                <a:spcPts val="0"/>
              </a:spcAft>
            </a:pPr>
            <a:r>
              <a:rPr sz="1943" b="0">
                <a:solidFill>
                  <a:srgbClr val="1B2D40"/>
                </a:solidFill>
                <a:latin typeface="Segoe UI"/>
              </a:rPr>
              <a:t>2.260s recording, including PDF processing</a:t>
            </a:r>
          </a:p>
          <a:p>
            <a:pPr algn="l">
              <a:lnSpc>
                <a:spcPct val="112000"/>
              </a:lnSpc>
              <a:spcBef>
                <a:spcPts val="0"/>
              </a:spcBef>
              <a:spcAft>
                <a:spcPts val="0"/>
              </a:spcAft>
            </a:pPr>
            <a:r>
              <a:rPr sz="1943" b="0">
                <a:solidFill>
                  <a:srgbClr val="1B2D40"/>
                </a:solidFill>
                <a:latin typeface="Segoe UI"/>
              </a:rPr>
              <a:t>0 JavaScript errors across these runs</a:t>
            </a:r>
          </a:p>
        </p:txBody>
      </p:sp>
      <p:sp>
        <p:nvSpPr>
          <p:cNvPr id="19" name="TextBox 18"/>
          <p:cNvSpPr txBox="1"/>
          <p:nvPr/>
        </p:nvSpPr>
        <p:spPr>
          <a:xfrm>
            <a:off x="7424927" y="5303520"/>
            <a:ext cx="6199632" cy="246888"/>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586777"/>
                </a:solidFill>
                <a:latin typeface="Segoe UI"/>
              </a:rPr>
              <a:t>Individual observations, not a performance benchmark.</a:t>
            </a:r>
          </a:p>
        </p:txBody>
      </p:sp>
      <p:sp>
        <p:nvSpPr>
          <p:cNvPr id="20" name="TextBox 19"/>
          <p:cNvSpPr txBox="1"/>
          <p:nvPr/>
        </p:nvSpPr>
        <p:spPr>
          <a:xfrm>
            <a:off x="694944" y="6099048"/>
            <a:ext cx="4133087" cy="393192"/>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B2D40"/>
                </a:solidFill>
                <a:latin typeface="Georgia"/>
              </a:rPr>
              <a:t>Data</a:t>
            </a:r>
          </a:p>
        </p:txBody>
      </p:sp>
      <p:sp>
        <p:nvSpPr>
          <p:cNvPr id="21" name="TextBox 20"/>
          <p:cNvSpPr txBox="1"/>
          <p:nvPr/>
        </p:nvSpPr>
        <p:spPr>
          <a:xfrm>
            <a:off x="694944" y="6647688"/>
            <a:ext cx="4169663" cy="65836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2023 sample, uneven country coverage.</a:t>
            </a:r>
          </a:p>
          <a:p>
            <a:pPr algn="l">
              <a:lnSpc>
                <a:spcPct val="112000"/>
              </a:lnSpc>
              <a:spcBef>
                <a:spcPts val="0"/>
              </a:spcBef>
              <a:spcAft>
                <a:spcPts val="0"/>
              </a:spcAft>
            </a:pPr>
            <a:r>
              <a:rPr sz="1655" b="0">
                <a:solidFill>
                  <a:srgbClr val="586777"/>
                </a:solidFill>
                <a:latin typeface="Segoe UI"/>
              </a:rPr>
              <a:t>Not live vacancies or hiring probabilities.</a:t>
            </a:r>
          </a:p>
        </p:txBody>
      </p:sp>
      <p:sp>
        <p:nvSpPr>
          <p:cNvPr id="22" name="TextBox 21"/>
          <p:cNvSpPr txBox="1"/>
          <p:nvPr/>
        </p:nvSpPr>
        <p:spPr>
          <a:xfrm>
            <a:off x="5239512" y="6099048"/>
            <a:ext cx="4133087" cy="393192"/>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B2D40"/>
                </a:solidFill>
                <a:latin typeface="Georgia"/>
              </a:rPr>
              <a:t>Human factual review</a:t>
            </a:r>
          </a:p>
        </p:txBody>
      </p:sp>
      <p:sp>
        <p:nvSpPr>
          <p:cNvPr id="23" name="TextBox 22"/>
          <p:cNvSpPr txBox="1"/>
          <p:nvPr/>
        </p:nvSpPr>
        <p:spPr>
          <a:xfrm>
            <a:off x="5239512" y="6647688"/>
            <a:ext cx="4169663" cy="65836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Numbers/tools checked; unsupported</a:t>
            </a:r>
          </a:p>
          <a:p>
            <a:pPr algn="l">
              <a:lnSpc>
                <a:spcPct val="112000"/>
              </a:lnSpc>
              <a:spcBef>
                <a:spcPts val="0"/>
              </a:spcBef>
              <a:spcAft>
                <a:spcPts val="0"/>
              </a:spcAft>
            </a:pPr>
            <a:r>
              <a:rPr sz="1655" b="0">
                <a:solidFill>
                  <a:srgbClr val="586777"/>
                </a:solidFill>
                <a:latin typeface="Segoe UI"/>
              </a:rPr>
              <a:t>business-impact claims can still slip through.</a:t>
            </a:r>
          </a:p>
        </p:txBody>
      </p:sp>
      <p:sp>
        <p:nvSpPr>
          <p:cNvPr id="24" name="TextBox 23"/>
          <p:cNvSpPr txBox="1"/>
          <p:nvPr/>
        </p:nvSpPr>
        <p:spPr>
          <a:xfrm>
            <a:off x="9784080" y="6099048"/>
            <a:ext cx="4133087" cy="393192"/>
          </a:xfrm>
          <a:prstGeom prst="rect">
            <a:avLst/>
          </a:prstGeom>
          <a:noFill/>
        </p:spPr>
        <p:txBody>
          <a:bodyPr wrap="square" lIns="0" rIns="0" tIns="0" bIns="0">
            <a:spAutoFit/>
          </a:bodyPr>
          <a:lstStyle/>
          <a:p>
            <a:pPr algn="l">
              <a:lnSpc>
                <a:spcPct val="112000"/>
              </a:lnSpc>
              <a:spcBef>
                <a:spcPts val="0"/>
              </a:spcBef>
              <a:spcAft>
                <a:spcPts val="0"/>
              </a:spcAft>
            </a:pPr>
            <a:r>
              <a:rPr sz="2160" b="1">
                <a:solidFill>
                  <a:srgbClr val="1B2D40"/>
                </a:solidFill>
                <a:latin typeface="Georgia"/>
              </a:rPr>
              <a:t>Impact</a:t>
            </a:r>
          </a:p>
        </p:txBody>
      </p:sp>
      <p:sp>
        <p:nvSpPr>
          <p:cNvPr id="25" name="TextBox 24"/>
          <p:cNvSpPr txBox="1"/>
          <p:nvPr/>
        </p:nvSpPr>
        <p:spPr>
          <a:xfrm>
            <a:off x="9784080" y="6647688"/>
            <a:ext cx="4169663" cy="658368"/>
          </a:xfrm>
          <a:prstGeom prst="rect">
            <a:avLst/>
          </a:prstGeom>
          <a:noFill/>
        </p:spPr>
        <p:txBody>
          <a:bodyPr wrap="square" lIns="0" rIns="0" tIns="0" bIns="0">
            <a:spAutoFit/>
          </a:bodyPr>
          <a:lstStyle/>
          <a:p>
            <a:pPr algn="l">
              <a:lnSpc>
                <a:spcPct val="112000"/>
              </a:lnSpc>
              <a:spcBef>
                <a:spcPts val="0"/>
              </a:spcBef>
              <a:spcAft>
                <a:spcPts val="0"/>
              </a:spcAft>
            </a:pPr>
            <a:r>
              <a:rPr sz="1655" b="0">
                <a:solidFill>
                  <a:srgbClr val="586777"/>
                </a:solidFill>
                <a:latin typeface="Segoe UI"/>
              </a:rPr>
              <a:t>No measured employment outcomes</a:t>
            </a:r>
          </a:p>
          <a:p>
            <a:pPr algn="l">
              <a:lnSpc>
                <a:spcPct val="112000"/>
              </a:lnSpc>
              <a:spcBef>
                <a:spcPts val="0"/>
              </a:spcBef>
              <a:spcAft>
                <a:spcPts val="0"/>
              </a:spcAft>
            </a:pPr>
            <a:r>
              <a:rPr sz="1655" b="0">
                <a:solidFill>
                  <a:srgbClr val="586777"/>
                </a:solidFill>
                <a:latin typeface="Segoe UI"/>
              </a:rPr>
              <a:t>or real-user adoption claimed.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07  /  ADOPTION PLAN &amp; AWARD FIT</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1B2D40"/>
                </a:solidFill>
                <a:latin typeface="Georgia"/>
              </a:rPr>
              <a:t>Start small. Measure a useful next step.</a:t>
            </a:r>
          </a:p>
        </p:txBody>
      </p:sp>
      <p:sp>
        <p:nvSpPr>
          <p:cNvPr id="5" name="TextBox 4"/>
          <p:cNvSpPr txBox="1"/>
          <p:nvPr/>
        </p:nvSpPr>
        <p:spPr>
          <a:xfrm>
            <a:off x="685800" y="2514600"/>
            <a:ext cx="13167360" cy="640080"/>
          </a:xfrm>
          <a:prstGeom prst="rect">
            <a:avLst/>
          </a:prstGeom>
          <a:noFill/>
        </p:spPr>
        <p:txBody>
          <a:bodyPr wrap="square" lIns="0" rIns="0" tIns="0" bIns="0">
            <a:spAutoFit/>
          </a:bodyPr>
          <a:lstStyle/>
          <a:p>
            <a:pPr algn="l">
              <a:lnSpc>
                <a:spcPct val="112000"/>
              </a:lnSpc>
              <a:spcBef>
                <a:spcPts val="0"/>
              </a:spcBef>
              <a:spcAft>
                <a:spcPts val="0"/>
              </a:spcAft>
            </a:pPr>
            <a:r>
              <a:rPr sz="1872" b="0">
                <a:solidFill>
                  <a:srgbClr val="586777"/>
                </a:solidFill>
                <a:latin typeface="Segoe UI"/>
              </a:rPr>
              <a:t>Proposed pilot with Kenyan learners and a training partner — recruitment has not started.</a:t>
            </a:r>
          </a:p>
        </p:txBody>
      </p:sp>
      <p:sp>
        <p:nvSpPr>
          <p:cNvPr id="6" name="Rectangle 5"/>
          <p:cNvSpPr/>
          <p:nvPr/>
        </p:nvSpPr>
        <p:spPr>
          <a:xfrm>
            <a:off x="658368" y="7662672"/>
            <a:ext cx="13313664" cy="9144"/>
          </a:xfrm>
          <a:prstGeom prst="rect">
            <a:avLst/>
          </a:prstGeom>
          <a:solidFill>
            <a:srgbClr val="DD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586777"/>
                </a:solidFill>
                <a:latin typeface="Segoe UI"/>
              </a:rPr>
              <a:t>NJIA  /  DHRUZZZ  /  KENYA · ONLINE</a:t>
            </a:r>
          </a:p>
        </p:txBody>
      </p:sp>
      <p:sp>
        <p:nvSpPr>
          <p:cNvPr id="8" name="TextBox 7"/>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586777"/>
                </a:solidFill>
                <a:latin typeface="Segoe UI"/>
              </a:rPr>
              <a:t>07 / 08</a:t>
            </a:r>
          </a:p>
        </p:txBody>
      </p:sp>
      <p:sp>
        <p:nvSpPr>
          <p:cNvPr id="9" name="TextBox 8"/>
          <p:cNvSpPr txBox="1"/>
          <p:nvPr/>
        </p:nvSpPr>
        <p:spPr>
          <a:xfrm>
            <a:off x="694944" y="3538728"/>
            <a:ext cx="41605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RECRUIT</a:t>
            </a:r>
          </a:p>
        </p:txBody>
      </p:sp>
      <p:sp>
        <p:nvSpPr>
          <p:cNvPr id="10" name="Rectangle 9"/>
          <p:cNvSpPr/>
          <p:nvPr/>
        </p:nvSpPr>
        <p:spPr>
          <a:xfrm>
            <a:off x="694944" y="3959352"/>
            <a:ext cx="4133087" cy="36576"/>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4251960"/>
            <a:ext cx="4151376" cy="713232"/>
          </a:xfrm>
          <a:prstGeom prst="rect">
            <a:avLst/>
          </a:prstGeom>
          <a:noFill/>
        </p:spPr>
        <p:txBody>
          <a:bodyPr wrap="square" lIns="0" rIns="0" tIns="0" bIns="0">
            <a:spAutoFit/>
          </a:bodyPr>
          <a:lstStyle/>
          <a:p>
            <a:pPr algn="l">
              <a:lnSpc>
                <a:spcPct val="112000"/>
              </a:lnSpc>
              <a:spcBef>
                <a:spcPts val="0"/>
              </a:spcBef>
              <a:spcAft>
                <a:spcPts val="0"/>
              </a:spcAft>
            </a:pPr>
            <a:r>
              <a:rPr sz="2376" b="1">
                <a:solidFill>
                  <a:srgbClr val="1B2D40"/>
                </a:solidFill>
                <a:latin typeface="Georgia"/>
              </a:rPr>
              <a:t>10 learners + 1 partner</a:t>
            </a:r>
          </a:p>
        </p:txBody>
      </p:sp>
      <p:sp>
        <p:nvSpPr>
          <p:cNvPr id="12" name="TextBox 11"/>
          <p:cNvSpPr txBox="1"/>
          <p:nvPr/>
        </p:nvSpPr>
        <p:spPr>
          <a:xfrm>
            <a:off x="694944" y="5120640"/>
            <a:ext cx="4160520" cy="88696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86777"/>
                </a:solidFill>
                <a:latin typeface="Segoe UI"/>
              </a:rPr>
              <a:t>Invite Kenyan career starters.</a:t>
            </a:r>
          </a:p>
          <a:p>
            <a:pPr algn="l">
              <a:lnSpc>
                <a:spcPct val="112000"/>
              </a:lnSpc>
              <a:spcBef>
                <a:spcPts val="0"/>
              </a:spcBef>
              <a:spcAft>
                <a:spcPts val="0"/>
              </a:spcAft>
            </a:pPr>
            <a:r>
              <a:rPr sz="1728" b="0">
                <a:solidFill>
                  <a:srgbClr val="586777"/>
                </a:solidFill>
                <a:latin typeface="Segoe UI"/>
              </a:rPr>
              <a:t>Observe the mobile CV journey.</a:t>
            </a:r>
          </a:p>
        </p:txBody>
      </p:sp>
      <p:sp>
        <p:nvSpPr>
          <p:cNvPr id="13" name="TextBox 12"/>
          <p:cNvSpPr txBox="1"/>
          <p:nvPr/>
        </p:nvSpPr>
        <p:spPr>
          <a:xfrm>
            <a:off x="5239512" y="3538728"/>
            <a:ext cx="41605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REVIEW</a:t>
            </a:r>
          </a:p>
        </p:txBody>
      </p:sp>
      <p:sp>
        <p:nvSpPr>
          <p:cNvPr id="14" name="Rectangle 13"/>
          <p:cNvSpPr/>
          <p:nvPr/>
        </p:nvSpPr>
        <p:spPr>
          <a:xfrm>
            <a:off x="5239512" y="3959352"/>
            <a:ext cx="4133087" cy="36576"/>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9512" y="4251960"/>
            <a:ext cx="4151376" cy="713232"/>
          </a:xfrm>
          <a:prstGeom prst="rect">
            <a:avLst/>
          </a:prstGeom>
          <a:noFill/>
        </p:spPr>
        <p:txBody>
          <a:bodyPr wrap="square" lIns="0" rIns="0" tIns="0" bIns="0">
            <a:spAutoFit/>
          </a:bodyPr>
          <a:lstStyle/>
          <a:p>
            <a:pPr algn="l">
              <a:lnSpc>
                <a:spcPct val="112000"/>
              </a:lnSpc>
              <a:spcBef>
                <a:spcPts val="0"/>
              </a:spcBef>
              <a:spcAft>
                <a:spcPts val="0"/>
              </a:spcAft>
            </a:pPr>
            <a:r>
              <a:rPr sz="2376" b="1">
                <a:solidFill>
                  <a:srgbClr val="1B2D40"/>
                </a:solidFill>
                <a:latin typeface="Georgia"/>
              </a:rPr>
              <a:t>Human-check the advice</a:t>
            </a:r>
          </a:p>
        </p:txBody>
      </p:sp>
      <p:sp>
        <p:nvSpPr>
          <p:cNvPr id="16" name="TextBox 15"/>
          <p:cNvSpPr txBox="1"/>
          <p:nvPr/>
        </p:nvSpPr>
        <p:spPr>
          <a:xfrm>
            <a:off x="5239512" y="5120640"/>
            <a:ext cx="4160520" cy="88696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86777"/>
                </a:solidFill>
                <a:latin typeface="Segoe UI"/>
              </a:rPr>
              <a:t>Check whether rewrites preserve facts</a:t>
            </a:r>
          </a:p>
          <a:p>
            <a:pPr algn="l">
              <a:lnSpc>
                <a:spcPct val="112000"/>
              </a:lnSpc>
              <a:spcBef>
                <a:spcPts val="0"/>
              </a:spcBef>
              <a:spcAft>
                <a:spcPts val="0"/>
              </a:spcAft>
            </a:pPr>
            <a:r>
              <a:rPr sz="1728" b="0">
                <a:solidFill>
                  <a:srgbClr val="586777"/>
                </a:solidFill>
                <a:latin typeface="Segoe UI"/>
              </a:rPr>
              <a:t>and priorities are understandable.</a:t>
            </a:r>
          </a:p>
        </p:txBody>
      </p:sp>
      <p:sp>
        <p:nvSpPr>
          <p:cNvPr id="17" name="TextBox 16"/>
          <p:cNvSpPr txBox="1"/>
          <p:nvPr/>
        </p:nvSpPr>
        <p:spPr>
          <a:xfrm>
            <a:off x="9784080" y="3538728"/>
            <a:ext cx="41605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586777"/>
                </a:solidFill>
                <a:latin typeface="Segoe UI"/>
              </a:rPr>
              <a:t>FOLLOW UP</a:t>
            </a:r>
          </a:p>
        </p:txBody>
      </p:sp>
      <p:sp>
        <p:nvSpPr>
          <p:cNvPr id="18" name="Rectangle 17"/>
          <p:cNvSpPr/>
          <p:nvPr/>
        </p:nvSpPr>
        <p:spPr>
          <a:xfrm>
            <a:off x="9784080" y="3959352"/>
            <a:ext cx="4133087" cy="36576"/>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0" y="4251960"/>
            <a:ext cx="4151376" cy="713232"/>
          </a:xfrm>
          <a:prstGeom prst="rect">
            <a:avLst/>
          </a:prstGeom>
          <a:noFill/>
        </p:spPr>
        <p:txBody>
          <a:bodyPr wrap="square" lIns="0" rIns="0" tIns="0" bIns="0">
            <a:spAutoFit/>
          </a:bodyPr>
          <a:lstStyle/>
          <a:p>
            <a:pPr algn="l">
              <a:lnSpc>
                <a:spcPct val="112000"/>
              </a:lnSpc>
              <a:spcBef>
                <a:spcPts val="0"/>
              </a:spcBef>
              <a:spcAft>
                <a:spcPts val="0"/>
              </a:spcAft>
            </a:pPr>
            <a:r>
              <a:rPr sz="2376" b="1">
                <a:solidFill>
                  <a:srgbClr val="1B2D40"/>
                </a:solidFill>
                <a:latin typeface="Georgia"/>
              </a:rPr>
              <a:t>Return after 7 days</a:t>
            </a:r>
          </a:p>
        </p:txBody>
      </p:sp>
      <p:sp>
        <p:nvSpPr>
          <p:cNvPr id="20" name="TextBox 19"/>
          <p:cNvSpPr txBox="1"/>
          <p:nvPr/>
        </p:nvSpPr>
        <p:spPr>
          <a:xfrm>
            <a:off x="9784080" y="5120640"/>
            <a:ext cx="4160520" cy="88696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586777"/>
                </a:solidFill>
                <a:latin typeface="Segoe UI"/>
              </a:rPr>
              <a:t>Count completed practice artifacts.</a:t>
            </a:r>
          </a:p>
          <a:p>
            <a:pPr algn="l">
              <a:lnSpc>
                <a:spcPct val="112000"/>
              </a:lnSpc>
              <a:spcBef>
                <a:spcPts val="0"/>
              </a:spcBef>
              <a:spcAft>
                <a:spcPts val="0"/>
              </a:spcAft>
            </a:pPr>
            <a:r>
              <a:rPr sz="1728" b="0">
                <a:solidFill>
                  <a:srgbClr val="586777"/>
                </a:solidFill>
                <a:latin typeface="Segoe UI"/>
              </a:rPr>
              <a:t>Ask what helped and what blocked progress.</a:t>
            </a:r>
          </a:p>
        </p:txBody>
      </p:sp>
      <p:sp>
        <p:nvSpPr>
          <p:cNvPr id="21" name="Rounded Rectangle 20"/>
          <p:cNvSpPr/>
          <p:nvPr/>
        </p:nvSpPr>
        <p:spPr>
          <a:xfrm>
            <a:off x="694944" y="6281928"/>
            <a:ext cx="13277088" cy="1069848"/>
          </a:xfrm>
          <a:prstGeom prst="roundRect">
            <a:avLst>
              <a:gd name="adj" fmla="val 10256"/>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6473952"/>
            <a:ext cx="521208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CLICK MOBILE / KENYA ONLINE</a:t>
            </a:r>
          </a:p>
        </p:txBody>
      </p:sp>
      <p:sp>
        <p:nvSpPr>
          <p:cNvPr id="23" name="TextBox 22"/>
          <p:cNvSpPr txBox="1"/>
          <p:nvPr/>
        </p:nvSpPr>
        <p:spPr>
          <a:xfrm>
            <a:off x="6217920" y="6455664"/>
            <a:ext cx="7360920" cy="347472"/>
          </a:xfrm>
          <a:prstGeom prst="rect">
            <a:avLst/>
          </a:prstGeom>
          <a:noFill/>
        </p:spPr>
        <p:txBody>
          <a:bodyPr wrap="square" lIns="0" rIns="0" tIns="0" bIns="0">
            <a:spAutoFit/>
          </a:bodyPr>
          <a:lstStyle/>
          <a:p>
            <a:pPr algn="l">
              <a:lnSpc>
                <a:spcPct val="112000"/>
              </a:lnSpc>
              <a:spcBef>
                <a:spcPts val="0"/>
              </a:spcBef>
              <a:spcAft>
                <a:spcPts val="0"/>
              </a:spcAft>
            </a:pPr>
            <a:r>
              <a:rPr sz="2016" b="1">
                <a:solidFill>
                  <a:srgbClr val="F7F4EC"/>
                </a:solidFill>
                <a:latin typeface="Segoe UI"/>
              </a:rPr>
              <a:t>Mobile-first guidance for Kenyan learners.</a:t>
            </a:r>
          </a:p>
        </p:txBody>
      </p:sp>
      <p:sp>
        <p:nvSpPr>
          <p:cNvPr id="24" name="TextBox 23"/>
          <p:cNvSpPr txBox="1"/>
          <p:nvPr/>
        </p:nvSpPr>
        <p:spPr>
          <a:xfrm>
            <a:off x="987552" y="6922008"/>
            <a:ext cx="12655296" cy="256032"/>
          </a:xfrm>
          <a:prstGeom prst="rect">
            <a:avLst/>
          </a:prstGeom>
          <a:noFill/>
        </p:spPr>
        <p:txBody>
          <a:bodyPr wrap="square" lIns="0" rIns="0" tIns="0" bIns="0">
            <a:spAutoFit/>
          </a:bodyPr>
          <a:lstStyle/>
          <a:p>
            <a:pPr algn="l">
              <a:lnSpc>
                <a:spcPct val="112000"/>
              </a:lnSpc>
              <a:spcBef>
                <a:spcPts val="0"/>
              </a:spcBef>
              <a:spcAft>
                <a:spcPts val="0"/>
              </a:spcAft>
            </a:pPr>
            <a:r>
              <a:rPr sz="1439" b="0">
                <a:solidFill>
                  <a:srgbClr val="D4DEE6"/>
                </a:solidFill>
                <a:latin typeface="Segoe UI"/>
              </a:rPr>
              <a:t>Award fit: practical phone-browser access · also aligned with Brightest (employability) and Artefact (Data &amp;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83F"/>
        </a:solidFill>
        <a:effectLst/>
      </p:bgPr>
    </p:bg>
    <p:spTree>
      <p:nvGrpSpPr>
        <p:cNvPr id="1" name=""/>
        <p:cNvGrpSpPr/>
        <p:nvPr/>
      </p:nvGrpSpPr>
      <p:grpSpPr/>
      <p:sp>
        <p:nvSpPr>
          <p:cNvPr id="2" name="Rectangle 1"/>
          <p:cNvSpPr/>
          <p:nvPr/>
        </p:nvSpPr>
        <p:spPr>
          <a:xfrm>
            <a:off x="658368" y="493776"/>
            <a:ext cx="347472" cy="45720"/>
          </a:xfrm>
          <a:prstGeom prst="rect">
            <a:avLst/>
          </a:prstGeom>
          <a:solidFill>
            <a:srgbClr val="F27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9576" y="365760"/>
            <a:ext cx="12070080" cy="283464"/>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08  /  TEAM DHRUZZZ</a:t>
            </a:r>
          </a:p>
        </p:txBody>
      </p:sp>
      <p:sp>
        <p:nvSpPr>
          <p:cNvPr id="4" name="TextBox 3"/>
          <p:cNvSpPr txBox="1"/>
          <p:nvPr/>
        </p:nvSpPr>
        <p:spPr>
          <a:xfrm>
            <a:off x="658368" y="996696"/>
            <a:ext cx="13313664" cy="1371600"/>
          </a:xfrm>
          <a:prstGeom prst="rect">
            <a:avLst/>
          </a:prstGeom>
          <a:noFill/>
        </p:spPr>
        <p:txBody>
          <a:bodyPr wrap="square" lIns="0" rIns="0" tIns="0" bIns="0">
            <a:spAutoFit/>
          </a:bodyPr>
          <a:lstStyle/>
          <a:p>
            <a:pPr algn="l">
              <a:lnSpc>
                <a:spcPct val="112000"/>
              </a:lnSpc>
              <a:spcBef>
                <a:spcPts val="0"/>
              </a:spcBef>
              <a:spcAft>
                <a:spcPts val="0"/>
              </a:spcAft>
            </a:pPr>
            <a:r>
              <a:rPr sz="4680" b="1">
                <a:solidFill>
                  <a:srgbClr val="F7F4EC"/>
                </a:solidFill>
                <a:latin typeface="Georgia"/>
              </a:rPr>
              <a:t>Turn experience into a clearer path.</a:t>
            </a:r>
          </a:p>
        </p:txBody>
      </p:sp>
      <p:sp>
        <p:nvSpPr>
          <p:cNvPr id="5" name="Rectangle 4"/>
          <p:cNvSpPr/>
          <p:nvPr/>
        </p:nvSpPr>
        <p:spPr>
          <a:xfrm>
            <a:off x="658368" y="7662672"/>
            <a:ext cx="13313664" cy="9144"/>
          </a:xfrm>
          <a:prstGeom prst="rect">
            <a:avLst/>
          </a:prstGeom>
          <a:solidFill>
            <a:srgbClr val="385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7799831"/>
            <a:ext cx="10058400" cy="228600"/>
          </a:xfrm>
          <a:prstGeom prst="rect">
            <a:avLst/>
          </a:prstGeom>
          <a:noFill/>
        </p:spPr>
        <p:txBody>
          <a:bodyPr wrap="square" lIns="0" rIns="0" tIns="0" bIns="0">
            <a:spAutoFit/>
          </a:bodyPr>
          <a:lstStyle/>
          <a:p>
            <a:pPr algn="l">
              <a:lnSpc>
                <a:spcPct val="112000"/>
              </a:lnSpc>
              <a:spcBef>
                <a:spcPts val="0"/>
              </a:spcBef>
              <a:spcAft>
                <a:spcPts val="0"/>
              </a:spcAft>
            </a:pPr>
            <a:r>
              <a:rPr sz="1152" b="0">
                <a:solidFill>
                  <a:srgbClr val="D4DEE6"/>
                </a:solidFill>
                <a:latin typeface="Segoe UI"/>
              </a:rPr>
              <a:t>NJIA  /  DHRUZZZ  /  KENYA · ONLINE</a:t>
            </a:r>
          </a:p>
        </p:txBody>
      </p:sp>
      <p:sp>
        <p:nvSpPr>
          <p:cNvPr id="7" name="TextBox 6"/>
          <p:cNvSpPr txBox="1"/>
          <p:nvPr/>
        </p:nvSpPr>
        <p:spPr>
          <a:xfrm>
            <a:off x="12801600" y="7781544"/>
            <a:ext cx="1170432" cy="256032"/>
          </a:xfrm>
          <a:prstGeom prst="rect">
            <a:avLst/>
          </a:prstGeom>
          <a:noFill/>
        </p:spPr>
        <p:txBody>
          <a:bodyPr wrap="square" lIns="0" rIns="0" tIns="0" bIns="0">
            <a:spAutoFit/>
          </a:bodyPr>
          <a:lstStyle/>
          <a:p>
            <a:pPr algn="r">
              <a:lnSpc>
                <a:spcPct val="112000"/>
              </a:lnSpc>
              <a:spcBef>
                <a:spcPts val="0"/>
              </a:spcBef>
              <a:spcAft>
                <a:spcPts val="0"/>
              </a:spcAft>
            </a:pPr>
            <a:r>
              <a:rPr sz="1296" b="0">
                <a:solidFill>
                  <a:srgbClr val="D4DEE6"/>
                </a:solidFill>
                <a:latin typeface="Segoe UI"/>
              </a:rPr>
              <a:t>08 / 08</a:t>
            </a:r>
          </a:p>
        </p:txBody>
      </p:sp>
      <p:sp>
        <p:nvSpPr>
          <p:cNvPr id="8" name="TextBox 7"/>
          <p:cNvSpPr txBox="1"/>
          <p:nvPr/>
        </p:nvSpPr>
        <p:spPr>
          <a:xfrm>
            <a:off x="694944" y="2569464"/>
            <a:ext cx="6217920" cy="1216152"/>
          </a:xfrm>
          <a:prstGeom prst="rect">
            <a:avLst/>
          </a:prstGeom>
          <a:noFill/>
        </p:spPr>
        <p:txBody>
          <a:bodyPr wrap="square" lIns="0" rIns="0" tIns="0" bIns="0">
            <a:spAutoFit/>
          </a:bodyPr>
          <a:lstStyle/>
          <a:p>
            <a:pPr algn="l">
              <a:lnSpc>
                <a:spcPct val="112000"/>
              </a:lnSpc>
              <a:spcBef>
                <a:spcPts val="0"/>
              </a:spcBef>
              <a:spcAft>
                <a:spcPts val="0"/>
              </a:spcAft>
            </a:pPr>
            <a:r>
              <a:rPr sz="7848" b="1">
                <a:solidFill>
                  <a:srgbClr val="F7F4EC"/>
                </a:solidFill>
                <a:latin typeface="Georgia"/>
              </a:rPr>
              <a:t>Njia</a:t>
            </a:r>
          </a:p>
        </p:txBody>
      </p:sp>
      <p:sp>
        <p:nvSpPr>
          <p:cNvPr id="9" name="TextBox 8"/>
          <p:cNvSpPr txBox="1"/>
          <p:nvPr/>
        </p:nvSpPr>
        <p:spPr>
          <a:xfrm>
            <a:off x="731520" y="3886200"/>
            <a:ext cx="12938760" cy="630936"/>
          </a:xfrm>
          <a:prstGeom prst="rect">
            <a:avLst/>
          </a:prstGeom>
          <a:noFill/>
        </p:spPr>
        <p:txBody>
          <a:bodyPr wrap="square" lIns="0" rIns="0" tIns="0" bIns="0">
            <a:spAutoFit/>
          </a:bodyPr>
          <a:lstStyle/>
          <a:p>
            <a:pPr algn="l">
              <a:lnSpc>
                <a:spcPct val="112000"/>
              </a:lnSpc>
              <a:spcBef>
                <a:spcPts val="0"/>
              </a:spcBef>
              <a:spcAft>
                <a:spcPts val="0"/>
              </a:spcAft>
            </a:pPr>
            <a:r>
              <a:rPr sz="2808" b="0">
                <a:solidFill>
                  <a:srgbClr val="F27B43"/>
                </a:solidFill>
                <a:latin typeface="Georgia"/>
              </a:rPr>
              <a:t>Your evidence. Your market. Your next seven days.</a:t>
            </a:r>
          </a:p>
        </p:txBody>
      </p:sp>
      <p:sp>
        <p:nvSpPr>
          <p:cNvPr id="10" name="TextBox 9"/>
          <p:cNvSpPr txBox="1"/>
          <p:nvPr/>
        </p:nvSpPr>
        <p:spPr>
          <a:xfrm>
            <a:off x="731520" y="4864608"/>
            <a:ext cx="548640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D4DEE6"/>
                </a:solidFill>
                <a:latin typeface="Segoe UI"/>
              </a:rPr>
              <a:t>KENYA · ONLINE</a:t>
            </a:r>
          </a:p>
        </p:txBody>
      </p:sp>
      <p:sp>
        <p:nvSpPr>
          <p:cNvPr id="11" name="TextBox 10"/>
          <p:cNvSpPr txBox="1"/>
          <p:nvPr/>
        </p:nvSpPr>
        <p:spPr>
          <a:xfrm>
            <a:off x="731520" y="5321808"/>
            <a:ext cx="5669280" cy="1417320"/>
          </a:xfrm>
          <a:prstGeom prst="rect">
            <a:avLst/>
          </a:prstGeom>
          <a:noFill/>
        </p:spPr>
        <p:txBody>
          <a:bodyPr wrap="square" lIns="0" rIns="0" tIns="0" bIns="0">
            <a:spAutoFit/>
          </a:bodyPr>
          <a:lstStyle/>
          <a:p>
            <a:pPr algn="l">
              <a:lnSpc>
                <a:spcPct val="112000"/>
              </a:lnSpc>
              <a:spcBef>
                <a:spcPts val="0"/>
              </a:spcBef>
              <a:spcAft>
                <a:spcPts val="0"/>
              </a:spcAft>
            </a:pPr>
            <a:r>
              <a:rPr sz="2448" b="0">
                <a:solidFill>
                  <a:srgbClr val="F7F4EC"/>
                </a:solidFill>
                <a:latin typeface="Segoe UI"/>
              </a:rPr>
              <a:t>Eeshan Vaghjiani</a:t>
            </a:r>
          </a:p>
          <a:p>
            <a:pPr algn="l">
              <a:lnSpc>
                <a:spcPct val="112000"/>
              </a:lnSpc>
              <a:spcBef>
                <a:spcPts val="0"/>
              </a:spcBef>
              <a:spcAft>
                <a:spcPts val="0"/>
              </a:spcAft>
            </a:pPr>
            <a:r>
              <a:rPr sz="2448" b="0">
                <a:solidFill>
                  <a:srgbClr val="F7F4EC"/>
                </a:solidFill>
                <a:latin typeface="Segoe UI"/>
              </a:rPr>
              <a:t>Bhavin Mepani</a:t>
            </a:r>
          </a:p>
          <a:p>
            <a:pPr algn="l">
              <a:lnSpc>
                <a:spcPct val="112000"/>
              </a:lnSpc>
              <a:spcBef>
                <a:spcPts val="0"/>
              </a:spcBef>
              <a:spcAft>
                <a:spcPts val="0"/>
              </a:spcAft>
            </a:pPr>
            <a:r>
              <a:rPr sz="2448" b="0">
                <a:solidFill>
                  <a:srgbClr val="F7F4EC"/>
                </a:solidFill>
                <a:latin typeface="Segoe UI"/>
              </a:rPr>
              <a:t>Dhruvin Bhudia</a:t>
            </a:r>
          </a:p>
        </p:txBody>
      </p:sp>
      <p:sp>
        <p:nvSpPr>
          <p:cNvPr id="12" name="Rounded Rectangle 11"/>
          <p:cNvSpPr/>
          <p:nvPr/>
        </p:nvSpPr>
        <p:spPr>
          <a:xfrm>
            <a:off x="7260336" y="4837176"/>
            <a:ext cx="6711696" cy="2459736"/>
          </a:xfrm>
          <a:prstGeom prst="roundRect">
            <a:avLst>
              <a:gd name="adj" fmla="val 4460"/>
            </a:avLst>
          </a:prstGeom>
          <a:solidFill>
            <a:srgbClr val="20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5047488"/>
            <a:ext cx="57607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LIVE</a:t>
            </a:r>
          </a:p>
        </p:txBody>
      </p:sp>
      <p:sp>
        <p:nvSpPr>
          <p:cNvPr id="14" name="TextBox 13"/>
          <p:cNvSpPr txBox="1"/>
          <p:nvPr/>
        </p:nvSpPr>
        <p:spPr>
          <a:xfrm>
            <a:off x="7562088" y="5321808"/>
            <a:ext cx="6117336" cy="347472"/>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F7F4EC"/>
                </a:solidFill>
                <a:latin typeface="Segoe UI"/>
                <a:hlinkClick r:id="rId2"/>
              </a:rPr>
              <a:t>gomycode-2026.vercel.app</a:t>
            </a:r>
          </a:p>
        </p:txBody>
      </p:sp>
      <p:sp>
        <p:nvSpPr>
          <p:cNvPr id="15" name="TextBox 14"/>
          <p:cNvSpPr txBox="1"/>
          <p:nvPr/>
        </p:nvSpPr>
        <p:spPr>
          <a:xfrm>
            <a:off x="7562088" y="5724144"/>
            <a:ext cx="57607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SOURCE</a:t>
            </a:r>
          </a:p>
        </p:txBody>
      </p:sp>
      <p:sp>
        <p:nvSpPr>
          <p:cNvPr id="16" name="TextBox 15"/>
          <p:cNvSpPr txBox="1"/>
          <p:nvPr/>
        </p:nvSpPr>
        <p:spPr>
          <a:xfrm>
            <a:off x="7562088" y="5998464"/>
            <a:ext cx="6117336" cy="347472"/>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F7F4EC"/>
                </a:solidFill>
                <a:latin typeface="Segoe UI"/>
                <a:hlinkClick r:id="rId3"/>
              </a:rPr>
              <a:t>github.com/Eeshan-Vaghjiani/njia</a:t>
            </a:r>
          </a:p>
        </p:txBody>
      </p:sp>
      <p:sp>
        <p:nvSpPr>
          <p:cNvPr id="17" name="TextBox 16"/>
          <p:cNvSpPr txBox="1"/>
          <p:nvPr/>
        </p:nvSpPr>
        <p:spPr>
          <a:xfrm>
            <a:off x="7562088" y="6400800"/>
            <a:ext cx="5760720" cy="292608"/>
          </a:xfrm>
          <a:prstGeom prst="rect">
            <a:avLst/>
          </a:prstGeom>
          <a:noFill/>
        </p:spPr>
        <p:txBody>
          <a:bodyPr wrap="square" lIns="0" rIns="0" tIns="0" bIns="0">
            <a:spAutoFit/>
          </a:bodyPr>
          <a:lstStyle/>
          <a:p>
            <a:pPr algn="l">
              <a:lnSpc>
                <a:spcPct val="112000"/>
              </a:lnSpc>
              <a:spcBef>
                <a:spcPts val="0"/>
              </a:spcBef>
              <a:spcAft>
                <a:spcPts val="0"/>
              </a:spcAft>
            </a:pPr>
            <a:r>
              <a:rPr sz="1368" b="1">
                <a:solidFill>
                  <a:srgbClr val="F27B43"/>
                </a:solidFill>
                <a:latin typeface="Segoe UI"/>
              </a:rPr>
              <a:t>90-SECOND DEMO</a:t>
            </a:r>
          </a:p>
        </p:txBody>
      </p:sp>
      <p:sp>
        <p:nvSpPr>
          <p:cNvPr id="18" name="TextBox 17"/>
          <p:cNvSpPr txBox="1"/>
          <p:nvPr/>
        </p:nvSpPr>
        <p:spPr>
          <a:xfrm>
            <a:off x="7562088" y="6675120"/>
            <a:ext cx="6117336" cy="347472"/>
          </a:xfrm>
          <a:prstGeom prst="rect">
            <a:avLst/>
          </a:prstGeom>
          <a:noFill/>
        </p:spPr>
        <p:txBody>
          <a:bodyPr wrap="square" lIns="0" rIns="0" tIns="0" bIns="0">
            <a:spAutoFit/>
          </a:bodyPr>
          <a:lstStyle/>
          <a:p>
            <a:pPr algn="l">
              <a:lnSpc>
                <a:spcPct val="112000"/>
              </a:lnSpc>
              <a:spcBef>
                <a:spcPts val="0"/>
              </a:spcBef>
              <a:spcAft>
                <a:spcPts val="0"/>
              </a:spcAft>
            </a:pPr>
            <a:r>
              <a:rPr sz="1584" b="0">
                <a:solidFill>
                  <a:srgbClr val="F7F4EC"/>
                </a:solidFill>
                <a:latin typeface="Segoe UI"/>
                <a:hlinkClick r:id="rId4"/>
              </a:rPr>
              <a:t>njia-demo-90s.webm · release upload pending</a:t>
            </a:r>
          </a:p>
        </p:txBody>
      </p:sp>
      <p:sp>
        <p:nvSpPr>
          <p:cNvPr id="19" name="TextBox 18"/>
          <p:cNvSpPr txBox="1"/>
          <p:nvPr/>
        </p:nvSpPr>
        <p:spPr>
          <a:xfrm>
            <a:off x="731520" y="7022592"/>
            <a:ext cx="6309360" cy="338328"/>
          </a:xfrm>
          <a:prstGeom prst="rect">
            <a:avLst/>
          </a:prstGeom>
          <a:noFill/>
        </p:spPr>
        <p:txBody>
          <a:bodyPr wrap="square" lIns="0" rIns="0" tIns="0" bIns="0">
            <a:spAutoFit/>
          </a:bodyPr>
          <a:lstStyle/>
          <a:p>
            <a:pPr algn="l">
              <a:lnSpc>
                <a:spcPct val="112000"/>
              </a:lnSpc>
              <a:spcBef>
                <a:spcPts val="0"/>
              </a:spcBef>
              <a:spcAft>
                <a:spcPts val="0"/>
              </a:spcAft>
            </a:pPr>
            <a:r>
              <a:rPr sz="1728" b="0">
                <a:solidFill>
                  <a:srgbClr val="D4DEE6"/>
                </a:solidFill>
                <a:latin typeface="Segoe UI"/>
              </a:rPr>
              <a:t>Pilot invitation: Kenyan learners + training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Njia — Team Dhruzzz</dc:title>
  <dc:subject>Evidence-grounded career guidance for Kenyan learners</dc:subject>
  <dc:creator>Team Dhruzzz</dc:creator>
  <cp:keywords>Njia, Kenya, Dhruzzz, career guidance, historical demand</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