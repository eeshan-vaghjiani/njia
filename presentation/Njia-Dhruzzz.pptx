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Njia means path in Swahili. We are Dhruzzz, a Kenya ONLINE team. Wanjiru is an illustrative persona, not an interviewed user. Njia now asks before it advises: after the CV is provided, it asks a few follow-up questions, then links strengths to CV evidence and the learner's own answers, sets three priorities from historical 2023 Kenya role data, and suggests fact-preserving CV rewrites and a seven-day plan. It also answers two new questions: which jobs can I apply for now, and am I ready for the interview? Skill-match percentages measure skill overlap and are not a hiring probability. Evidence and limits are on slide 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story is Ask, Match, Practise. Ask: after the CV is provided, the AI asks three to five follow-up questions: skill questions with the options Used it at work, Used it in a project or course, Still learning it, or Not yet, plus a free-text question about an outcome. Answers reshape the suggested skills and the brief. The before/after example is a hand-authored illustration, not a captured model response. The rewrite uses only the CV line and the learner's own answer; anything drawn from an answer is labelled Uses your answer — verify. No business impact, percentage or credential is invented. Match: live postings the learner can apply for, each with a skill-match percentage, matched and missing skills, and a link to apply on the source. Practise: interview questions candidates report on the web, each with its source link, then typed practice with AI feedback. The seven-day checklist can also be sent to WhatsApp.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is recalculated directly from data/africa_jobs_subset.jsonl. The full subset has 18,371 postings across ten countries, including 1,326 Kenyan postings across roles. The denominator for this chart is 391 Kenya Data Analyst postings. A posting may mention several skills, so the bars are not parts of a total. Source: Hugging Face lukebarousse/data_jobs, Apache-2.0, 2023. This is a historical job-posting sample, not live hiring demand or a representative census of Kenya's labor market. It sets the three priorities in the brief. Live openings are a separate feature, shown on slide 5, and never change these historical figures.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brief uses Groq-hosted openai/gpt-oss-20b; public production desktop, mobile and recording runs of the earlier release confirmed this model. CV text goes to the AI provider only after opt-in and basic, best-effort PII redaction, which is not full anonymization. There is no application database persistence of the CV; this is not a provider-retention claim. New today: the AI asks three to five follow-up questions after the CV, and the answers reshape suggested skills and the brief. Remote jobs come from the Himalayas public jobs API, filtered to postings whose location restrictions include the user's country or worldwide. Local postings and reported interview questions come from Groq's built-in browser search; a web result is kept only when its URL appears in the search tool's evidence. Web searches receive only role, country and skill names, never CV text. Practice answers need separate consent, and feedback outlines use placeholders such as [your result] instead of inventing facts. Any provider failure falls back to clearly labelled curated or deterministic output. These checks do not prove semantic factuality: an earlier recorded rewrite added unsupported real-time sales monitoring, so human factual review remains necessary. For JSON coaching calls (follow-ups, brief and practice feedback), Groq failure can trigger one NVIDIA API Catalog request using the same openai/gpt-oss-20b model; returned provenance names the actual provider. Web research uses the separate openai/gpt-oss-120b search model on Groq and has no NVIDIA browser-search backup. NVIDIA API Catalog is a hosted inference API, not Brev. The latest successful recording used Groq for all three coaching calls; NVIDIA was not exercised in that recording.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phone panels are code-native illustrations, not screenshots; the posting, match figure and feedback score are examples. Panel one: after the CV, role and consent, Njia asks follow-up questions with four options, Used it at work, Used it in a project or course, Still learning it, or Not yet, plus one free-text outcome question. Panel two: live jobs open to the learner's country or worldwide, each with a skill-match percentage, meaning the share of skills detected in the posting that the learner has, plus matched and missing skills and a link to apply on the source. It is not a hiring probability. Panel three: an interview question that candidates report on the web, with its source link. The learner types an answer under separate consent and gets a 1–5 score, a STAR checklist, strengths, improvements and a stronger outline with placeholders instead of invented facts; if the provider fails, a labelled deterministic checklist is shown. The seven-day checklist can also be sent to WhatsApp. The earlier release passed public desktop and 390 by 844 mobile-browser checks; its tested brief returned 39.6% demand-weighted coverage over 391 Kenya Data Analyst postings. In the public recording on 27 Sep 2026, 8 remote Data Analyst cards and 3 local cards were rendered for Kenya. These are rendered card counts, not the source API total.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implementation owner confirms 126 passing backend unit-test methods. Separately, 48 public acceptance assertions and 9 recording assertions passed, totaling 57 public assertions. No mocked responses. Desktop, mobile and recording used Groq openai/gpt-oss-20b. Observed elapsed times were 2.259s desktop, 1.318s mobile and 2.260s recording including PDF processing; these are individual observations, not a latency benchmark. The runs recorded 0 JavaScript errors. The sample used 391 Kenya Data Analyst postings and returned 39.6% demand-weighted coverage, not hiring odds. New today: 8 remote + 3 local job cards shown; 8 source-linked interview questions; 19 new recording checks passed. Skill-match percentages measure skill overlap and are not a hiring probability. Semantic factuality is not guaranteed: the recorded rewrite added unsupported real-time sales monitoring, despite number/tool checks, and rewrites that use the learner's answers are labelled for verification. Human review is required. No real-user adoption or employment impact is claimed. Latest public recording: 19 recording assertions passed, separate from the earlier 57 public assertions. Groq openai/gpt-oss-20b: PDF plus follow-ups 1.271s, brief 1.450s, feedback 0.844s. Eight remote and three local job cards; eight web-sourced interview questions; feedback score 4/5. Exactly 90 seconds, 1x, silent captions; no late cues, no JavaScript errors, no mocked responses. The new rewrite added unsupported inventory decisions to a personal synthetic-data dashboard; human factual review is still required. NVIDIA was configured as backup, not used in this recording.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proposed pilot, not adoption or a signed partnership. We propose recruiting ten Kenyan learners with one training partner, reviewing outputs with a facilitator and following up after seven days. Measure completion, factual rewrite acceptance, whether follow-up answers were reflected, relevance of the live jobs shown, usefulness of answer feedback, saved practice artifacts and mobile friction; do not present target outcomes as achieved. Click Mobile fit is the practical mobile-first Kenyan learner journey, with Dhruzzz participating as Kenya ONLINE. Published Kenya-only scope aligns with the team context; final award eligibility is determined by organizers. Brightest fits skills and employability, and Artefact fits visible use of local data and AI. No award win or organizer endorsement is claimed.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live product and source repository. Team: Eeshan Vaghjiani, Bhavin Mepani and Dhruvin Bhudia; Kenya ONLINE. Our line: Ask. Match. Practise. Your next move. The published demo-v1 recording is exactly 90 seconds, normal speed, with captions. Slide 8 links to it: https://github.com/Eeshan-Vaghjiani/njia/releases/download/demo-v1/njia-demo-90s.mp4. Ask for a Kenyan learner or training partner to run the proposed pilot.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uggingface.co/datasets/lukebarousse/data_jobs" TargetMode="Externa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mycode-2026.vercel.app" TargetMode="External"/><Relationship Id="rId3" Type="http://schemas.openxmlformats.org/officeDocument/2006/relationships/hyperlink" Target="https://github.com/Eeshan-Vaghjiani/njia" TargetMode="External"/><Relationship Id="rId4" Type="http://schemas.openxmlformats.org/officeDocument/2006/relationships/hyperlink" Target="https://github.com/Eeshan-Vaghjiani/njia/releases/download/demo-v1/njia-demo-90s.mp4" TargetMode="External"/><Relationship Id="rId5"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83F"/>
        </a:solidFill>
        <a:effectLst/>
      </p:bgPr>
    </p:bg>
    <p:spTree>
      <p:nvGrpSpPr>
        <p:cNvPr id="1" name=""/>
        <p:cNvGrpSpPr/>
        <p:nvPr/>
      </p:nvGrpSpPr>
      <p:grpSpPr/>
      <p:sp>
        <p:nvSpPr>
          <p:cNvPr id="2" name="Rectangle 1"/>
          <p:cNvSpPr/>
          <p:nvPr/>
        </p:nvSpPr>
        <p:spPr>
          <a:xfrm>
            <a:off x="658368" y="493776"/>
            <a:ext cx="347472" cy="45720"/>
          </a:xfrm>
          <a:prstGeom prst="rect">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79576" y="365760"/>
            <a:ext cx="12070080" cy="283464"/>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F27B43"/>
                </a:solidFill>
                <a:latin typeface="Segoe UI"/>
              </a:rPr>
              <a:t>01  /  THE KENYAN LEARNER</a:t>
            </a:r>
          </a:p>
        </p:txBody>
      </p:sp>
      <p:sp>
        <p:nvSpPr>
          <p:cNvPr id="4" name="TextBox 3"/>
          <p:cNvSpPr txBox="1"/>
          <p:nvPr/>
        </p:nvSpPr>
        <p:spPr>
          <a:xfrm>
            <a:off x="658368" y="996696"/>
            <a:ext cx="13313664" cy="1371600"/>
          </a:xfrm>
          <a:prstGeom prst="rect">
            <a:avLst/>
          </a:prstGeom>
          <a:noFill/>
        </p:spPr>
        <p:txBody>
          <a:bodyPr wrap="square" lIns="0" rIns="0" tIns="0" bIns="0">
            <a:spAutoFit/>
          </a:bodyPr>
          <a:lstStyle/>
          <a:p>
            <a:pPr algn="l">
              <a:lnSpc>
                <a:spcPct val="112000"/>
              </a:lnSpc>
              <a:spcBef>
                <a:spcPts val="0"/>
              </a:spcBef>
              <a:spcAft>
                <a:spcPts val="0"/>
              </a:spcAft>
            </a:pPr>
            <a:r>
              <a:rPr sz="4680" b="1">
                <a:solidFill>
                  <a:srgbClr val="F7F4EC"/>
                </a:solidFill>
                <a:latin typeface="Georgia"/>
              </a:rPr>
              <a:t>A CV tells your past.</a:t>
            </a:r>
          </a:p>
          <a:p>
            <a:pPr algn="l">
              <a:lnSpc>
                <a:spcPct val="112000"/>
              </a:lnSpc>
              <a:spcBef>
                <a:spcPts val="0"/>
              </a:spcBef>
              <a:spcAft>
                <a:spcPts val="0"/>
              </a:spcAft>
            </a:pPr>
            <a:r>
              <a:rPr sz="4680" b="1">
                <a:solidFill>
                  <a:srgbClr val="F7F4EC"/>
                </a:solidFill>
                <a:latin typeface="Georgia"/>
              </a:rPr>
              <a:t>Njia helps choose your next step.</a:t>
            </a:r>
          </a:p>
        </p:txBody>
      </p:sp>
      <p:sp>
        <p:nvSpPr>
          <p:cNvPr id="5" name="Rectangle 4"/>
          <p:cNvSpPr/>
          <p:nvPr/>
        </p:nvSpPr>
        <p:spPr>
          <a:xfrm>
            <a:off x="658368" y="7662672"/>
            <a:ext cx="13313664" cy="9144"/>
          </a:xfrm>
          <a:prstGeom prst="rect">
            <a:avLst/>
          </a:prstGeom>
          <a:solidFill>
            <a:srgbClr val="3850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76656" y="7799831"/>
            <a:ext cx="10058400" cy="228600"/>
          </a:xfrm>
          <a:prstGeom prst="rect">
            <a:avLst/>
          </a:prstGeom>
          <a:noFill/>
        </p:spPr>
        <p:txBody>
          <a:bodyPr wrap="square" lIns="0" rIns="0" tIns="0" bIns="0">
            <a:spAutoFit/>
          </a:bodyPr>
          <a:lstStyle/>
          <a:p>
            <a:pPr algn="l">
              <a:lnSpc>
                <a:spcPct val="112000"/>
              </a:lnSpc>
              <a:spcBef>
                <a:spcPts val="0"/>
              </a:spcBef>
              <a:spcAft>
                <a:spcPts val="0"/>
              </a:spcAft>
            </a:pPr>
            <a:r>
              <a:rPr sz="1152" b="0">
                <a:solidFill>
                  <a:srgbClr val="D4DEE6"/>
                </a:solidFill>
                <a:latin typeface="Segoe UI"/>
              </a:rPr>
              <a:t>NJIA  /  DHRUZZZ  /  KENYA · ONLINE</a:t>
            </a:r>
          </a:p>
        </p:txBody>
      </p:sp>
      <p:sp>
        <p:nvSpPr>
          <p:cNvPr id="7" name="TextBox 6"/>
          <p:cNvSpPr txBox="1"/>
          <p:nvPr/>
        </p:nvSpPr>
        <p:spPr>
          <a:xfrm>
            <a:off x="12801600" y="7781544"/>
            <a:ext cx="1170432" cy="256032"/>
          </a:xfrm>
          <a:prstGeom prst="rect">
            <a:avLst/>
          </a:prstGeom>
          <a:noFill/>
        </p:spPr>
        <p:txBody>
          <a:bodyPr wrap="square" lIns="0" rIns="0" tIns="0" bIns="0">
            <a:spAutoFit/>
          </a:bodyPr>
          <a:lstStyle/>
          <a:p>
            <a:pPr algn="r">
              <a:lnSpc>
                <a:spcPct val="112000"/>
              </a:lnSpc>
              <a:spcBef>
                <a:spcPts val="0"/>
              </a:spcBef>
              <a:spcAft>
                <a:spcPts val="0"/>
              </a:spcAft>
            </a:pPr>
            <a:r>
              <a:rPr sz="1296" b="0">
                <a:solidFill>
                  <a:srgbClr val="D4DEE6"/>
                </a:solidFill>
                <a:latin typeface="Segoe UI"/>
              </a:rPr>
              <a:t>01 / 08</a:t>
            </a:r>
          </a:p>
        </p:txBody>
      </p:sp>
      <p:sp>
        <p:nvSpPr>
          <p:cNvPr id="8" name="TextBox 7"/>
          <p:cNvSpPr txBox="1"/>
          <p:nvPr/>
        </p:nvSpPr>
        <p:spPr>
          <a:xfrm>
            <a:off x="694944" y="2697480"/>
            <a:ext cx="8595360" cy="960120"/>
          </a:xfrm>
          <a:prstGeom prst="rect">
            <a:avLst/>
          </a:prstGeom>
          <a:noFill/>
        </p:spPr>
        <p:txBody>
          <a:bodyPr wrap="square" lIns="0" rIns="0" tIns="0" bIns="0">
            <a:spAutoFit/>
          </a:bodyPr>
          <a:lstStyle/>
          <a:p>
            <a:pPr algn="l">
              <a:lnSpc>
                <a:spcPct val="112000"/>
              </a:lnSpc>
              <a:spcBef>
                <a:spcPts val="0"/>
              </a:spcBef>
              <a:spcAft>
                <a:spcPts val="0"/>
              </a:spcAft>
            </a:pPr>
            <a:r>
              <a:rPr sz="2448" b="0">
                <a:solidFill>
                  <a:srgbClr val="D4DEE6"/>
                </a:solidFill>
                <a:latin typeface="Segoe UI"/>
              </a:rPr>
              <a:t>A career coach that asks before it advises,</a:t>
            </a:r>
          </a:p>
          <a:p>
            <a:pPr algn="l">
              <a:lnSpc>
                <a:spcPct val="112000"/>
              </a:lnSpc>
              <a:spcBef>
                <a:spcPts val="0"/>
              </a:spcBef>
              <a:spcAft>
                <a:spcPts val="0"/>
              </a:spcAft>
            </a:pPr>
            <a:r>
              <a:rPr sz="2448" b="0">
                <a:solidFill>
                  <a:srgbClr val="D4DEE6"/>
                </a:solidFill>
                <a:latin typeface="Segoe UI"/>
              </a:rPr>
              <a:t>then matches you to jobs you can apply for.</a:t>
            </a:r>
          </a:p>
        </p:txBody>
      </p:sp>
      <p:sp>
        <p:nvSpPr>
          <p:cNvPr id="9" name="TextBox 8"/>
          <p:cNvSpPr txBox="1"/>
          <p:nvPr/>
        </p:nvSpPr>
        <p:spPr>
          <a:xfrm>
            <a:off x="694944" y="4215384"/>
            <a:ext cx="548640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F27B43"/>
                </a:solidFill>
                <a:latin typeface="Segoe UI"/>
              </a:rPr>
              <a:t>THE LEARNER'S THREE QUESTIONS</a:t>
            </a:r>
          </a:p>
        </p:txBody>
      </p:sp>
      <p:sp>
        <p:nvSpPr>
          <p:cNvPr id="10" name="TextBox 9"/>
          <p:cNvSpPr txBox="1"/>
          <p:nvPr/>
        </p:nvSpPr>
        <p:spPr>
          <a:xfrm>
            <a:off x="694944" y="4736592"/>
            <a:ext cx="502920" cy="411480"/>
          </a:xfrm>
          <a:prstGeom prst="rect">
            <a:avLst/>
          </a:prstGeom>
          <a:noFill/>
        </p:spPr>
        <p:txBody>
          <a:bodyPr wrap="square" lIns="0" rIns="0" tIns="0" bIns="0">
            <a:spAutoFit/>
          </a:bodyPr>
          <a:lstStyle/>
          <a:p>
            <a:pPr algn="l">
              <a:lnSpc>
                <a:spcPct val="112000"/>
              </a:lnSpc>
              <a:spcBef>
                <a:spcPts val="0"/>
              </a:spcBef>
              <a:spcAft>
                <a:spcPts val="0"/>
              </a:spcAft>
            </a:pPr>
            <a:r>
              <a:rPr sz="1943" b="1">
                <a:solidFill>
                  <a:srgbClr val="F27B43"/>
                </a:solidFill>
                <a:latin typeface="Segoe UI"/>
              </a:rPr>
              <a:t>01</a:t>
            </a:r>
          </a:p>
        </p:txBody>
      </p:sp>
      <p:sp>
        <p:nvSpPr>
          <p:cNvPr id="11" name="TextBox 10"/>
          <p:cNvSpPr txBox="1"/>
          <p:nvPr/>
        </p:nvSpPr>
        <p:spPr>
          <a:xfrm>
            <a:off x="1353312" y="4736592"/>
            <a:ext cx="7223760" cy="384048"/>
          </a:xfrm>
          <a:prstGeom prst="rect">
            <a:avLst/>
          </a:prstGeom>
          <a:noFill/>
        </p:spPr>
        <p:txBody>
          <a:bodyPr wrap="square" lIns="0" rIns="0" tIns="0" bIns="0">
            <a:spAutoFit/>
          </a:bodyPr>
          <a:lstStyle/>
          <a:p>
            <a:pPr algn="l">
              <a:lnSpc>
                <a:spcPct val="112000"/>
              </a:lnSpc>
              <a:spcBef>
                <a:spcPts val="0"/>
              </a:spcBef>
              <a:spcAft>
                <a:spcPts val="0"/>
              </a:spcAft>
            </a:pPr>
            <a:r>
              <a:rPr sz="2088" b="1">
                <a:solidFill>
                  <a:srgbClr val="F7F4EC"/>
                </a:solidFill>
                <a:latin typeface="Segoe UI"/>
              </a:rPr>
              <a:t>What can I already show?</a:t>
            </a:r>
          </a:p>
        </p:txBody>
      </p:sp>
      <p:sp>
        <p:nvSpPr>
          <p:cNvPr id="12" name="TextBox 11"/>
          <p:cNvSpPr txBox="1"/>
          <p:nvPr/>
        </p:nvSpPr>
        <p:spPr>
          <a:xfrm>
            <a:off x="1353312" y="5120640"/>
            <a:ext cx="7863840" cy="356616"/>
          </a:xfrm>
          <a:prstGeom prst="rect">
            <a:avLst/>
          </a:prstGeom>
          <a:noFill/>
        </p:spPr>
        <p:txBody>
          <a:bodyPr wrap="square" lIns="0" rIns="0" tIns="0" bIns="0">
            <a:spAutoFit/>
          </a:bodyPr>
          <a:lstStyle/>
          <a:p>
            <a:pPr algn="l">
              <a:lnSpc>
                <a:spcPct val="112000"/>
              </a:lnSpc>
              <a:spcBef>
                <a:spcPts val="0"/>
              </a:spcBef>
              <a:spcAft>
                <a:spcPts val="0"/>
              </a:spcAft>
            </a:pPr>
            <a:r>
              <a:rPr sz="1655" b="0">
                <a:solidFill>
                  <a:srgbClr val="D4DEE6"/>
                </a:solidFill>
                <a:latin typeface="Segoe UI"/>
              </a:rPr>
              <a:t>Njia asks follow-ups, then links strengths to CV evidence.</a:t>
            </a:r>
          </a:p>
        </p:txBody>
      </p:sp>
      <p:sp>
        <p:nvSpPr>
          <p:cNvPr id="13" name="TextBox 12"/>
          <p:cNvSpPr txBox="1"/>
          <p:nvPr/>
        </p:nvSpPr>
        <p:spPr>
          <a:xfrm>
            <a:off x="694944" y="5596128"/>
            <a:ext cx="502920" cy="411480"/>
          </a:xfrm>
          <a:prstGeom prst="rect">
            <a:avLst/>
          </a:prstGeom>
          <a:noFill/>
        </p:spPr>
        <p:txBody>
          <a:bodyPr wrap="square" lIns="0" rIns="0" tIns="0" bIns="0">
            <a:spAutoFit/>
          </a:bodyPr>
          <a:lstStyle/>
          <a:p>
            <a:pPr algn="l">
              <a:lnSpc>
                <a:spcPct val="112000"/>
              </a:lnSpc>
              <a:spcBef>
                <a:spcPts val="0"/>
              </a:spcBef>
              <a:spcAft>
                <a:spcPts val="0"/>
              </a:spcAft>
            </a:pPr>
            <a:r>
              <a:rPr sz="1943" b="1">
                <a:solidFill>
                  <a:srgbClr val="F27B43"/>
                </a:solidFill>
                <a:latin typeface="Segoe UI"/>
              </a:rPr>
              <a:t>02</a:t>
            </a:r>
          </a:p>
        </p:txBody>
      </p:sp>
      <p:sp>
        <p:nvSpPr>
          <p:cNvPr id="14" name="TextBox 13"/>
          <p:cNvSpPr txBox="1"/>
          <p:nvPr/>
        </p:nvSpPr>
        <p:spPr>
          <a:xfrm>
            <a:off x="1353312" y="5596128"/>
            <a:ext cx="7223760" cy="384048"/>
          </a:xfrm>
          <a:prstGeom prst="rect">
            <a:avLst/>
          </a:prstGeom>
          <a:noFill/>
        </p:spPr>
        <p:txBody>
          <a:bodyPr wrap="square" lIns="0" rIns="0" tIns="0" bIns="0">
            <a:spAutoFit/>
          </a:bodyPr>
          <a:lstStyle/>
          <a:p>
            <a:pPr algn="l">
              <a:lnSpc>
                <a:spcPct val="112000"/>
              </a:lnSpc>
              <a:spcBef>
                <a:spcPts val="0"/>
              </a:spcBef>
              <a:spcAft>
                <a:spcPts val="0"/>
              </a:spcAft>
            </a:pPr>
            <a:r>
              <a:rPr sz="2088" b="1">
                <a:solidFill>
                  <a:srgbClr val="F7F4EC"/>
                </a:solidFill>
                <a:latin typeface="Segoe UI"/>
              </a:rPr>
              <a:t>Which jobs can I apply for now?</a:t>
            </a:r>
          </a:p>
        </p:txBody>
      </p:sp>
      <p:sp>
        <p:nvSpPr>
          <p:cNvPr id="15" name="TextBox 14"/>
          <p:cNvSpPr txBox="1"/>
          <p:nvPr/>
        </p:nvSpPr>
        <p:spPr>
          <a:xfrm>
            <a:off x="1353312" y="5980176"/>
            <a:ext cx="7863840" cy="356616"/>
          </a:xfrm>
          <a:prstGeom prst="rect">
            <a:avLst/>
          </a:prstGeom>
          <a:noFill/>
        </p:spPr>
        <p:txBody>
          <a:bodyPr wrap="square" lIns="0" rIns="0" tIns="0" bIns="0">
            <a:spAutoFit/>
          </a:bodyPr>
          <a:lstStyle/>
          <a:p>
            <a:pPr algn="l">
              <a:lnSpc>
                <a:spcPct val="112000"/>
              </a:lnSpc>
              <a:spcBef>
                <a:spcPts val="0"/>
              </a:spcBef>
              <a:spcAft>
                <a:spcPts val="0"/>
              </a:spcAft>
            </a:pPr>
            <a:r>
              <a:rPr sz="1655" b="0">
                <a:solidFill>
                  <a:srgbClr val="D4DEE6"/>
                </a:solidFill>
                <a:latin typeface="Segoe UI"/>
              </a:rPr>
              <a:t>Live postings with a skill-match %, not hiring odds.</a:t>
            </a:r>
          </a:p>
        </p:txBody>
      </p:sp>
      <p:sp>
        <p:nvSpPr>
          <p:cNvPr id="16" name="TextBox 15"/>
          <p:cNvSpPr txBox="1"/>
          <p:nvPr/>
        </p:nvSpPr>
        <p:spPr>
          <a:xfrm>
            <a:off x="694944" y="6455664"/>
            <a:ext cx="502920" cy="411480"/>
          </a:xfrm>
          <a:prstGeom prst="rect">
            <a:avLst/>
          </a:prstGeom>
          <a:noFill/>
        </p:spPr>
        <p:txBody>
          <a:bodyPr wrap="square" lIns="0" rIns="0" tIns="0" bIns="0">
            <a:spAutoFit/>
          </a:bodyPr>
          <a:lstStyle/>
          <a:p>
            <a:pPr algn="l">
              <a:lnSpc>
                <a:spcPct val="112000"/>
              </a:lnSpc>
              <a:spcBef>
                <a:spcPts val="0"/>
              </a:spcBef>
              <a:spcAft>
                <a:spcPts val="0"/>
              </a:spcAft>
            </a:pPr>
            <a:r>
              <a:rPr sz="1943" b="1">
                <a:solidFill>
                  <a:srgbClr val="F27B43"/>
                </a:solidFill>
                <a:latin typeface="Segoe UI"/>
              </a:rPr>
              <a:t>03</a:t>
            </a:r>
          </a:p>
        </p:txBody>
      </p:sp>
      <p:sp>
        <p:nvSpPr>
          <p:cNvPr id="17" name="TextBox 16"/>
          <p:cNvSpPr txBox="1"/>
          <p:nvPr/>
        </p:nvSpPr>
        <p:spPr>
          <a:xfrm>
            <a:off x="1353312" y="6455664"/>
            <a:ext cx="7223760" cy="384048"/>
          </a:xfrm>
          <a:prstGeom prst="rect">
            <a:avLst/>
          </a:prstGeom>
          <a:noFill/>
        </p:spPr>
        <p:txBody>
          <a:bodyPr wrap="square" lIns="0" rIns="0" tIns="0" bIns="0">
            <a:spAutoFit/>
          </a:bodyPr>
          <a:lstStyle/>
          <a:p>
            <a:pPr algn="l">
              <a:lnSpc>
                <a:spcPct val="112000"/>
              </a:lnSpc>
              <a:spcBef>
                <a:spcPts val="0"/>
              </a:spcBef>
              <a:spcAft>
                <a:spcPts val="0"/>
              </a:spcAft>
            </a:pPr>
            <a:r>
              <a:rPr sz="2088" b="1">
                <a:solidFill>
                  <a:srgbClr val="F7F4EC"/>
                </a:solidFill>
                <a:latin typeface="Segoe UI"/>
              </a:rPr>
              <a:t>Am I ready for the interview?</a:t>
            </a:r>
          </a:p>
        </p:txBody>
      </p:sp>
      <p:sp>
        <p:nvSpPr>
          <p:cNvPr id="18" name="TextBox 17"/>
          <p:cNvSpPr txBox="1"/>
          <p:nvPr/>
        </p:nvSpPr>
        <p:spPr>
          <a:xfrm>
            <a:off x="1353312" y="6839712"/>
            <a:ext cx="7863840" cy="356616"/>
          </a:xfrm>
          <a:prstGeom prst="rect">
            <a:avLst/>
          </a:prstGeom>
          <a:noFill/>
        </p:spPr>
        <p:txBody>
          <a:bodyPr wrap="square" lIns="0" rIns="0" tIns="0" bIns="0">
            <a:spAutoFit/>
          </a:bodyPr>
          <a:lstStyle/>
          <a:p>
            <a:pPr algn="l">
              <a:lnSpc>
                <a:spcPct val="112000"/>
              </a:lnSpc>
              <a:spcBef>
                <a:spcPts val="0"/>
              </a:spcBef>
              <a:spcAft>
                <a:spcPts val="0"/>
              </a:spcAft>
            </a:pPr>
            <a:r>
              <a:rPr sz="1655" b="0">
                <a:solidFill>
                  <a:srgbClr val="D4DEE6"/>
                </a:solidFill>
                <a:latin typeface="Segoe UI"/>
              </a:rPr>
              <a:t>Real reported questions, typed practice and AI feedback.</a:t>
            </a:r>
          </a:p>
        </p:txBody>
      </p:sp>
      <p:sp>
        <p:nvSpPr>
          <p:cNvPr id="19" name="Rounded Rectangle 18"/>
          <p:cNvSpPr/>
          <p:nvPr/>
        </p:nvSpPr>
        <p:spPr>
          <a:xfrm>
            <a:off x="9601200" y="2743200"/>
            <a:ext cx="4370832" cy="4398264"/>
          </a:xfrm>
          <a:prstGeom prst="roundRect">
            <a:avLst>
              <a:gd name="adj" fmla="val 3765"/>
            </a:avLst>
          </a:prstGeom>
          <a:solidFill>
            <a:srgbClr val="203A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85248" y="2999232"/>
            <a:ext cx="1188720" cy="1097280"/>
          </a:xfrm>
          <a:prstGeom prst="rect">
            <a:avLst/>
          </a:prstGeom>
          <a:noFill/>
        </p:spPr>
        <p:txBody>
          <a:bodyPr wrap="square" lIns="0" rIns="0" tIns="0" bIns="0">
            <a:spAutoFit/>
          </a:bodyPr>
          <a:lstStyle/>
          <a:p>
            <a:pPr algn="l">
              <a:lnSpc>
                <a:spcPct val="112000"/>
              </a:lnSpc>
              <a:spcBef>
                <a:spcPts val="0"/>
              </a:spcBef>
              <a:spcAft>
                <a:spcPts val="0"/>
              </a:spcAft>
            </a:pPr>
            <a:r>
              <a:rPr sz="6480" b="0">
                <a:solidFill>
                  <a:srgbClr val="F27B43"/>
                </a:solidFill>
                <a:latin typeface="Georgia"/>
              </a:rPr>
              <a:t>W</a:t>
            </a:r>
          </a:p>
        </p:txBody>
      </p:sp>
      <p:sp>
        <p:nvSpPr>
          <p:cNvPr id="21" name="TextBox 20"/>
          <p:cNvSpPr txBox="1"/>
          <p:nvPr/>
        </p:nvSpPr>
        <p:spPr>
          <a:xfrm>
            <a:off x="10012680" y="4251960"/>
            <a:ext cx="347472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D4DEE6"/>
                </a:solidFill>
                <a:latin typeface="Segoe UI"/>
              </a:rPr>
              <a:t>ILLUSTRATIVE PERSONA</a:t>
            </a:r>
          </a:p>
        </p:txBody>
      </p:sp>
      <p:sp>
        <p:nvSpPr>
          <p:cNvPr id="22" name="TextBox 21"/>
          <p:cNvSpPr txBox="1"/>
          <p:nvPr/>
        </p:nvSpPr>
        <p:spPr>
          <a:xfrm>
            <a:off x="10012680" y="4672584"/>
            <a:ext cx="3547872" cy="1024128"/>
          </a:xfrm>
          <a:prstGeom prst="rect">
            <a:avLst/>
          </a:prstGeom>
          <a:noFill/>
        </p:spPr>
        <p:txBody>
          <a:bodyPr wrap="square" lIns="0" rIns="0" tIns="0" bIns="0">
            <a:spAutoFit/>
          </a:bodyPr>
          <a:lstStyle/>
          <a:p>
            <a:pPr algn="l">
              <a:lnSpc>
                <a:spcPct val="112000"/>
              </a:lnSpc>
              <a:spcBef>
                <a:spcPts val="0"/>
              </a:spcBef>
              <a:spcAft>
                <a:spcPts val="0"/>
              </a:spcAft>
            </a:pPr>
            <a:r>
              <a:rPr sz="2232" b="1">
                <a:solidFill>
                  <a:srgbClr val="F7F4EC"/>
                </a:solidFill>
                <a:latin typeface="Segoe UI"/>
              </a:rPr>
              <a:t>Wanjiru</a:t>
            </a:r>
          </a:p>
          <a:p>
            <a:pPr algn="l">
              <a:lnSpc>
                <a:spcPct val="112000"/>
              </a:lnSpc>
              <a:spcBef>
                <a:spcPts val="0"/>
              </a:spcBef>
              <a:spcAft>
                <a:spcPts val="0"/>
              </a:spcAft>
            </a:pPr>
            <a:r>
              <a:rPr sz="2232" b="1">
                <a:solidFill>
                  <a:srgbClr val="F7F4EC"/>
                </a:solidFill>
                <a:latin typeface="Segoe UI"/>
              </a:rPr>
              <a:t>Nairobi · aspiring data analyst</a:t>
            </a:r>
          </a:p>
        </p:txBody>
      </p:sp>
      <p:sp>
        <p:nvSpPr>
          <p:cNvPr id="23" name="TextBox 22"/>
          <p:cNvSpPr txBox="1"/>
          <p:nvPr/>
        </p:nvSpPr>
        <p:spPr>
          <a:xfrm>
            <a:off x="10012680" y="5934456"/>
            <a:ext cx="3557016" cy="978408"/>
          </a:xfrm>
          <a:prstGeom prst="rect">
            <a:avLst/>
          </a:prstGeom>
          <a:noFill/>
        </p:spPr>
        <p:txBody>
          <a:bodyPr wrap="square" lIns="0" rIns="0" tIns="0" bIns="0">
            <a:spAutoFit/>
          </a:bodyPr>
          <a:lstStyle/>
          <a:p>
            <a:pPr algn="l">
              <a:lnSpc>
                <a:spcPct val="112000"/>
              </a:lnSpc>
              <a:spcBef>
                <a:spcPts val="0"/>
              </a:spcBef>
              <a:spcAft>
                <a:spcPts val="0"/>
              </a:spcAft>
            </a:pPr>
            <a:r>
              <a:rPr sz="1872" b="0">
                <a:solidFill>
                  <a:srgbClr val="D4DEE6"/>
                </a:solidFill>
                <a:latin typeface="Segoe UI"/>
              </a:rPr>
              <a:t>Has project experience.</a:t>
            </a:r>
          </a:p>
          <a:p>
            <a:pPr algn="l">
              <a:lnSpc>
                <a:spcPct val="112000"/>
              </a:lnSpc>
              <a:spcBef>
                <a:spcPts val="0"/>
              </a:spcBef>
              <a:spcAft>
                <a:spcPts val="0"/>
              </a:spcAft>
            </a:pPr>
            <a:r>
              <a:rPr sz="1872" b="0">
                <a:solidFill>
                  <a:srgbClr val="D4DEE6"/>
                </a:solidFill>
                <a:latin typeface="Segoe UI"/>
              </a:rPr>
              <a:t>Unsure which roles fit</a:t>
            </a:r>
          </a:p>
          <a:p>
            <a:pPr algn="l">
              <a:lnSpc>
                <a:spcPct val="112000"/>
              </a:lnSpc>
              <a:spcBef>
                <a:spcPts val="0"/>
              </a:spcBef>
              <a:spcAft>
                <a:spcPts val="0"/>
              </a:spcAft>
            </a:pPr>
            <a:r>
              <a:rPr sz="1872" b="0">
                <a:solidFill>
                  <a:srgbClr val="D4DEE6"/>
                </a:solidFill>
                <a:latin typeface="Segoe UI"/>
              </a:rPr>
              <a:t>and how to prepare.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58368" y="493776"/>
            <a:ext cx="347472" cy="45720"/>
          </a:xfrm>
          <a:prstGeom prst="rect">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79576" y="365760"/>
            <a:ext cx="12070080" cy="283464"/>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586777"/>
                </a:solidFill>
                <a:latin typeface="Segoe UI"/>
              </a:rPr>
              <a:t>02  /  THE PRODUCT STORY</a:t>
            </a:r>
          </a:p>
        </p:txBody>
      </p:sp>
      <p:sp>
        <p:nvSpPr>
          <p:cNvPr id="4" name="TextBox 3"/>
          <p:cNvSpPr txBox="1"/>
          <p:nvPr/>
        </p:nvSpPr>
        <p:spPr>
          <a:xfrm>
            <a:off x="658368" y="996696"/>
            <a:ext cx="13313664" cy="1371600"/>
          </a:xfrm>
          <a:prstGeom prst="rect">
            <a:avLst/>
          </a:prstGeom>
          <a:noFill/>
        </p:spPr>
        <p:txBody>
          <a:bodyPr wrap="square" lIns="0" rIns="0" tIns="0" bIns="0">
            <a:spAutoFit/>
          </a:bodyPr>
          <a:lstStyle/>
          <a:p>
            <a:pPr algn="l">
              <a:lnSpc>
                <a:spcPct val="112000"/>
              </a:lnSpc>
              <a:spcBef>
                <a:spcPts val="0"/>
              </a:spcBef>
              <a:spcAft>
                <a:spcPts val="0"/>
              </a:spcAft>
            </a:pPr>
            <a:r>
              <a:rPr sz="4680" b="1">
                <a:solidFill>
                  <a:srgbClr val="1B2D40"/>
                </a:solidFill>
                <a:latin typeface="Georgia"/>
              </a:rPr>
              <a:t>Ask first. Then match and practise.</a:t>
            </a:r>
          </a:p>
        </p:txBody>
      </p:sp>
      <p:sp>
        <p:nvSpPr>
          <p:cNvPr id="5" name="TextBox 4"/>
          <p:cNvSpPr txBox="1"/>
          <p:nvPr/>
        </p:nvSpPr>
        <p:spPr>
          <a:xfrm>
            <a:off x="685800" y="2514600"/>
            <a:ext cx="13167360" cy="640080"/>
          </a:xfrm>
          <a:prstGeom prst="rect">
            <a:avLst/>
          </a:prstGeom>
          <a:noFill/>
        </p:spPr>
        <p:txBody>
          <a:bodyPr wrap="square" lIns="0" rIns="0" tIns="0" bIns="0">
            <a:spAutoFit/>
          </a:bodyPr>
          <a:lstStyle/>
          <a:p>
            <a:pPr algn="l">
              <a:lnSpc>
                <a:spcPct val="112000"/>
              </a:lnSpc>
              <a:spcBef>
                <a:spcPts val="0"/>
              </a:spcBef>
              <a:spcAft>
                <a:spcPts val="0"/>
              </a:spcAft>
            </a:pPr>
            <a:r>
              <a:rPr sz="1872" b="0">
                <a:solidFill>
                  <a:srgbClr val="586777"/>
                </a:solidFill>
                <a:latin typeface="Segoe UI"/>
              </a:rPr>
              <a:t>Follow-up questions, an evidence-linked brief, live job matches and interview practice.</a:t>
            </a:r>
          </a:p>
        </p:txBody>
      </p:sp>
      <p:sp>
        <p:nvSpPr>
          <p:cNvPr id="6" name="Rectangle 5"/>
          <p:cNvSpPr/>
          <p:nvPr/>
        </p:nvSpPr>
        <p:spPr>
          <a:xfrm>
            <a:off x="658368" y="7662672"/>
            <a:ext cx="13313664" cy="9144"/>
          </a:xfrm>
          <a:prstGeom prst="rect">
            <a:avLst/>
          </a:prstGeom>
          <a:solidFill>
            <a:srgbClr val="DDDC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6656" y="7799831"/>
            <a:ext cx="10058400" cy="228600"/>
          </a:xfrm>
          <a:prstGeom prst="rect">
            <a:avLst/>
          </a:prstGeom>
          <a:noFill/>
        </p:spPr>
        <p:txBody>
          <a:bodyPr wrap="square" lIns="0" rIns="0" tIns="0" bIns="0">
            <a:spAutoFit/>
          </a:bodyPr>
          <a:lstStyle/>
          <a:p>
            <a:pPr algn="l">
              <a:lnSpc>
                <a:spcPct val="112000"/>
              </a:lnSpc>
              <a:spcBef>
                <a:spcPts val="0"/>
              </a:spcBef>
              <a:spcAft>
                <a:spcPts val="0"/>
              </a:spcAft>
            </a:pPr>
            <a:r>
              <a:rPr sz="1152" b="0">
                <a:solidFill>
                  <a:srgbClr val="586777"/>
                </a:solidFill>
                <a:latin typeface="Segoe UI"/>
              </a:rPr>
              <a:t>NJIA  /  DHRUZZZ  /  KENYA · ONLINE</a:t>
            </a:r>
          </a:p>
        </p:txBody>
      </p:sp>
      <p:sp>
        <p:nvSpPr>
          <p:cNvPr id="8" name="TextBox 7"/>
          <p:cNvSpPr txBox="1"/>
          <p:nvPr/>
        </p:nvSpPr>
        <p:spPr>
          <a:xfrm>
            <a:off x="12801600" y="7781544"/>
            <a:ext cx="1170432" cy="256032"/>
          </a:xfrm>
          <a:prstGeom prst="rect">
            <a:avLst/>
          </a:prstGeom>
          <a:noFill/>
        </p:spPr>
        <p:txBody>
          <a:bodyPr wrap="square" lIns="0" rIns="0" tIns="0" bIns="0">
            <a:spAutoFit/>
          </a:bodyPr>
          <a:lstStyle/>
          <a:p>
            <a:pPr algn="r">
              <a:lnSpc>
                <a:spcPct val="112000"/>
              </a:lnSpc>
              <a:spcBef>
                <a:spcPts val="0"/>
              </a:spcBef>
              <a:spcAft>
                <a:spcPts val="0"/>
              </a:spcAft>
            </a:pPr>
            <a:r>
              <a:rPr sz="1296" b="0">
                <a:solidFill>
                  <a:srgbClr val="586777"/>
                </a:solidFill>
                <a:latin typeface="Segoe UI"/>
              </a:rPr>
              <a:t>02 / 08</a:t>
            </a:r>
          </a:p>
        </p:txBody>
      </p:sp>
      <p:sp>
        <p:nvSpPr>
          <p:cNvPr id="9" name="Rounded Rectangle 8"/>
          <p:cNvSpPr/>
          <p:nvPr/>
        </p:nvSpPr>
        <p:spPr>
          <a:xfrm>
            <a:off x="676656" y="3429000"/>
            <a:ext cx="6035040" cy="2212848"/>
          </a:xfrm>
          <a:prstGeom prst="roundRect">
            <a:avLst>
              <a:gd name="adj" fmla="val 5785"/>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77456" y="3429000"/>
            <a:ext cx="6894576" cy="2212848"/>
          </a:xfrm>
          <a:prstGeom prst="roundRect">
            <a:avLst>
              <a:gd name="adj" fmla="val 5785"/>
            </a:avLst>
          </a:prstGeom>
          <a:solidFill>
            <a:srgbClr val="14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3657600"/>
            <a:ext cx="530352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586777"/>
                </a:solidFill>
                <a:latin typeface="Segoe UI"/>
              </a:rPr>
              <a:t>BEFORE / CV LINE + YOUR ANSWER</a:t>
            </a:r>
          </a:p>
        </p:txBody>
      </p:sp>
      <p:sp>
        <p:nvSpPr>
          <p:cNvPr id="12" name="TextBox 11"/>
          <p:cNvSpPr txBox="1"/>
          <p:nvPr/>
        </p:nvSpPr>
        <p:spPr>
          <a:xfrm>
            <a:off x="950976" y="4069080"/>
            <a:ext cx="5303520" cy="768096"/>
          </a:xfrm>
          <a:prstGeom prst="rect">
            <a:avLst/>
          </a:prstGeom>
          <a:noFill/>
        </p:spPr>
        <p:txBody>
          <a:bodyPr wrap="square" lIns="0" rIns="0" tIns="0" bIns="0">
            <a:spAutoFit/>
          </a:bodyPr>
          <a:lstStyle/>
          <a:p>
            <a:pPr algn="l">
              <a:lnSpc>
                <a:spcPct val="112000"/>
              </a:lnSpc>
              <a:spcBef>
                <a:spcPts val="0"/>
              </a:spcBef>
              <a:spcAft>
                <a:spcPts val="0"/>
              </a:spcAft>
            </a:pPr>
            <a:r>
              <a:rPr sz="2520" b="0">
                <a:solidFill>
                  <a:srgbClr val="1B2D40"/>
                </a:solidFill>
                <a:latin typeface="Georgia"/>
              </a:rPr>
              <a:t>“Cleaned sales data in Excel</a:t>
            </a:r>
          </a:p>
          <a:p>
            <a:pPr algn="l">
              <a:lnSpc>
                <a:spcPct val="112000"/>
              </a:lnSpc>
              <a:spcBef>
                <a:spcPts val="0"/>
              </a:spcBef>
              <a:spcAft>
                <a:spcPts val="0"/>
              </a:spcAft>
            </a:pPr>
            <a:r>
              <a:rPr sz="2520" b="0">
                <a:solidFill>
                  <a:srgbClr val="1B2D40"/>
                </a:solidFill>
                <a:latin typeface="Georgia"/>
              </a:rPr>
              <a:t>and made weekly charts.”</a:t>
            </a:r>
          </a:p>
        </p:txBody>
      </p:sp>
      <p:sp>
        <p:nvSpPr>
          <p:cNvPr id="13" name="TextBox 12"/>
          <p:cNvSpPr txBox="1"/>
          <p:nvPr/>
        </p:nvSpPr>
        <p:spPr>
          <a:xfrm>
            <a:off x="950976" y="4946904"/>
            <a:ext cx="5303520" cy="512064"/>
          </a:xfrm>
          <a:prstGeom prst="rect">
            <a:avLst/>
          </a:prstGeom>
          <a:noFill/>
        </p:spPr>
        <p:txBody>
          <a:bodyPr wrap="square" lIns="0" rIns="0" tIns="0" bIns="0">
            <a:spAutoFit/>
          </a:bodyPr>
          <a:lstStyle/>
          <a:p>
            <a:pPr algn="l">
              <a:lnSpc>
                <a:spcPct val="112000"/>
              </a:lnSpc>
              <a:spcBef>
                <a:spcPts val="0"/>
              </a:spcBef>
              <a:spcAft>
                <a:spcPts val="0"/>
              </a:spcAft>
            </a:pPr>
            <a:r>
              <a:rPr sz="1584" b="0">
                <a:solidFill>
                  <a:srgbClr val="586777"/>
                </a:solidFill>
                <a:latin typeface="Segoe UI"/>
              </a:rPr>
              <a:t>Your answer: “Managers used them in</a:t>
            </a:r>
          </a:p>
          <a:p>
            <a:pPr algn="l">
              <a:lnSpc>
                <a:spcPct val="112000"/>
              </a:lnSpc>
              <a:spcBef>
                <a:spcPts val="0"/>
              </a:spcBef>
              <a:spcAft>
                <a:spcPts val="0"/>
              </a:spcAft>
            </a:pPr>
            <a:r>
              <a:rPr sz="1584" b="0">
                <a:solidFill>
                  <a:srgbClr val="586777"/>
                </a:solidFill>
                <a:latin typeface="Segoe UI"/>
              </a:rPr>
              <a:t>Monday stock reviews.”</a:t>
            </a:r>
          </a:p>
        </p:txBody>
      </p:sp>
      <p:sp>
        <p:nvSpPr>
          <p:cNvPr id="14" name="TextBox 13"/>
          <p:cNvSpPr txBox="1"/>
          <p:nvPr/>
        </p:nvSpPr>
        <p:spPr>
          <a:xfrm>
            <a:off x="7388352" y="3657600"/>
            <a:ext cx="621792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F27B43"/>
                </a:solidFill>
                <a:latin typeface="Segoe UI"/>
              </a:rPr>
              <a:t>AFTER / USES YOUR ANSWER — VERIFY</a:t>
            </a:r>
          </a:p>
        </p:txBody>
      </p:sp>
      <p:sp>
        <p:nvSpPr>
          <p:cNvPr id="15" name="TextBox 14"/>
          <p:cNvSpPr txBox="1"/>
          <p:nvPr/>
        </p:nvSpPr>
        <p:spPr>
          <a:xfrm>
            <a:off x="7388352" y="4069080"/>
            <a:ext cx="6309360" cy="1143000"/>
          </a:xfrm>
          <a:prstGeom prst="rect">
            <a:avLst/>
          </a:prstGeom>
          <a:noFill/>
        </p:spPr>
        <p:txBody>
          <a:bodyPr wrap="square" lIns="0" rIns="0" tIns="0" bIns="0">
            <a:spAutoFit/>
          </a:bodyPr>
          <a:lstStyle/>
          <a:p>
            <a:pPr algn="l">
              <a:lnSpc>
                <a:spcPct val="112000"/>
              </a:lnSpc>
              <a:spcBef>
                <a:spcPts val="0"/>
              </a:spcBef>
              <a:spcAft>
                <a:spcPts val="0"/>
              </a:spcAft>
            </a:pPr>
            <a:r>
              <a:rPr sz="2520" b="0">
                <a:solidFill>
                  <a:srgbClr val="F7F4EC"/>
                </a:solidFill>
                <a:latin typeface="Georgia"/>
              </a:rPr>
              <a:t>“Prepared weekly Excel sales charts</a:t>
            </a:r>
          </a:p>
          <a:p>
            <a:pPr algn="l">
              <a:lnSpc>
                <a:spcPct val="112000"/>
              </a:lnSpc>
              <a:spcBef>
                <a:spcPts val="0"/>
              </a:spcBef>
              <a:spcAft>
                <a:spcPts val="0"/>
              </a:spcAft>
            </a:pPr>
            <a:r>
              <a:rPr sz="2520" b="0">
                <a:solidFill>
                  <a:srgbClr val="F7F4EC"/>
                </a:solidFill>
                <a:latin typeface="Georgia"/>
              </a:rPr>
              <a:t>from cleaned data for managers’</a:t>
            </a:r>
          </a:p>
          <a:p>
            <a:pPr algn="l">
              <a:lnSpc>
                <a:spcPct val="112000"/>
              </a:lnSpc>
              <a:spcBef>
                <a:spcPts val="0"/>
              </a:spcBef>
              <a:spcAft>
                <a:spcPts val="0"/>
              </a:spcAft>
            </a:pPr>
            <a:r>
              <a:rPr sz="2520" b="0">
                <a:solidFill>
                  <a:srgbClr val="F7F4EC"/>
                </a:solidFill>
                <a:latin typeface="Georgia"/>
              </a:rPr>
              <a:t>Monday stock reviews.”</a:t>
            </a:r>
          </a:p>
        </p:txBody>
      </p:sp>
      <p:sp>
        <p:nvSpPr>
          <p:cNvPr id="16" name="TextBox 15"/>
          <p:cNvSpPr txBox="1"/>
          <p:nvPr/>
        </p:nvSpPr>
        <p:spPr>
          <a:xfrm>
            <a:off x="7388352" y="5276088"/>
            <a:ext cx="6309360" cy="237744"/>
          </a:xfrm>
          <a:prstGeom prst="rect">
            <a:avLst/>
          </a:prstGeom>
          <a:noFill/>
        </p:spPr>
        <p:txBody>
          <a:bodyPr wrap="square" lIns="0" rIns="0" tIns="0" bIns="0">
            <a:spAutoFit/>
          </a:bodyPr>
          <a:lstStyle/>
          <a:p>
            <a:pPr algn="l">
              <a:lnSpc>
                <a:spcPct val="112000"/>
              </a:lnSpc>
              <a:spcBef>
                <a:spcPts val="0"/>
              </a:spcBef>
              <a:spcAft>
                <a:spcPts val="0"/>
              </a:spcAft>
            </a:pPr>
            <a:r>
              <a:rPr sz="1368" b="0">
                <a:solidFill>
                  <a:srgbClr val="D4DEE6"/>
                </a:solidFill>
                <a:latin typeface="Segoe UI"/>
              </a:rPr>
              <a:t>Same facts plus the learner's own answer. Nothing invented.</a:t>
            </a:r>
          </a:p>
        </p:txBody>
      </p:sp>
      <p:sp>
        <p:nvSpPr>
          <p:cNvPr id="17" name="Rectangle 16"/>
          <p:cNvSpPr/>
          <p:nvPr/>
        </p:nvSpPr>
        <p:spPr>
          <a:xfrm>
            <a:off x="676656" y="5971032"/>
            <a:ext cx="4160520" cy="36576"/>
          </a:xfrm>
          <a:prstGeom prst="rect">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6217920"/>
            <a:ext cx="4160520" cy="393192"/>
          </a:xfrm>
          <a:prstGeom prst="rect">
            <a:avLst/>
          </a:prstGeom>
          <a:noFill/>
        </p:spPr>
        <p:txBody>
          <a:bodyPr wrap="square" lIns="0" rIns="0" tIns="0" bIns="0">
            <a:spAutoFit/>
          </a:bodyPr>
          <a:lstStyle/>
          <a:p>
            <a:pPr algn="l">
              <a:lnSpc>
                <a:spcPct val="112000"/>
              </a:lnSpc>
              <a:spcBef>
                <a:spcPts val="0"/>
              </a:spcBef>
              <a:spcAft>
                <a:spcPts val="0"/>
              </a:spcAft>
            </a:pPr>
            <a:r>
              <a:rPr sz="2016" b="1">
                <a:solidFill>
                  <a:srgbClr val="1B2D40"/>
                </a:solidFill>
                <a:latin typeface="Segoe UI"/>
              </a:rPr>
              <a:t>01 / Ask</a:t>
            </a:r>
          </a:p>
        </p:txBody>
      </p:sp>
      <p:sp>
        <p:nvSpPr>
          <p:cNvPr id="19" name="TextBox 18"/>
          <p:cNvSpPr txBox="1"/>
          <p:nvPr/>
        </p:nvSpPr>
        <p:spPr>
          <a:xfrm>
            <a:off x="676656" y="6693408"/>
            <a:ext cx="4206240" cy="658368"/>
          </a:xfrm>
          <a:prstGeom prst="rect">
            <a:avLst/>
          </a:prstGeom>
          <a:noFill/>
        </p:spPr>
        <p:txBody>
          <a:bodyPr wrap="square" lIns="0" rIns="0" tIns="0" bIns="0">
            <a:spAutoFit/>
          </a:bodyPr>
          <a:lstStyle/>
          <a:p>
            <a:pPr algn="l">
              <a:lnSpc>
                <a:spcPct val="112000"/>
              </a:lnSpc>
              <a:spcBef>
                <a:spcPts val="0"/>
              </a:spcBef>
              <a:spcAft>
                <a:spcPts val="0"/>
              </a:spcAft>
            </a:pPr>
            <a:r>
              <a:rPr sz="1728" b="0">
                <a:solidFill>
                  <a:srgbClr val="586777"/>
                </a:solidFill>
                <a:latin typeface="Segoe UI"/>
              </a:rPr>
              <a:t>Skill + outcome follow-ups</a:t>
            </a:r>
          </a:p>
          <a:p>
            <a:pPr algn="l">
              <a:lnSpc>
                <a:spcPct val="112000"/>
              </a:lnSpc>
              <a:spcBef>
                <a:spcPts val="0"/>
              </a:spcBef>
              <a:spcAft>
                <a:spcPts val="0"/>
              </a:spcAft>
            </a:pPr>
            <a:r>
              <a:rPr sz="1728" b="0">
                <a:solidFill>
                  <a:srgbClr val="586777"/>
                </a:solidFill>
                <a:latin typeface="Segoe UI"/>
              </a:rPr>
              <a:t>reshape skills and the brief.</a:t>
            </a:r>
          </a:p>
        </p:txBody>
      </p:sp>
      <p:sp>
        <p:nvSpPr>
          <p:cNvPr id="20" name="Rectangle 19"/>
          <p:cNvSpPr/>
          <p:nvPr/>
        </p:nvSpPr>
        <p:spPr>
          <a:xfrm>
            <a:off x="5221224" y="5971032"/>
            <a:ext cx="4160520" cy="36576"/>
          </a:xfrm>
          <a:prstGeom prst="rect">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21224" y="6217920"/>
            <a:ext cx="4160520" cy="393192"/>
          </a:xfrm>
          <a:prstGeom prst="rect">
            <a:avLst/>
          </a:prstGeom>
          <a:noFill/>
        </p:spPr>
        <p:txBody>
          <a:bodyPr wrap="square" lIns="0" rIns="0" tIns="0" bIns="0">
            <a:spAutoFit/>
          </a:bodyPr>
          <a:lstStyle/>
          <a:p>
            <a:pPr algn="l">
              <a:lnSpc>
                <a:spcPct val="112000"/>
              </a:lnSpc>
              <a:spcBef>
                <a:spcPts val="0"/>
              </a:spcBef>
              <a:spcAft>
                <a:spcPts val="0"/>
              </a:spcAft>
            </a:pPr>
            <a:r>
              <a:rPr sz="2016" b="1">
                <a:solidFill>
                  <a:srgbClr val="1B2D40"/>
                </a:solidFill>
                <a:latin typeface="Segoe UI"/>
              </a:rPr>
              <a:t>02 / Match</a:t>
            </a:r>
          </a:p>
        </p:txBody>
      </p:sp>
      <p:sp>
        <p:nvSpPr>
          <p:cNvPr id="22" name="TextBox 21"/>
          <p:cNvSpPr txBox="1"/>
          <p:nvPr/>
        </p:nvSpPr>
        <p:spPr>
          <a:xfrm>
            <a:off x="5221224" y="6693408"/>
            <a:ext cx="4206240" cy="658368"/>
          </a:xfrm>
          <a:prstGeom prst="rect">
            <a:avLst/>
          </a:prstGeom>
          <a:noFill/>
        </p:spPr>
        <p:txBody>
          <a:bodyPr wrap="square" lIns="0" rIns="0" tIns="0" bIns="0">
            <a:spAutoFit/>
          </a:bodyPr>
          <a:lstStyle/>
          <a:p>
            <a:pPr algn="l">
              <a:lnSpc>
                <a:spcPct val="112000"/>
              </a:lnSpc>
              <a:spcBef>
                <a:spcPts val="0"/>
              </a:spcBef>
              <a:spcAft>
                <a:spcPts val="0"/>
              </a:spcAft>
            </a:pPr>
            <a:r>
              <a:rPr sz="1728" b="0">
                <a:solidFill>
                  <a:srgbClr val="586777"/>
                </a:solidFill>
                <a:latin typeface="Segoe UI"/>
              </a:rPr>
              <a:t>Live jobs you can apply for,</a:t>
            </a:r>
          </a:p>
          <a:p>
            <a:pPr algn="l">
              <a:lnSpc>
                <a:spcPct val="112000"/>
              </a:lnSpc>
              <a:spcBef>
                <a:spcPts val="0"/>
              </a:spcBef>
              <a:spcAft>
                <a:spcPts val="0"/>
              </a:spcAft>
            </a:pPr>
            <a:r>
              <a:rPr sz="1728" b="0">
                <a:solidFill>
                  <a:srgbClr val="586777"/>
                </a:solidFill>
                <a:latin typeface="Segoe UI"/>
              </a:rPr>
              <a:t>with matched + missing skills.</a:t>
            </a:r>
          </a:p>
        </p:txBody>
      </p:sp>
      <p:sp>
        <p:nvSpPr>
          <p:cNvPr id="23" name="Rectangle 22"/>
          <p:cNvSpPr/>
          <p:nvPr/>
        </p:nvSpPr>
        <p:spPr>
          <a:xfrm>
            <a:off x="9765792" y="5971032"/>
            <a:ext cx="4160520" cy="36576"/>
          </a:xfrm>
          <a:prstGeom prst="rect">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65792" y="6217920"/>
            <a:ext cx="4160520" cy="393192"/>
          </a:xfrm>
          <a:prstGeom prst="rect">
            <a:avLst/>
          </a:prstGeom>
          <a:noFill/>
        </p:spPr>
        <p:txBody>
          <a:bodyPr wrap="square" lIns="0" rIns="0" tIns="0" bIns="0">
            <a:spAutoFit/>
          </a:bodyPr>
          <a:lstStyle/>
          <a:p>
            <a:pPr algn="l">
              <a:lnSpc>
                <a:spcPct val="112000"/>
              </a:lnSpc>
              <a:spcBef>
                <a:spcPts val="0"/>
              </a:spcBef>
              <a:spcAft>
                <a:spcPts val="0"/>
              </a:spcAft>
            </a:pPr>
            <a:r>
              <a:rPr sz="2016" b="1">
                <a:solidFill>
                  <a:srgbClr val="1B2D40"/>
                </a:solidFill>
                <a:latin typeface="Segoe UI"/>
              </a:rPr>
              <a:t>03 / Practise</a:t>
            </a:r>
          </a:p>
        </p:txBody>
      </p:sp>
      <p:sp>
        <p:nvSpPr>
          <p:cNvPr id="25" name="TextBox 24"/>
          <p:cNvSpPr txBox="1"/>
          <p:nvPr/>
        </p:nvSpPr>
        <p:spPr>
          <a:xfrm>
            <a:off x="9765792" y="6693408"/>
            <a:ext cx="4206240" cy="658368"/>
          </a:xfrm>
          <a:prstGeom prst="rect">
            <a:avLst/>
          </a:prstGeom>
          <a:noFill/>
        </p:spPr>
        <p:txBody>
          <a:bodyPr wrap="square" lIns="0" rIns="0" tIns="0" bIns="0">
            <a:spAutoFit/>
          </a:bodyPr>
          <a:lstStyle/>
          <a:p>
            <a:pPr algn="l">
              <a:lnSpc>
                <a:spcPct val="112000"/>
              </a:lnSpc>
              <a:spcBef>
                <a:spcPts val="0"/>
              </a:spcBef>
              <a:spcAft>
                <a:spcPts val="0"/>
              </a:spcAft>
            </a:pPr>
            <a:r>
              <a:rPr sz="1728" b="0">
                <a:solidFill>
                  <a:srgbClr val="586777"/>
                </a:solidFill>
                <a:latin typeface="Segoe UI"/>
              </a:rPr>
              <a:t>Sourced questions + AI feedback;</a:t>
            </a:r>
          </a:p>
          <a:p>
            <a:pPr algn="l">
              <a:lnSpc>
                <a:spcPct val="112000"/>
              </a:lnSpc>
              <a:spcBef>
                <a:spcPts val="0"/>
              </a:spcBef>
              <a:spcAft>
                <a:spcPts val="0"/>
              </a:spcAft>
            </a:pPr>
            <a:r>
              <a:rPr sz="1728" b="0">
                <a:solidFill>
                  <a:srgbClr val="586777"/>
                </a:solidFill>
                <a:latin typeface="Segoe UI"/>
              </a:rPr>
              <a:t>send the 7-day plan to WhatsApp.</a:t>
            </a:r>
          </a:p>
        </p:txBody>
      </p:sp>
      <p:sp>
        <p:nvSpPr>
          <p:cNvPr id="26" name="TextBox 25"/>
          <p:cNvSpPr txBox="1"/>
          <p:nvPr/>
        </p:nvSpPr>
        <p:spPr>
          <a:xfrm>
            <a:off x="694944" y="3072384"/>
            <a:ext cx="13167360" cy="256032"/>
          </a:xfrm>
          <a:prstGeom prst="rect">
            <a:avLst/>
          </a:prstGeom>
          <a:noFill/>
        </p:spPr>
        <p:txBody>
          <a:bodyPr wrap="square" lIns="0" rIns="0" tIns="0" bIns="0">
            <a:spAutoFit/>
          </a:bodyPr>
          <a:lstStyle/>
          <a:p>
            <a:pPr algn="l">
              <a:lnSpc>
                <a:spcPct val="112000"/>
              </a:lnSpc>
              <a:spcBef>
                <a:spcPts val="0"/>
              </a:spcBef>
              <a:spcAft>
                <a:spcPts val="0"/>
              </a:spcAft>
            </a:pPr>
            <a:r>
              <a:rPr sz="1296" b="0">
                <a:solidFill>
                  <a:srgbClr val="586777"/>
                </a:solidFill>
                <a:latin typeface="Segoe UI"/>
              </a:rPr>
              <a:t>Illustrative, hand-authored example. Rewrites are checked for numbers/tools and still need human factual review.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58368" y="493776"/>
            <a:ext cx="347472" cy="45720"/>
          </a:xfrm>
          <a:prstGeom prst="rect">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79576" y="365760"/>
            <a:ext cx="12070080" cy="283464"/>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586777"/>
                </a:solidFill>
                <a:latin typeface="Segoe UI"/>
              </a:rPr>
              <a:t>03  /  LOCAL DATA, VISIBLE DENOMINATORS</a:t>
            </a:r>
          </a:p>
        </p:txBody>
      </p:sp>
      <p:sp>
        <p:nvSpPr>
          <p:cNvPr id="4" name="TextBox 3"/>
          <p:cNvSpPr txBox="1"/>
          <p:nvPr/>
        </p:nvSpPr>
        <p:spPr>
          <a:xfrm>
            <a:off x="658368" y="996696"/>
            <a:ext cx="13313664" cy="1371600"/>
          </a:xfrm>
          <a:prstGeom prst="rect">
            <a:avLst/>
          </a:prstGeom>
          <a:noFill/>
        </p:spPr>
        <p:txBody>
          <a:bodyPr wrap="square" lIns="0" rIns="0" tIns="0" bIns="0">
            <a:spAutoFit/>
          </a:bodyPr>
          <a:lstStyle/>
          <a:p>
            <a:pPr algn="l">
              <a:lnSpc>
                <a:spcPct val="112000"/>
              </a:lnSpc>
              <a:spcBef>
                <a:spcPts val="0"/>
              </a:spcBef>
              <a:spcAft>
                <a:spcPts val="0"/>
              </a:spcAft>
            </a:pPr>
            <a:r>
              <a:rPr sz="4680" b="1">
                <a:solidFill>
                  <a:srgbClr val="1B2D40"/>
                </a:solidFill>
                <a:latin typeface="Georgia"/>
              </a:rPr>
              <a:t>Better priorities start with local context.</a:t>
            </a:r>
          </a:p>
        </p:txBody>
      </p:sp>
      <p:sp>
        <p:nvSpPr>
          <p:cNvPr id="5" name="TextBox 4"/>
          <p:cNvSpPr txBox="1"/>
          <p:nvPr/>
        </p:nvSpPr>
        <p:spPr>
          <a:xfrm>
            <a:off x="685800" y="2514600"/>
            <a:ext cx="13167360" cy="640080"/>
          </a:xfrm>
          <a:prstGeom prst="rect">
            <a:avLst/>
          </a:prstGeom>
          <a:noFill/>
        </p:spPr>
        <p:txBody>
          <a:bodyPr wrap="square" lIns="0" rIns="0" tIns="0" bIns="0">
            <a:spAutoFit/>
          </a:bodyPr>
          <a:lstStyle/>
          <a:p>
            <a:pPr algn="l">
              <a:lnSpc>
                <a:spcPct val="112000"/>
              </a:lnSpc>
              <a:spcBef>
                <a:spcPts val="0"/>
              </a:spcBef>
              <a:spcAft>
                <a:spcPts val="0"/>
              </a:spcAft>
            </a:pPr>
            <a:r>
              <a:rPr sz="1872" b="0">
                <a:solidFill>
                  <a:srgbClr val="586777"/>
                </a:solidFill>
                <a:latin typeface="Segoe UI"/>
              </a:rPr>
              <a:t>Historical skill mentions inform the advice; the language model does not invent demand figures.</a:t>
            </a:r>
          </a:p>
        </p:txBody>
      </p:sp>
      <p:sp>
        <p:nvSpPr>
          <p:cNvPr id="6" name="Rectangle 5"/>
          <p:cNvSpPr/>
          <p:nvPr/>
        </p:nvSpPr>
        <p:spPr>
          <a:xfrm>
            <a:off x="658368" y="7662672"/>
            <a:ext cx="13313664" cy="9144"/>
          </a:xfrm>
          <a:prstGeom prst="rect">
            <a:avLst/>
          </a:prstGeom>
          <a:solidFill>
            <a:srgbClr val="DDDC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6656" y="7799831"/>
            <a:ext cx="10058400" cy="228600"/>
          </a:xfrm>
          <a:prstGeom prst="rect">
            <a:avLst/>
          </a:prstGeom>
          <a:noFill/>
        </p:spPr>
        <p:txBody>
          <a:bodyPr wrap="square" lIns="0" rIns="0" tIns="0" bIns="0">
            <a:spAutoFit/>
          </a:bodyPr>
          <a:lstStyle/>
          <a:p>
            <a:pPr algn="l">
              <a:lnSpc>
                <a:spcPct val="112000"/>
              </a:lnSpc>
              <a:spcBef>
                <a:spcPts val="0"/>
              </a:spcBef>
              <a:spcAft>
                <a:spcPts val="0"/>
              </a:spcAft>
            </a:pPr>
            <a:r>
              <a:rPr sz="1152" b="0">
                <a:solidFill>
                  <a:srgbClr val="586777"/>
                </a:solidFill>
                <a:latin typeface="Segoe UI"/>
              </a:rPr>
              <a:t>NJIA  /  DHRUZZZ  /  KENYA · ONLINE</a:t>
            </a:r>
          </a:p>
        </p:txBody>
      </p:sp>
      <p:sp>
        <p:nvSpPr>
          <p:cNvPr id="8" name="TextBox 7"/>
          <p:cNvSpPr txBox="1"/>
          <p:nvPr/>
        </p:nvSpPr>
        <p:spPr>
          <a:xfrm>
            <a:off x="12801600" y="7781544"/>
            <a:ext cx="1170432" cy="256032"/>
          </a:xfrm>
          <a:prstGeom prst="rect">
            <a:avLst/>
          </a:prstGeom>
          <a:noFill/>
        </p:spPr>
        <p:txBody>
          <a:bodyPr wrap="square" lIns="0" rIns="0" tIns="0" bIns="0">
            <a:spAutoFit/>
          </a:bodyPr>
          <a:lstStyle/>
          <a:p>
            <a:pPr algn="r">
              <a:lnSpc>
                <a:spcPct val="112000"/>
              </a:lnSpc>
              <a:spcBef>
                <a:spcPts val="0"/>
              </a:spcBef>
              <a:spcAft>
                <a:spcPts val="0"/>
              </a:spcAft>
            </a:pPr>
            <a:r>
              <a:rPr sz="1296" b="0">
                <a:solidFill>
                  <a:srgbClr val="586777"/>
                </a:solidFill>
                <a:latin typeface="Segoe UI"/>
              </a:rPr>
              <a:t>03 / 08</a:t>
            </a:r>
          </a:p>
        </p:txBody>
      </p:sp>
      <p:sp>
        <p:nvSpPr>
          <p:cNvPr id="9" name="TextBox 8"/>
          <p:cNvSpPr txBox="1"/>
          <p:nvPr/>
        </p:nvSpPr>
        <p:spPr>
          <a:xfrm>
            <a:off x="694944" y="3328416"/>
            <a:ext cx="4114800" cy="749808"/>
          </a:xfrm>
          <a:prstGeom prst="rect">
            <a:avLst/>
          </a:prstGeom>
          <a:noFill/>
        </p:spPr>
        <p:txBody>
          <a:bodyPr wrap="square" lIns="0" rIns="0" tIns="0" bIns="0">
            <a:spAutoFit/>
          </a:bodyPr>
          <a:lstStyle/>
          <a:p>
            <a:pPr algn="l">
              <a:lnSpc>
                <a:spcPct val="112000"/>
              </a:lnSpc>
              <a:spcBef>
                <a:spcPts val="0"/>
              </a:spcBef>
              <a:spcAft>
                <a:spcPts val="0"/>
              </a:spcAft>
            </a:pPr>
            <a:r>
              <a:rPr sz="4896" b="1">
                <a:solidFill>
                  <a:srgbClr val="1B2D40"/>
                </a:solidFill>
                <a:latin typeface="Georgia"/>
              </a:rPr>
              <a:t>18,371</a:t>
            </a:r>
          </a:p>
        </p:txBody>
      </p:sp>
      <p:sp>
        <p:nvSpPr>
          <p:cNvPr id="10" name="TextBox 9"/>
          <p:cNvSpPr txBox="1"/>
          <p:nvPr/>
        </p:nvSpPr>
        <p:spPr>
          <a:xfrm>
            <a:off x="694944" y="4142232"/>
            <a:ext cx="4160520" cy="320040"/>
          </a:xfrm>
          <a:prstGeom prst="rect">
            <a:avLst/>
          </a:prstGeom>
          <a:noFill/>
        </p:spPr>
        <p:txBody>
          <a:bodyPr wrap="square" lIns="0" rIns="0" tIns="0" bIns="0">
            <a:spAutoFit/>
          </a:bodyPr>
          <a:lstStyle/>
          <a:p>
            <a:pPr algn="l">
              <a:lnSpc>
                <a:spcPct val="112000"/>
              </a:lnSpc>
              <a:spcBef>
                <a:spcPts val="0"/>
              </a:spcBef>
              <a:spcAft>
                <a:spcPts val="0"/>
              </a:spcAft>
            </a:pPr>
            <a:r>
              <a:rPr sz="1655" b="0">
                <a:solidFill>
                  <a:srgbClr val="586777"/>
                </a:solidFill>
                <a:latin typeface="Segoe UI"/>
              </a:rPr>
              <a:t>2023 postings in the subset</a:t>
            </a:r>
          </a:p>
        </p:txBody>
      </p:sp>
      <p:sp>
        <p:nvSpPr>
          <p:cNvPr id="11" name="TextBox 10"/>
          <p:cNvSpPr txBox="1"/>
          <p:nvPr/>
        </p:nvSpPr>
        <p:spPr>
          <a:xfrm>
            <a:off x="5239512" y="3328416"/>
            <a:ext cx="4114800" cy="749808"/>
          </a:xfrm>
          <a:prstGeom prst="rect">
            <a:avLst/>
          </a:prstGeom>
          <a:noFill/>
        </p:spPr>
        <p:txBody>
          <a:bodyPr wrap="square" lIns="0" rIns="0" tIns="0" bIns="0">
            <a:spAutoFit/>
          </a:bodyPr>
          <a:lstStyle/>
          <a:p>
            <a:pPr algn="l">
              <a:lnSpc>
                <a:spcPct val="112000"/>
              </a:lnSpc>
              <a:spcBef>
                <a:spcPts val="0"/>
              </a:spcBef>
              <a:spcAft>
                <a:spcPts val="0"/>
              </a:spcAft>
            </a:pPr>
            <a:r>
              <a:rPr sz="4896" b="1">
                <a:solidFill>
                  <a:srgbClr val="1B2D40"/>
                </a:solidFill>
                <a:latin typeface="Georgia"/>
              </a:rPr>
              <a:t>10</a:t>
            </a:r>
          </a:p>
        </p:txBody>
      </p:sp>
      <p:sp>
        <p:nvSpPr>
          <p:cNvPr id="12" name="TextBox 11"/>
          <p:cNvSpPr txBox="1"/>
          <p:nvPr/>
        </p:nvSpPr>
        <p:spPr>
          <a:xfrm>
            <a:off x="5239512" y="4142232"/>
            <a:ext cx="4160520" cy="320040"/>
          </a:xfrm>
          <a:prstGeom prst="rect">
            <a:avLst/>
          </a:prstGeom>
          <a:noFill/>
        </p:spPr>
        <p:txBody>
          <a:bodyPr wrap="square" lIns="0" rIns="0" tIns="0" bIns="0">
            <a:spAutoFit/>
          </a:bodyPr>
          <a:lstStyle/>
          <a:p>
            <a:pPr algn="l">
              <a:lnSpc>
                <a:spcPct val="112000"/>
              </a:lnSpc>
              <a:spcBef>
                <a:spcPts val="0"/>
              </a:spcBef>
              <a:spcAft>
                <a:spcPts val="0"/>
              </a:spcAft>
            </a:pPr>
            <a:r>
              <a:rPr sz="1655" b="0">
                <a:solidFill>
                  <a:srgbClr val="586777"/>
                </a:solidFill>
                <a:latin typeface="Segoe UI"/>
              </a:rPr>
              <a:t>countries represented</a:t>
            </a:r>
          </a:p>
        </p:txBody>
      </p:sp>
      <p:sp>
        <p:nvSpPr>
          <p:cNvPr id="13" name="TextBox 12"/>
          <p:cNvSpPr txBox="1"/>
          <p:nvPr/>
        </p:nvSpPr>
        <p:spPr>
          <a:xfrm>
            <a:off x="9784080" y="3328416"/>
            <a:ext cx="4114800" cy="749808"/>
          </a:xfrm>
          <a:prstGeom prst="rect">
            <a:avLst/>
          </a:prstGeom>
          <a:noFill/>
        </p:spPr>
        <p:txBody>
          <a:bodyPr wrap="square" lIns="0" rIns="0" tIns="0" bIns="0">
            <a:spAutoFit/>
          </a:bodyPr>
          <a:lstStyle/>
          <a:p>
            <a:pPr algn="l">
              <a:lnSpc>
                <a:spcPct val="112000"/>
              </a:lnSpc>
              <a:spcBef>
                <a:spcPts val="0"/>
              </a:spcBef>
              <a:spcAft>
                <a:spcPts val="0"/>
              </a:spcAft>
            </a:pPr>
            <a:r>
              <a:rPr sz="4896" b="1">
                <a:solidFill>
                  <a:srgbClr val="1B2D40"/>
                </a:solidFill>
                <a:latin typeface="Georgia"/>
              </a:rPr>
              <a:t>1,326</a:t>
            </a:r>
          </a:p>
        </p:txBody>
      </p:sp>
      <p:sp>
        <p:nvSpPr>
          <p:cNvPr id="14" name="TextBox 13"/>
          <p:cNvSpPr txBox="1"/>
          <p:nvPr/>
        </p:nvSpPr>
        <p:spPr>
          <a:xfrm>
            <a:off x="9784080" y="4142232"/>
            <a:ext cx="4160520" cy="320040"/>
          </a:xfrm>
          <a:prstGeom prst="rect">
            <a:avLst/>
          </a:prstGeom>
          <a:noFill/>
        </p:spPr>
        <p:txBody>
          <a:bodyPr wrap="square" lIns="0" rIns="0" tIns="0" bIns="0">
            <a:spAutoFit/>
          </a:bodyPr>
          <a:lstStyle/>
          <a:p>
            <a:pPr algn="l">
              <a:lnSpc>
                <a:spcPct val="112000"/>
              </a:lnSpc>
              <a:spcBef>
                <a:spcPts val="0"/>
              </a:spcBef>
              <a:spcAft>
                <a:spcPts val="0"/>
              </a:spcAft>
            </a:pPr>
            <a:r>
              <a:rPr sz="1655" b="0">
                <a:solidFill>
                  <a:srgbClr val="586777"/>
                </a:solidFill>
                <a:latin typeface="Segoe UI"/>
              </a:rPr>
              <a:t>Kenya postings · all roles</a:t>
            </a:r>
          </a:p>
        </p:txBody>
      </p:sp>
      <p:sp>
        <p:nvSpPr>
          <p:cNvPr id="15" name="TextBox 14"/>
          <p:cNvSpPr txBox="1"/>
          <p:nvPr/>
        </p:nvSpPr>
        <p:spPr>
          <a:xfrm>
            <a:off x="694944" y="4846320"/>
            <a:ext cx="777240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1B2D40"/>
                </a:solidFill>
                <a:latin typeface="Segoe UI"/>
              </a:rPr>
              <a:t>KENYA / DATA ANALYST / N = 391</a:t>
            </a:r>
          </a:p>
        </p:txBody>
      </p:sp>
      <p:sp>
        <p:nvSpPr>
          <p:cNvPr id="16" name="TextBox 15"/>
          <p:cNvSpPr txBox="1"/>
          <p:nvPr/>
        </p:nvSpPr>
        <p:spPr>
          <a:xfrm>
            <a:off x="694944" y="5285232"/>
            <a:ext cx="1207008" cy="320040"/>
          </a:xfrm>
          <a:prstGeom prst="rect">
            <a:avLst/>
          </a:prstGeom>
          <a:noFill/>
        </p:spPr>
        <p:txBody>
          <a:bodyPr wrap="square" lIns="0" rIns="0" tIns="0" bIns="0">
            <a:spAutoFit/>
          </a:bodyPr>
          <a:lstStyle/>
          <a:p>
            <a:pPr algn="l">
              <a:lnSpc>
                <a:spcPct val="112000"/>
              </a:lnSpc>
              <a:spcBef>
                <a:spcPts val="0"/>
              </a:spcBef>
              <a:spcAft>
                <a:spcPts val="0"/>
              </a:spcAft>
            </a:pPr>
            <a:r>
              <a:rPr sz="1728" b="1">
                <a:solidFill>
                  <a:srgbClr val="1B2D40"/>
                </a:solidFill>
                <a:latin typeface="Segoe UI"/>
              </a:rPr>
              <a:t>Excel</a:t>
            </a:r>
          </a:p>
        </p:txBody>
      </p:sp>
      <p:sp>
        <p:nvSpPr>
          <p:cNvPr id="17" name="Rounded Rectangle 16"/>
          <p:cNvSpPr/>
          <p:nvPr/>
        </p:nvSpPr>
        <p:spPr>
          <a:xfrm>
            <a:off x="1984248" y="5312664"/>
            <a:ext cx="5257800" cy="210312"/>
          </a:xfrm>
          <a:prstGeom prst="roundRect">
            <a:avLst>
              <a:gd name="adj" fmla="val 13043"/>
            </a:avLst>
          </a:prstGeom>
          <a:solidFill>
            <a:srgbClr val="E7E6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984248" y="5312664"/>
            <a:ext cx="5110581" cy="210312"/>
          </a:xfrm>
          <a:prstGeom prst="roundRect">
            <a:avLst>
              <a:gd name="adj" fmla="val 13043"/>
            </a:avLst>
          </a:prstGeom>
          <a:solidFill>
            <a:srgbClr val="14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5266944"/>
            <a:ext cx="1005840" cy="329184"/>
          </a:xfrm>
          <a:prstGeom prst="rect">
            <a:avLst/>
          </a:prstGeom>
          <a:noFill/>
        </p:spPr>
        <p:txBody>
          <a:bodyPr wrap="square" lIns="0" rIns="0" tIns="0" bIns="0">
            <a:spAutoFit/>
          </a:bodyPr>
          <a:lstStyle/>
          <a:p>
            <a:pPr algn="l">
              <a:lnSpc>
                <a:spcPct val="112000"/>
              </a:lnSpc>
              <a:spcBef>
                <a:spcPts val="0"/>
              </a:spcBef>
              <a:spcAft>
                <a:spcPts val="0"/>
              </a:spcAft>
            </a:pPr>
            <a:r>
              <a:rPr sz="1728" b="1">
                <a:solidFill>
                  <a:srgbClr val="1B2D40"/>
                </a:solidFill>
                <a:latin typeface="Segoe UI"/>
              </a:rPr>
              <a:t>48.6%</a:t>
            </a:r>
          </a:p>
        </p:txBody>
      </p:sp>
      <p:sp>
        <p:nvSpPr>
          <p:cNvPr id="20" name="TextBox 19"/>
          <p:cNvSpPr txBox="1"/>
          <p:nvPr/>
        </p:nvSpPr>
        <p:spPr>
          <a:xfrm>
            <a:off x="694944" y="5650992"/>
            <a:ext cx="1207008" cy="320040"/>
          </a:xfrm>
          <a:prstGeom prst="rect">
            <a:avLst/>
          </a:prstGeom>
          <a:noFill/>
        </p:spPr>
        <p:txBody>
          <a:bodyPr wrap="square" lIns="0" rIns="0" tIns="0" bIns="0">
            <a:spAutoFit/>
          </a:bodyPr>
          <a:lstStyle/>
          <a:p>
            <a:pPr algn="l">
              <a:lnSpc>
                <a:spcPct val="112000"/>
              </a:lnSpc>
              <a:spcBef>
                <a:spcPts val="0"/>
              </a:spcBef>
              <a:spcAft>
                <a:spcPts val="0"/>
              </a:spcAft>
            </a:pPr>
            <a:r>
              <a:rPr sz="1728" b="1">
                <a:solidFill>
                  <a:srgbClr val="1B2D40"/>
                </a:solidFill>
                <a:latin typeface="Segoe UI"/>
              </a:rPr>
              <a:t>SQL</a:t>
            </a:r>
          </a:p>
        </p:txBody>
      </p:sp>
      <p:sp>
        <p:nvSpPr>
          <p:cNvPr id="21" name="Rounded Rectangle 20"/>
          <p:cNvSpPr/>
          <p:nvPr/>
        </p:nvSpPr>
        <p:spPr>
          <a:xfrm>
            <a:off x="1984248" y="5678424"/>
            <a:ext cx="5257800" cy="210312"/>
          </a:xfrm>
          <a:prstGeom prst="roundRect">
            <a:avLst>
              <a:gd name="adj" fmla="val 13043"/>
            </a:avLst>
          </a:prstGeom>
          <a:solidFill>
            <a:srgbClr val="E7E6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984248" y="5678424"/>
            <a:ext cx="4889754" cy="210312"/>
          </a:xfrm>
          <a:prstGeom prst="roundRect">
            <a:avLst>
              <a:gd name="adj" fmla="val 13043"/>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06640" y="5632704"/>
            <a:ext cx="1005840" cy="329184"/>
          </a:xfrm>
          <a:prstGeom prst="rect">
            <a:avLst/>
          </a:prstGeom>
          <a:noFill/>
        </p:spPr>
        <p:txBody>
          <a:bodyPr wrap="square" lIns="0" rIns="0" tIns="0" bIns="0">
            <a:spAutoFit/>
          </a:bodyPr>
          <a:lstStyle/>
          <a:p>
            <a:pPr algn="l">
              <a:lnSpc>
                <a:spcPct val="112000"/>
              </a:lnSpc>
              <a:spcBef>
                <a:spcPts val="0"/>
              </a:spcBef>
              <a:spcAft>
                <a:spcPts val="0"/>
              </a:spcAft>
            </a:pPr>
            <a:r>
              <a:rPr sz="1728" b="1">
                <a:solidFill>
                  <a:srgbClr val="1B2D40"/>
                </a:solidFill>
                <a:latin typeface="Segoe UI"/>
              </a:rPr>
              <a:t>46.5%</a:t>
            </a:r>
          </a:p>
        </p:txBody>
      </p:sp>
      <p:sp>
        <p:nvSpPr>
          <p:cNvPr id="24" name="TextBox 23"/>
          <p:cNvSpPr txBox="1"/>
          <p:nvPr/>
        </p:nvSpPr>
        <p:spPr>
          <a:xfrm>
            <a:off x="694944" y="6016752"/>
            <a:ext cx="1207008" cy="320040"/>
          </a:xfrm>
          <a:prstGeom prst="rect">
            <a:avLst/>
          </a:prstGeom>
          <a:noFill/>
        </p:spPr>
        <p:txBody>
          <a:bodyPr wrap="square" lIns="0" rIns="0" tIns="0" bIns="0">
            <a:spAutoFit/>
          </a:bodyPr>
          <a:lstStyle/>
          <a:p>
            <a:pPr algn="l">
              <a:lnSpc>
                <a:spcPct val="112000"/>
              </a:lnSpc>
              <a:spcBef>
                <a:spcPts val="0"/>
              </a:spcBef>
              <a:spcAft>
                <a:spcPts val="0"/>
              </a:spcAft>
            </a:pPr>
            <a:r>
              <a:rPr sz="1728" b="1">
                <a:solidFill>
                  <a:srgbClr val="1B2D40"/>
                </a:solidFill>
                <a:latin typeface="Segoe UI"/>
              </a:rPr>
              <a:t>Python</a:t>
            </a:r>
          </a:p>
        </p:txBody>
      </p:sp>
      <p:sp>
        <p:nvSpPr>
          <p:cNvPr id="25" name="Rounded Rectangle 24"/>
          <p:cNvSpPr/>
          <p:nvPr/>
        </p:nvSpPr>
        <p:spPr>
          <a:xfrm>
            <a:off x="1984248" y="6044184"/>
            <a:ext cx="5257800" cy="210312"/>
          </a:xfrm>
          <a:prstGeom prst="roundRect">
            <a:avLst>
              <a:gd name="adj" fmla="val 13043"/>
            </a:avLst>
          </a:prstGeom>
          <a:solidFill>
            <a:srgbClr val="E7E6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984248" y="6044184"/>
            <a:ext cx="4406036" cy="210312"/>
          </a:xfrm>
          <a:prstGeom prst="roundRect">
            <a:avLst>
              <a:gd name="adj" fmla="val 13043"/>
            </a:avLst>
          </a:prstGeom>
          <a:solidFill>
            <a:srgbClr val="14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5998464"/>
            <a:ext cx="1005840" cy="329184"/>
          </a:xfrm>
          <a:prstGeom prst="rect">
            <a:avLst/>
          </a:prstGeom>
          <a:noFill/>
        </p:spPr>
        <p:txBody>
          <a:bodyPr wrap="square" lIns="0" rIns="0" tIns="0" bIns="0">
            <a:spAutoFit/>
          </a:bodyPr>
          <a:lstStyle/>
          <a:p>
            <a:pPr algn="l">
              <a:lnSpc>
                <a:spcPct val="112000"/>
              </a:lnSpc>
              <a:spcBef>
                <a:spcPts val="0"/>
              </a:spcBef>
              <a:spcAft>
                <a:spcPts val="0"/>
              </a:spcAft>
            </a:pPr>
            <a:r>
              <a:rPr sz="1728" b="1">
                <a:solidFill>
                  <a:srgbClr val="1B2D40"/>
                </a:solidFill>
                <a:latin typeface="Segoe UI"/>
              </a:rPr>
              <a:t>41.9%</a:t>
            </a:r>
          </a:p>
        </p:txBody>
      </p:sp>
      <p:sp>
        <p:nvSpPr>
          <p:cNvPr id="28" name="TextBox 27"/>
          <p:cNvSpPr txBox="1"/>
          <p:nvPr/>
        </p:nvSpPr>
        <p:spPr>
          <a:xfrm>
            <a:off x="694944" y="6382512"/>
            <a:ext cx="1207008" cy="320040"/>
          </a:xfrm>
          <a:prstGeom prst="rect">
            <a:avLst/>
          </a:prstGeom>
          <a:noFill/>
        </p:spPr>
        <p:txBody>
          <a:bodyPr wrap="square" lIns="0" rIns="0" tIns="0" bIns="0">
            <a:spAutoFit/>
          </a:bodyPr>
          <a:lstStyle/>
          <a:p>
            <a:pPr algn="l">
              <a:lnSpc>
                <a:spcPct val="112000"/>
              </a:lnSpc>
              <a:spcBef>
                <a:spcPts val="0"/>
              </a:spcBef>
              <a:spcAft>
                <a:spcPts val="0"/>
              </a:spcAft>
            </a:pPr>
            <a:r>
              <a:rPr sz="1728" b="1">
                <a:solidFill>
                  <a:srgbClr val="1B2D40"/>
                </a:solidFill>
                <a:latin typeface="Segoe UI"/>
              </a:rPr>
              <a:t>R</a:t>
            </a:r>
          </a:p>
        </p:txBody>
      </p:sp>
      <p:sp>
        <p:nvSpPr>
          <p:cNvPr id="29" name="Rounded Rectangle 28"/>
          <p:cNvSpPr/>
          <p:nvPr/>
        </p:nvSpPr>
        <p:spPr>
          <a:xfrm>
            <a:off x="1984248" y="6409944"/>
            <a:ext cx="5257800" cy="210312"/>
          </a:xfrm>
          <a:prstGeom prst="roundRect">
            <a:avLst>
              <a:gd name="adj" fmla="val 13043"/>
            </a:avLst>
          </a:prstGeom>
          <a:solidFill>
            <a:srgbClr val="E7E6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984248" y="6409944"/>
            <a:ext cx="4406036" cy="210312"/>
          </a:xfrm>
          <a:prstGeom prst="roundRect">
            <a:avLst>
              <a:gd name="adj" fmla="val 13043"/>
            </a:avLst>
          </a:prstGeom>
          <a:solidFill>
            <a:srgbClr val="14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0" y="6364224"/>
            <a:ext cx="1005840" cy="329184"/>
          </a:xfrm>
          <a:prstGeom prst="rect">
            <a:avLst/>
          </a:prstGeom>
          <a:noFill/>
        </p:spPr>
        <p:txBody>
          <a:bodyPr wrap="square" lIns="0" rIns="0" tIns="0" bIns="0">
            <a:spAutoFit/>
          </a:bodyPr>
          <a:lstStyle/>
          <a:p>
            <a:pPr algn="l">
              <a:lnSpc>
                <a:spcPct val="112000"/>
              </a:lnSpc>
              <a:spcBef>
                <a:spcPts val="0"/>
              </a:spcBef>
              <a:spcAft>
                <a:spcPts val="0"/>
              </a:spcAft>
            </a:pPr>
            <a:r>
              <a:rPr sz="1728" b="1">
                <a:solidFill>
                  <a:srgbClr val="1B2D40"/>
                </a:solidFill>
                <a:latin typeface="Segoe UI"/>
              </a:rPr>
              <a:t>41.9%</a:t>
            </a:r>
          </a:p>
        </p:txBody>
      </p:sp>
      <p:sp>
        <p:nvSpPr>
          <p:cNvPr id="32" name="TextBox 31"/>
          <p:cNvSpPr txBox="1"/>
          <p:nvPr/>
        </p:nvSpPr>
        <p:spPr>
          <a:xfrm>
            <a:off x="694944" y="6748272"/>
            <a:ext cx="1207008" cy="320040"/>
          </a:xfrm>
          <a:prstGeom prst="rect">
            <a:avLst/>
          </a:prstGeom>
          <a:noFill/>
        </p:spPr>
        <p:txBody>
          <a:bodyPr wrap="square" lIns="0" rIns="0" tIns="0" bIns="0">
            <a:spAutoFit/>
          </a:bodyPr>
          <a:lstStyle/>
          <a:p>
            <a:pPr algn="l">
              <a:lnSpc>
                <a:spcPct val="112000"/>
              </a:lnSpc>
              <a:spcBef>
                <a:spcPts val="0"/>
              </a:spcBef>
              <a:spcAft>
                <a:spcPts val="0"/>
              </a:spcAft>
            </a:pPr>
            <a:r>
              <a:rPr sz="1728" b="1">
                <a:solidFill>
                  <a:srgbClr val="1B2D40"/>
                </a:solidFill>
                <a:latin typeface="Segoe UI"/>
              </a:rPr>
              <a:t>SPSS</a:t>
            </a:r>
          </a:p>
        </p:txBody>
      </p:sp>
      <p:sp>
        <p:nvSpPr>
          <p:cNvPr id="33" name="Rounded Rectangle 32"/>
          <p:cNvSpPr/>
          <p:nvPr/>
        </p:nvSpPr>
        <p:spPr>
          <a:xfrm>
            <a:off x="1984248" y="6775704"/>
            <a:ext cx="5257800" cy="210312"/>
          </a:xfrm>
          <a:prstGeom prst="roundRect">
            <a:avLst>
              <a:gd name="adj" fmla="val 13043"/>
            </a:avLst>
          </a:prstGeom>
          <a:solidFill>
            <a:srgbClr val="E7E6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1984248" y="6775704"/>
            <a:ext cx="1451152" cy="210312"/>
          </a:xfrm>
          <a:prstGeom prst="roundRect">
            <a:avLst>
              <a:gd name="adj" fmla="val 13043"/>
            </a:avLst>
          </a:prstGeom>
          <a:solidFill>
            <a:srgbClr val="14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06640" y="6729984"/>
            <a:ext cx="1005840" cy="329184"/>
          </a:xfrm>
          <a:prstGeom prst="rect">
            <a:avLst/>
          </a:prstGeom>
          <a:noFill/>
        </p:spPr>
        <p:txBody>
          <a:bodyPr wrap="square" lIns="0" rIns="0" tIns="0" bIns="0">
            <a:spAutoFit/>
          </a:bodyPr>
          <a:lstStyle/>
          <a:p>
            <a:pPr algn="l">
              <a:lnSpc>
                <a:spcPct val="112000"/>
              </a:lnSpc>
              <a:spcBef>
                <a:spcPts val="0"/>
              </a:spcBef>
              <a:spcAft>
                <a:spcPts val="0"/>
              </a:spcAft>
            </a:pPr>
            <a:r>
              <a:rPr sz="1728" b="1">
                <a:solidFill>
                  <a:srgbClr val="1B2D40"/>
                </a:solidFill>
                <a:latin typeface="Segoe UI"/>
              </a:rPr>
              <a:t>13.8%</a:t>
            </a:r>
          </a:p>
        </p:txBody>
      </p:sp>
      <p:sp>
        <p:nvSpPr>
          <p:cNvPr id="36" name="Rounded Rectangle 35"/>
          <p:cNvSpPr/>
          <p:nvPr/>
        </p:nvSpPr>
        <p:spPr>
          <a:xfrm>
            <a:off x="9006840" y="4818888"/>
            <a:ext cx="4965192" cy="2212848"/>
          </a:xfrm>
          <a:prstGeom prst="roundRect">
            <a:avLst>
              <a:gd name="adj" fmla="val 4958"/>
            </a:avLst>
          </a:prstGeom>
          <a:solidFill>
            <a:srgbClr val="FFF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299448" y="5074920"/>
            <a:ext cx="4389120" cy="768096"/>
          </a:xfrm>
          <a:prstGeom prst="rect">
            <a:avLst/>
          </a:prstGeom>
          <a:noFill/>
        </p:spPr>
        <p:txBody>
          <a:bodyPr wrap="square" lIns="0" rIns="0" tIns="0" bIns="0">
            <a:spAutoFit/>
          </a:bodyPr>
          <a:lstStyle/>
          <a:p>
            <a:pPr algn="l">
              <a:lnSpc>
                <a:spcPct val="112000"/>
              </a:lnSpc>
              <a:spcBef>
                <a:spcPts val="0"/>
              </a:spcBef>
              <a:spcAft>
                <a:spcPts val="0"/>
              </a:spcAft>
            </a:pPr>
            <a:r>
              <a:rPr sz="2664" b="1">
                <a:solidFill>
                  <a:srgbClr val="1B2D40"/>
                </a:solidFill>
                <a:latin typeface="Georgia"/>
              </a:rPr>
              <a:t>A direction, not a prediction.</a:t>
            </a:r>
          </a:p>
        </p:txBody>
      </p:sp>
      <p:sp>
        <p:nvSpPr>
          <p:cNvPr id="38" name="TextBox 37"/>
          <p:cNvSpPr txBox="1"/>
          <p:nvPr/>
        </p:nvSpPr>
        <p:spPr>
          <a:xfrm>
            <a:off x="9299448" y="5971032"/>
            <a:ext cx="4480560" cy="850392"/>
          </a:xfrm>
          <a:prstGeom prst="rect">
            <a:avLst/>
          </a:prstGeom>
          <a:noFill/>
        </p:spPr>
        <p:txBody>
          <a:bodyPr wrap="square" lIns="0" rIns="0" tIns="0" bIns="0">
            <a:spAutoFit/>
          </a:bodyPr>
          <a:lstStyle/>
          <a:p>
            <a:pPr algn="l">
              <a:lnSpc>
                <a:spcPct val="112000"/>
              </a:lnSpc>
              <a:spcBef>
                <a:spcPts val="0"/>
              </a:spcBef>
              <a:spcAft>
                <a:spcPts val="0"/>
              </a:spcAft>
            </a:pPr>
            <a:r>
              <a:rPr sz="1655" b="0">
                <a:solidFill>
                  <a:srgbClr val="586777"/>
                </a:solidFill>
                <a:latin typeface="Segoe UI"/>
              </a:rPr>
              <a:t>Share of sampled posts naming each skill.</a:t>
            </a:r>
          </a:p>
          <a:p>
            <a:pPr algn="l">
              <a:lnSpc>
                <a:spcPct val="112000"/>
              </a:lnSpc>
              <a:spcBef>
                <a:spcPts val="0"/>
              </a:spcBef>
              <a:spcAft>
                <a:spcPts val="0"/>
              </a:spcAft>
            </a:pPr>
            <a:r>
              <a:rPr sz="1655" b="0">
                <a:solidFill>
                  <a:srgbClr val="586777"/>
                </a:solidFill>
                <a:latin typeface="Segoe UI"/>
              </a:rPr>
              <a:t>One post can mention several skills.</a:t>
            </a:r>
          </a:p>
          <a:p>
            <a:pPr algn="l">
              <a:lnSpc>
                <a:spcPct val="112000"/>
              </a:lnSpc>
              <a:spcBef>
                <a:spcPts val="0"/>
              </a:spcBef>
              <a:spcAft>
                <a:spcPts val="0"/>
              </a:spcAft>
            </a:pPr>
            <a:r>
              <a:rPr sz="1655" b="0">
                <a:solidFill>
                  <a:srgbClr val="586777"/>
                </a:solidFill>
                <a:latin typeface="Segoe UI"/>
              </a:rPr>
              <a:t>2023 sample; not current vacancies.</a:t>
            </a:r>
          </a:p>
        </p:txBody>
      </p:sp>
      <p:sp>
        <p:nvSpPr>
          <p:cNvPr id="39" name="TextBox 38"/>
          <p:cNvSpPr txBox="1"/>
          <p:nvPr/>
        </p:nvSpPr>
        <p:spPr>
          <a:xfrm>
            <a:off x="694944" y="7269480"/>
            <a:ext cx="12801600" cy="237744"/>
          </a:xfrm>
          <a:prstGeom prst="rect">
            <a:avLst/>
          </a:prstGeom>
          <a:noFill/>
        </p:spPr>
        <p:txBody>
          <a:bodyPr wrap="square" lIns="0" rIns="0" tIns="0" bIns="0">
            <a:spAutoFit/>
          </a:bodyPr>
          <a:lstStyle/>
          <a:p>
            <a:pPr algn="l">
              <a:lnSpc>
                <a:spcPct val="112000"/>
              </a:lnSpc>
              <a:spcBef>
                <a:spcPts val="0"/>
              </a:spcBef>
              <a:spcAft>
                <a:spcPts val="0"/>
              </a:spcAft>
            </a:pPr>
            <a:r>
              <a:rPr sz="1224" b="0">
                <a:solidFill>
                  <a:srgbClr val="586777"/>
                </a:solidFill>
                <a:latin typeface="Segoe UI"/>
                <a:hlinkClick r:id="rId2"/>
              </a:rPr>
              <a:t>Source: Hugging Face · lukebarousse/data_jobs · Apache-2.0 ·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283F"/>
        </a:solidFill>
        <a:effectLst/>
      </p:bgPr>
    </p:bg>
    <p:spTree>
      <p:nvGrpSpPr>
        <p:cNvPr id="1" name=""/>
        <p:cNvGrpSpPr/>
        <p:nvPr/>
      </p:nvGrpSpPr>
      <p:grpSpPr/>
      <p:sp>
        <p:nvSpPr>
          <p:cNvPr id="2" name="Rectangle 1"/>
          <p:cNvSpPr/>
          <p:nvPr/>
        </p:nvSpPr>
        <p:spPr>
          <a:xfrm>
            <a:off x="658368" y="493776"/>
            <a:ext cx="347472" cy="45720"/>
          </a:xfrm>
          <a:prstGeom prst="rect">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79576" y="365760"/>
            <a:ext cx="12070080" cy="283464"/>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F27B43"/>
                </a:solidFill>
                <a:latin typeface="Segoe UI"/>
              </a:rPr>
              <a:t>04  /  AI ARCHITECTURE &amp; RELEVANCE</a:t>
            </a:r>
          </a:p>
        </p:txBody>
      </p:sp>
      <p:sp>
        <p:nvSpPr>
          <p:cNvPr id="4" name="TextBox 3"/>
          <p:cNvSpPr txBox="1"/>
          <p:nvPr/>
        </p:nvSpPr>
        <p:spPr>
          <a:xfrm>
            <a:off x="658368" y="996696"/>
            <a:ext cx="13313664" cy="1371600"/>
          </a:xfrm>
          <a:prstGeom prst="rect">
            <a:avLst/>
          </a:prstGeom>
          <a:noFill/>
        </p:spPr>
        <p:txBody>
          <a:bodyPr wrap="square" lIns="0" rIns="0" tIns="0" bIns="0">
            <a:spAutoFit/>
          </a:bodyPr>
          <a:lstStyle/>
          <a:p>
            <a:pPr algn="l">
              <a:lnSpc>
                <a:spcPct val="112000"/>
              </a:lnSpc>
              <a:spcBef>
                <a:spcPts val="0"/>
              </a:spcBef>
              <a:spcAft>
                <a:spcPts val="0"/>
              </a:spcAft>
            </a:pPr>
            <a:r>
              <a:rPr sz="4680" b="1">
                <a:solidFill>
                  <a:srgbClr val="F7F4EC"/>
                </a:solidFill>
                <a:latin typeface="Georgia"/>
              </a:rPr>
              <a:t>Ground the facts. Personalize the next step.</a:t>
            </a:r>
          </a:p>
        </p:txBody>
      </p:sp>
      <p:sp>
        <p:nvSpPr>
          <p:cNvPr id="5" name="TextBox 4"/>
          <p:cNvSpPr txBox="1"/>
          <p:nvPr/>
        </p:nvSpPr>
        <p:spPr>
          <a:xfrm>
            <a:off x="685800" y="2514600"/>
            <a:ext cx="13167360" cy="640080"/>
          </a:xfrm>
          <a:prstGeom prst="rect">
            <a:avLst/>
          </a:prstGeom>
          <a:noFill/>
        </p:spPr>
        <p:txBody>
          <a:bodyPr wrap="square" lIns="0" rIns="0" tIns="0" bIns="0">
            <a:spAutoFit/>
          </a:bodyPr>
          <a:lstStyle/>
          <a:p>
            <a:pPr algn="l">
              <a:lnSpc>
                <a:spcPct val="112000"/>
              </a:lnSpc>
              <a:spcBef>
                <a:spcPts val="0"/>
              </a:spcBef>
              <a:spcAft>
                <a:spcPts val="0"/>
              </a:spcAft>
            </a:pPr>
            <a:r>
              <a:rPr sz="1872" b="0">
                <a:solidFill>
                  <a:srgbClr val="D4DEE6"/>
                </a:solidFill>
                <a:latin typeface="Segoe UI"/>
              </a:rPr>
              <a:t>AI asks and coaches; code computes market figures and keeps only source-verified web results.</a:t>
            </a:r>
          </a:p>
        </p:txBody>
      </p:sp>
      <p:sp>
        <p:nvSpPr>
          <p:cNvPr id="6" name="Rectangle 5"/>
          <p:cNvSpPr/>
          <p:nvPr/>
        </p:nvSpPr>
        <p:spPr>
          <a:xfrm>
            <a:off x="658368" y="7662672"/>
            <a:ext cx="13313664" cy="9144"/>
          </a:xfrm>
          <a:prstGeom prst="rect">
            <a:avLst/>
          </a:prstGeom>
          <a:solidFill>
            <a:srgbClr val="3850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6656" y="7799831"/>
            <a:ext cx="10058400" cy="228600"/>
          </a:xfrm>
          <a:prstGeom prst="rect">
            <a:avLst/>
          </a:prstGeom>
          <a:noFill/>
        </p:spPr>
        <p:txBody>
          <a:bodyPr wrap="square" lIns="0" rIns="0" tIns="0" bIns="0">
            <a:spAutoFit/>
          </a:bodyPr>
          <a:lstStyle/>
          <a:p>
            <a:pPr algn="l">
              <a:lnSpc>
                <a:spcPct val="112000"/>
              </a:lnSpc>
              <a:spcBef>
                <a:spcPts val="0"/>
              </a:spcBef>
              <a:spcAft>
                <a:spcPts val="0"/>
              </a:spcAft>
            </a:pPr>
            <a:r>
              <a:rPr sz="1152" b="0">
                <a:solidFill>
                  <a:srgbClr val="D4DEE6"/>
                </a:solidFill>
                <a:latin typeface="Segoe UI"/>
              </a:rPr>
              <a:t>NJIA  /  DHRUZZZ  /  KENYA · ONLINE</a:t>
            </a:r>
          </a:p>
        </p:txBody>
      </p:sp>
      <p:sp>
        <p:nvSpPr>
          <p:cNvPr id="8" name="TextBox 7"/>
          <p:cNvSpPr txBox="1"/>
          <p:nvPr/>
        </p:nvSpPr>
        <p:spPr>
          <a:xfrm>
            <a:off x="12801600" y="7781544"/>
            <a:ext cx="1170432" cy="256032"/>
          </a:xfrm>
          <a:prstGeom prst="rect">
            <a:avLst/>
          </a:prstGeom>
          <a:noFill/>
        </p:spPr>
        <p:txBody>
          <a:bodyPr wrap="square" lIns="0" rIns="0" tIns="0" bIns="0">
            <a:spAutoFit/>
          </a:bodyPr>
          <a:lstStyle/>
          <a:p>
            <a:pPr algn="r">
              <a:lnSpc>
                <a:spcPct val="112000"/>
              </a:lnSpc>
              <a:spcBef>
                <a:spcPts val="0"/>
              </a:spcBef>
              <a:spcAft>
                <a:spcPts val="0"/>
              </a:spcAft>
            </a:pPr>
            <a:r>
              <a:rPr sz="1296" b="0">
                <a:solidFill>
                  <a:srgbClr val="D4DEE6"/>
                </a:solidFill>
                <a:latin typeface="Segoe UI"/>
              </a:rPr>
              <a:t>04 / 08</a:t>
            </a:r>
          </a:p>
        </p:txBody>
      </p:sp>
      <p:sp>
        <p:nvSpPr>
          <p:cNvPr id="9" name="Rounded Rectangle 8"/>
          <p:cNvSpPr/>
          <p:nvPr/>
        </p:nvSpPr>
        <p:spPr>
          <a:xfrm>
            <a:off x="694944" y="3465576"/>
            <a:ext cx="3145536" cy="2468880"/>
          </a:xfrm>
          <a:prstGeom prst="roundRect">
            <a:avLst>
              <a:gd name="adj" fmla="val 4444"/>
            </a:avLst>
          </a:prstGeom>
          <a:solidFill>
            <a:srgbClr val="203A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23544" y="3621024"/>
            <a:ext cx="2606040" cy="512064"/>
          </a:xfrm>
          <a:prstGeom prst="rect">
            <a:avLst/>
          </a:prstGeom>
          <a:noFill/>
        </p:spPr>
        <p:txBody>
          <a:bodyPr wrap="square" lIns="0" rIns="0" tIns="0" bIns="0">
            <a:spAutoFit/>
          </a:bodyPr>
          <a:lstStyle/>
          <a:p>
            <a:pPr algn="l">
              <a:lnSpc>
                <a:spcPct val="112000"/>
              </a:lnSpc>
              <a:spcBef>
                <a:spcPts val="0"/>
              </a:spcBef>
              <a:spcAft>
                <a:spcPts val="0"/>
              </a:spcAft>
            </a:pPr>
            <a:r>
              <a:rPr sz="2879" b="1">
                <a:solidFill>
                  <a:srgbClr val="F27B43"/>
                </a:solidFill>
                <a:latin typeface="Georgia"/>
              </a:rPr>
              <a:t>01</a:t>
            </a:r>
          </a:p>
        </p:txBody>
      </p:sp>
      <p:sp>
        <p:nvSpPr>
          <p:cNvPr id="11" name="TextBox 10"/>
          <p:cNvSpPr txBox="1"/>
          <p:nvPr/>
        </p:nvSpPr>
        <p:spPr>
          <a:xfrm>
            <a:off x="923544" y="4187952"/>
            <a:ext cx="2688336" cy="384048"/>
          </a:xfrm>
          <a:prstGeom prst="rect">
            <a:avLst/>
          </a:prstGeom>
          <a:noFill/>
        </p:spPr>
        <p:txBody>
          <a:bodyPr wrap="square" lIns="0" rIns="0" tIns="0" bIns="0">
            <a:spAutoFit/>
          </a:bodyPr>
          <a:lstStyle/>
          <a:p>
            <a:pPr algn="l">
              <a:lnSpc>
                <a:spcPct val="112000"/>
              </a:lnSpc>
              <a:spcBef>
                <a:spcPts val="0"/>
              </a:spcBef>
              <a:spcAft>
                <a:spcPts val="0"/>
              </a:spcAft>
            </a:pPr>
            <a:r>
              <a:rPr sz="2160" b="1">
                <a:solidFill>
                  <a:srgbClr val="F7F4EC"/>
                </a:solidFill>
                <a:latin typeface="Segoe UI"/>
              </a:rPr>
              <a:t>CV + answers</a:t>
            </a:r>
          </a:p>
        </p:txBody>
      </p:sp>
      <p:sp>
        <p:nvSpPr>
          <p:cNvPr id="12" name="TextBox 11"/>
          <p:cNvSpPr txBox="1"/>
          <p:nvPr/>
        </p:nvSpPr>
        <p:spPr>
          <a:xfrm>
            <a:off x="923544" y="4681728"/>
            <a:ext cx="2788920" cy="1078992"/>
          </a:xfrm>
          <a:prstGeom prst="rect">
            <a:avLst/>
          </a:prstGeom>
          <a:noFill/>
        </p:spPr>
        <p:txBody>
          <a:bodyPr wrap="square" lIns="0" rIns="0" tIns="0" bIns="0">
            <a:spAutoFit/>
          </a:bodyPr>
          <a:lstStyle/>
          <a:p>
            <a:pPr algn="l">
              <a:lnSpc>
                <a:spcPct val="112000"/>
              </a:lnSpc>
              <a:spcBef>
                <a:spcPts val="0"/>
              </a:spcBef>
              <a:spcAft>
                <a:spcPts val="0"/>
              </a:spcAft>
            </a:pPr>
            <a:r>
              <a:rPr sz="1584" b="0">
                <a:solidFill>
                  <a:srgbClr val="D4DEE6"/>
                </a:solidFill>
                <a:latin typeface="Segoe UI"/>
              </a:rPr>
              <a:t>Opt-in + PII redaction</a:t>
            </a:r>
          </a:p>
          <a:p>
            <a:pPr algn="l">
              <a:lnSpc>
                <a:spcPct val="112000"/>
              </a:lnSpc>
              <a:spcBef>
                <a:spcPts val="0"/>
              </a:spcBef>
              <a:spcAft>
                <a:spcPts val="0"/>
              </a:spcAft>
            </a:pPr>
            <a:r>
              <a:rPr sz="1584" b="0">
                <a:solidFill>
                  <a:srgbClr val="D4DEE6"/>
                </a:solidFill>
                <a:latin typeface="Segoe UI"/>
              </a:rPr>
              <a:t>Country + target role</a:t>
            </a:r>
          </a:p>
          <a:p>
            <a:pPr algn="l">
              <a:lnSpc>
                <a:spcPct val="112000"/>
              </a:lnSpc>
              <a:spcBef>
                <a:spcPts val="0"/>
              </a:spcBef>
              <a:spcAft>
                <a:spcPts val="0"/>
              </a:spcAft>
            </a:pPr>
            <a:r>
              <a:rPr sz="1584" b="0">
                <a:solidFill>
                  <a:srgbClr val="D4DEE6"/>
                </a:solidFill>
                <a:latin typeface="Segoe UI"/>
              </a:rPr>
              <a:t>3–5 follow-up questions</a:t>
            </a:r>
          </a:p>
          <a:p>
            <a:pPr algn="l">
              <a:lnSpc>
                <a:spcPct val="112000"/>
              </a:lnSpc>
              <a:spcBef>
                <a:spcPts val="0"/>
              </a:spcBef>
              <a:spcAft>
                <a:spcPts val="0"/>
              </a:spcAft>
            </a:pPr>
            <a:r>
              <a:rPr sz="1584" b="0">
                <a:solidFill>
                  <a:srgbClr val="D4DEE6"/>
                </a:solidFill>
                <a:latin typeface="Segoe UI"/>
              </a:rPr>
              <a:t>Answers reshape skills</a:t>
            </a:r>
          </a:p>
        </p:txBody>
      </p:sp>
      <p:sp>
        <p:nvSpPr>
          <p:cNvPr id="13" name="TextBox 12"/>
          <p:cNvSpPr txBox="1"/>
          <p:nvPr/>
        </p:nvSpPr>
        <p:spPr>
          <a:xfrm>
            <a:off x="3840480" y="4206240"/>
            <a:ext cx="256032" cy="457200"/>
          </a:xfrm>
          <a:prstGeom prst="rect">
            <a:avLst/>
          </a:prstGeom>
          <a:noFill/>
        </p:spPr>
        <p:txBody>
          <a:bodyPr wrap="square" lIns="0" rIns="0" tIns="0" bIns="0">
            <a:spAutoFit/>
          </a:bodyPr>
          <a:lstStyle/>
          <a:p>
            <a:pPr algn="ctr">
              <a:lnSpc>
                <a:spcPct val="112000"/>
              </a:lnSpc>
              <a:spcBef>
                <a:spcPts val="0"/>
              </a:spcBef>
              <a:spcAft>
                <a:spcPts val="0"/>
              </a:spcAft>
            </a:pPr>
            <a:r>
              <a:rPr sz="1943" b="1">
                <a:solidFill>
                  <a:srgbClr val="F27B43"/>
                </a:solidFill>
                <a:latin typeface="Segoe UI"/>
              </a:rPr>
              <a:t>→</a:t>
            </a:r>
          </a:p>
        </p:txBody>
      </p:sp>
      <p:sp>
        <p:nvSpPr>
          <p:cNvPr id="14" name="Rounded Rectangle 13"/>
          <p:cNvSpPr/>
          <p:nvPr/>
        </p:nvSpPr>
        <p:spPr>
          <a:xfrm>
            <a:off x="4078224" y="3465576"/>
            <a:ext cx="3145536" cy="2468880"/>
          </a:xfrm>
          <a:prstGeom prst="roundRect">
            <a:avLst>
              <a:gd name="adj" fmla="val 4444"/>
            </a:avLst>
          </a:prstGeom>
          <a:solidFill>
            <a:srgbClr val="203A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06824" y="3621024"/>
            <a:ext cx="2606040" cy="512064"/>
          </a:xfrm>
          <a:prstGeom prst="rect">
            <a:avLst/>
          </a:prstGeom>
          <a:noFill/>
        </p:spPr>
        <p:txBody>
          <a:bodyPr wrap="square" lIns="0" rIns="0" tIns="0" bIns="0">
            <a:spAutoFit/>
          </a:bodyPr>
          <a:lstStyle/>
          <a:p>
            <a:pPr algn="l">
              <a:lnSpc>
                <a:spcPct val="112000"/>
              </a:lnSpc>
              <a:spcBef>
                <a:spcPts val="0"/>
              </a:spcBef>
              <a:spcAft>
                <a:spcPts val="0"/>
              </a:spcAft>
            </a:pPr>
            <a:r>
              <a:rPr sz="2879" b="1">
                <a:solidFill>
                  <a:srgbClr val="F27B43"/>
                </a:solidFill>
                <a:latin typeface="Georgia"/>
              </a:rPr>
              <a:t>02</a:t>
            </a:r>
          </a:p>
        </p:txBody>
      </p:sp>
      <p:sp>
        <p:nvSpPr>
          <p:cNvPr id="16" name="TextBox 15"/>
          <p:cNvSpPr txBox="1"/>
          <p:nvPr/>
        </p:nvSpPr>
        <p:spPr>
          <a:xfrm>
            <a:off x="4306824" y="4187952"/>
            <a:ext cx="2688336" cy="384048"/>
          </a:xfrm>
          <a:prstGeom prst="rect">
            <a:avLst/>
          </a:prstGeom>
          <a:noFill/>
        </p:spPr>
        <p:txBody>
          <a:bodyPr wrap="square" lIns="0" rIns="0" tIns="0" bIns="0">
            <a:spAutoFit/>
          </a:bodyPr>
          <a:lstStyle/>
          <a:p>
            <a:pPr algn="l">
              <a:lnSpc>
                <a:spcPct val="112000"/>
              </a:lnSpc>
              <a:spcBef>
                <a:spcPts val="0"/>
              </a:spcBef>
              <a:spcAft>
                <a:spcPts val="0"/>
              </a:spcAft>
            </a:pPr>
            <a:r>
              <a:rPr sz="2160" b="1">
                <a:solidFill>
                  <a:srgbClr val="F7F4EC"/>
                </a:solidFill>
                <a:latin typeface="Segoe UI"/>
              </a:rPr>
              <a:t>Grounding</a:t>
            </a:r>
          </a:p>
        </p:txBody>
      </p:sp>
      <p:sp>
        <p:nvSpPr>
          <p:cNvPr id="17" name="TextBox 16"/>
          <p:cNvSpPr txBox="1"/>
          <p:nvPr/>
        </p:nvSpPr>
        <p:spPr>
          <a:xfrm>
            <a:off x="4306824" y="4681728"/>
            <a:ext cx="2788920" cy="1078992"/>
          </a:xfrm>
          <a:prstGeom prst="rect">
            <a:avLst/>
          </a:prstGeom>
          <a:noFill/>
        </p:spPr>
        <p:txBody>
          <a:bodyPr wrap="square" lIns="0" rIns="0" tIns="0" bIns="0">
            <a:spAutoFit/>
          </a:bodyPr>
          <a:lstStyle/>
          <a:p>
            <a:pPr algn="l">
              <a:lnSpc>
                <a:spcPct val="112000"/>
              </a:lnSpc>
              <a:spcBef>
                <a:spcPts val="0"/>
              </a:spcBef>
              <a:spcAft>
                <a:spcPts val="0"/>
              </a:spcAft>
            </a:pPr>
            <a:r>
              <a:rPr sz="1584" b="0">
                <a:solidFill>
                  <a:srgbClr val="D4DEE6"/>
                </a:solidFill>
                <a:latin typeface="Segoe UI"/>
              </a:rPr>
              <a:t>CV + answer evidence</a:t>
            </a:r>
          </a:p>
          <a:p>
            <a:pPr algn="l">
              <a:lnSpc>
                <a:spcPct val="112000"/>
              </a:lnSpc>
              <a:spcBef>
                <a:spcPts val="0"/>
              </a:spcBef>
              <a:spcAft>
                <a:spcPts val="0"/>
              </a:spcAft>
            </a:pPr>
            <a:r>
              <a:rPr sz="1584" b="0">
                <a:solidFill>
                  <a:srgbClr val="D4DEE6"/>
                </a:solidFill>
                <a:latin typeface="Segoe UI"/>
              </a:rPr>
              <a:t>Fixed 2023 demand data</a:t>
            </a:r>
          </a:p>
          <a:p>
            <a:pPr algn="l">
              <a:lnSpc>
                <a:spcPct val="112000"/>
              </a:lnSpc>
              <a:spcBef>
                <a:spcPts val="0"/>
              </a:spcBef>
              <a:spcAft>
                <a:spcPts val="0"/>
              </a:spcAft>
            </a:pPr>
            <a:r>
              <a:rPr sz="1584" b="0">
                <a:solidFill>
                  <a:srgbClr val="D4DEE6"/>
                </a:solidFill>
                <a:latin typeface="Segoe UI"/>
              </a:rPr>
              <a:t>Allowed skill vocabulary</a:t>
            </a:r>
          </a:p>
          <a:p>
            <a:pPr algn="l">
              <a:lnSpc>
                <a:spcPct val="112000"/>
              </a:lnSpc>
              <a:spcBef>
                <a:spcPts val="0"/>
              </a:spcBef>
              <a:spcAft>
                <a:spcPts val="0"/>
              </a:spcAft>
            </a:pPr>
            <a:r>
              <a:rPr sz="1584" b="0">
                <a:solidFill>
                  <a:srgbClr val="D4DEE6"/>
                </a:solidFill>
                <a:latin typeface="Segoe UI"/>
              </a:rPr>
              <a:t>Match % = skill overlap</a:t>
            </a:r>
          </a:p>
        </p:txBody>
      </p:sp>
      <p:sp>
        <p:nvSpPr>
          <p:cNvPr id="18" name="TextBox 17"/>
          <p:cNvSpPr txBox="1"/>
          <p:nvPr/>
        </p:nvSpPr>
        <p:spPr>
          <a:xfrm>
            <a:off x="7223760" y="4206240"/>
            <a:ext cx="256032" cy="457200"/>
          </a:xfrm>
          <a:prstGeom prst="rect">
            <a:avLst/>
          </a:prstGeom>
          <a:noFill/>
        </p:spPr>
        <p:txBody>
          <a:bodyPr wrap="square" lIns="0" rIns="0" tIns="0" bIns="0">
            <a:spAutoFit/>
          </a:bodyPr>
          <a:lstStyle/>
          <a:p>
            <a:pPr algn="ctr">
              <a:lnSpc>
                <a:spcPct val="112000"/>
              </a:lnSpc>
              <a:spcBef>
                <a:spcPts val="0"/>
              </a:spcBef>
              <a:spcAft>
                <a:spcPts val="0"/>
              </a:spcAft>
            </a:pPr>
            <a:r>
              <a:rPr sz="1943" b="1">
                <a:solidFill>
                  <a:srgbClr val="F27B43"/>
                </a:solidFill>
                <a:latin typeface="Segoe UI"/>
              </a:rPr>
              <a:t>→</a:t>
            </a:r>
          </a:p>
        </p:txBody>
      </p:sp>
      <p:sp>
        <p:nvSpPr>
          <p:cNvPr id="19" name="Rounded Rectangle 18"/>
          <p:cNvSpPr/>
          <p:nvPr/>
        </p:nvSpPr>
        <p:spPr>
          <a:xfrm>
            <a:off x="7461504" y="3465576"/>
            <a:ext cx="3145536" cy="2468880"/>
          </a:xfrm>
          <a:prstGeom prst="roundRect">
            <a:avLst>
              <a:gd name="adj" fmla="val 4444"/>
            </a:avLst>
          </a:prstGeom>
          <a:solidFill>
            <a:srgbClr val="203A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90104" y="3621024"/>
            <a:ext cx="2606040" cy="512064"/>
          </a:xfrm>
          <a:prstGeom prst="rect">
            <a:avLst/>
          </a:prstGeom>
          <a:noFill/>
        </p:spPr>
        <p:txBody>
          <a:bodyPr wrap="square" lIns="0" rIns="0" tIns="0" bIns="0">
            <a:spAutoFit/>
          </a:bodyPr>
          <a:lstStyle/>
          <a:p>
            <a:pPr algn="l">
              <a:lnSpc>
                <a:spcPct val="112000"/>
              </a:lnSpc>
              <a:spcBef>
                <a:spcPts val="0"/>
              </a:spcBef>
              <a:spcAft>
                <a:spcPts val="0"/>
              </a:spcAft>
            </a:pPr>
            <a:r>
              <a:rPr sz="2879" b="1">
                <a:solidFill>
                  <a:srgbClr val="F27B43"/>
                </a:solidFill>
                <a:latin typeface="Georgia"/>
              </a:rPr>
              <a:t>03</a:t>
            </a:r>
          </a:p>
        </p:txBody>
      </p:sp>
      <p:sp>
        <p:nvSpPr>
          <p:cNvPr id="21" name="TextBox 20"/>
          <p:cNvSpPr txBox="1"/>
          <p:nvPr/>
        </p:nvSpPr>
        <p:spPr>
          <a:xfrm>
            <a:off x="7690104" y="4187952"/>
            <a:ext cx="2688336" cy="384048"/>
          </a:xfrm>
          <a:prstGeom prst="rect">
            <a:avLst/>
          </a:prstGeom>
          <a:noFill/>
        </p:spPr>
        <p:txBody>
          <a:bodyPr wrap="square" lIns="0" rIns="0" tIns="0" bIns="0">
            <a:spAutoFit/>
          </a:bodyPr>
          <a:lstStyle/>
          <a:p>
            <a:pPr algn="l">
              <a:lnSpc>
                <a:spcPct val="112000"/>
              </a:lnSpc>
              <a:spcBef>
                <a:spcPts val="0"/>
              </a:spcBef>
              <a:spcAft>
                <a:spcPts val="0"/>
              </a:spcAft>
            </a:pPr>
            <a:r>
              <a:rPr sz="2160" b="1">
                <a:solidFill>
                  <a:srgbClr val="F7F4EC"/>
                </a:solidFill>
                <a:latin typeface="Segoe UI"/>
              </a:rPr>
              <a:t>AI + sources</a:t>
            </a:r>
          </a:p>
        </p:txBody>
      </p:sp>
      <p:sp>
        <p:nvSpPr>
          <p:cNvPr id="22" name="TextBox 21"/>
          <p:cNvSpPr txBox="1"/>
          <p:nvPr/>
        </p:nvSpPr>
        <p:spPr>
          <a:xfrm>
            <a:off x="7690104" y="4681728"/>
            <a:ext cx="2788920" cy="1078992"/>
          </a:xfrm>
          <a:prstGeom prst="rect">
            <a:avLst/>
          </a:prstGeom>
          <a:noFill/>
        </p:spPr>
        <p:txBody>
          <a:bodyPr wrap="square" lIns="0" rIns="0" tIns="0" bIns="0">
            <a:spAutoFit/>
          </a:bodyPr>
          <a:lstStyle/>
          <a:p>
            <a:pPr algn="l">
              <a:lnSpc>
                <a:spcPct val="112000"/>
              </a:lnSpc>
              <a:spcBef>
                <a:spcPts val="0"/>
              </a:spcBef>
              <a:spcAft>
                <a:spcPts val="0"/>
              </a:spcAft>
            </a:pPr>
            <a:r>
              <a:rPr sz="1584" b="0">
                <a:solidFill>
                  <a:srgbClr val="D4DEE6"/>
                </a:solidFill>
                <a:latin typeface="Segoe UI"/>
              </a:rPr>
              <a:t>openai/gpt-oss-20b</a:t>
            </a:r>
          </a:p>
          <a:p>
            <a:pPr algn="l">
              <a:lnSpc>
                <a:spcPct val="112000"/>
              </a:lnSpc>
              <a:spcBef>
                <a:spcPts val="0"/>
              </a:spcBef>
              <a:spcAft>
                <a:spcPts val="0"/>
              </a:spcAft>
            </a:pPr>
            <a:r>
              <a:rPr sz="1584" b="0">
                <a:solidFill>
                  <a:srgbClr val="D4DEE6"/>
                </a:solidFill>
                <a:latin typeface="Segoe UI"/>
              </a:rPr>
              <a:t>Groq browser search</a:t>
            </a:r>
          </a:p>
          <a:p>
            <a:pPr algn="l">
              <a:lnSpc>
                <a:spcPct val="112000"/>
              </a:lnSpc>
              <a:spcBef>
                <a:spcPts val="0"/>
              </a:spcBef>
              <a:spcAft>
                <a:spcPts val="0"/>
              </a:spcAft>
            </a:pPr>
            <a:r>
              <a:rPr sz="1584" b="0">
                <a:solidFill>
                  <a:srgbClr val="D4DEE6"/>
                </a:solidFill>
                <a:latin typeface="Segoe UI"/>
              </a:rPr>
              <a:t>Himalayas jobs API</a:t>
            </a:r>
          </a:p>
          <a:p>
            <a:pPr algn="l">
              <a:lnSpc>
                <a:spcPct val="112000"/>
              </a:lnSpc>
              <a:spcBef>
                <a:spcPts val="0"/>
              </a:spcBef>
              <a:spcAft>
                <a:spcPts val="0"/>
              </a:spcAft>
            </a:pPr>
            <a:r>
              <a:rPr sz="1584" b="0">
                <a:solidFill>
                  <a:srgbClr val="D4DEE6"/>
                </a:solidFill>
                <a:latin typeface="Segoe UI"/>
              </a:rPr>
              <a:t>Structured JSON output</a:t>
            </a:r>
          </a:p>
        </p:txBody>
      </p:sp>
      <p:sp>
        <p:nvSpPr>
          <p:cNvPr id="23" name="TextBox 22"/>
          <p:cNvSpPr txBox="1"/>
          <p:nvPr/>
        </p:nvSpPr>
        <p:spPr>
          <a:xfrm>
            <a:off x="10607040" y="4206240"/>
            <a:ext cx="256032" cy="457200"/>
          </a:xfrm>
          <a:prstGeom prst="rect">
            <a:avLst/>
          </a:prstGeom>
          <a:noFill/>
        </p:spPr>
        <p:txBody>
          <a:bodyPr wrap="square" lIns="0" rIns="0" tIns="0" bIns="0">
            <a:spAutoFit/>
          </a:bodyPr>
          <a:lstStyle/>
          <a:p>
            <a:pPr algn="ctr">
              <a:lnSpc>
                <a:spcPct val="112000"/>
              </a:lnSpc>
              <a:spcBef>
                <a:spcPts val="0"/>
              </a:spcBef>
              <a:spcAft>
                <a:spcPts val="0"/>
              </a:spcAft>
            </a:pPr>
            <a:r>
              <a:rPr sz="1943" b="1">
                <a:solidFill>
                  <a:srgbClr val="F27B43"/>
                </a:solidFill>
                <a:latin typeface="Segoe UI"/>
              </a:rPr>
              <a:t>→</a:t>
            </a:r>
          </a:p>
        </p:txBody>
      </p:sp>
      <p:sp>
        <p:nvSpPr>
          <p:cNvPr id="24" name="Rounded Rectangle 23"/>
          <p:cNvSpPr/>
          <p:nvPr/>
        </p:nvSpPr>
        <p:spPr>
          <a:xfrm>
            <a:off x="10844784" y="3465576"/>
            <a:ext cx="3145536" cy="2468880"/>
          </a:xfrm>
          <a:prstGeom prst="roundRect">
            <a:avLst>
              <a:gd name="adj" fmla="val 4444"/>
            </a:avLst>
          </a:prstGeom>
          <a:solidFill>
            <a:srgbClr val="203A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73384" y="3621024"/>
            <a:ext cx="2606040" cy="512064"/>
          </a:xfrm>
          <a:prstGeom prst="rect">
            <a:avLst/>
          </a:prstGeom>
          <a:noFill/>
        </p:spPr>
        <p:txBody>
          <a:bodyPr wrap="square" lIns="0" rIns="0" tIns="0" bIns="0">
            <a:spAutoFit/>
          </a:bodyPr>
          <a:lstStyle/>
          <a:p>
            <a:pPr algn="l">
              <a:lnSpc>
                <a:spcPct val="112000"/>
              </a:lnSpc>
              <a:spcBef>
                <a:spcPts val="0"/>
              </a:spcBef>
              <a:spcAft>
                <a:spcPts val="0"/>
              </a:spcAft>
            </a:pPr>
            <a:r>
              <a:rPr sz="2879" b="1">
                <a:solidFill>
                  <a:srgbClr val="F27B43"/>
                </a:solidFill>
                <a:latin typeface="Georgia"/>
              </a:rPr>
              <a:t>04</a:t>
            </a:r>
          </a:p>
        </p:txBody>
      </p:sp>
      <p:sp>
        <p:nvSpPr>
          <p:cNvPr id="26" name="TextBox 25"/>
          <p:cNvSpPr txBox="1"/>
          <p:nvPr/>
        </p:nvSpPr>
        <p:spPr>
          <a:xfrm>
            <a:off x="11073384" y="4187952"/>
            <a:ext cx="2688336" cy="384048"/>
          </a:xfrm>
          <a:prstGeom prst="rect">
            <a:avLst/>
          </a:prstGeom>
          <a:noFill/>
        </p:spPr>
        <p:txBody>
          <a:bodyPr wrap="square" lIns="0" rIns="0" tIns="0" bIns="0">
            <a:spAutoFit/>
          </a:bodyPr>
          <a:lstStyle/>
          <a:p>
            <a:pPr algn="l">
              <a:lnSpc>
                <a:spcPct val="112000"/>
              </a:lnSpc>
              <a:spcBef>
                <a:spcPts val="0"/>
              </a:spcBef>
              <a:spcAft>
                <a:spcPts val="0"/>
              </a:spcAft>
            </a:pPr>
            <a:r>
              <a:rPr sz="2160" b="1">
                <a:solidFill>
                  <a:srgbClr val="F7F4EC"/>
                </a:solidFill>
                <a:latin typeface="Segoe UI"/>
              </a:rPr>
              <a:t>Checked output</a:t>
            </a:r>
          </a:p>
        </p:txBody>
      </p:sp>
      <p:sp>
        <p:nvSpPr>
          <p:cNvPr id="27" name="TextBox 26"/>
          <p:cNvSpPr txBox="1"/>
          <p:nvPr/>
        </p:nvSpPr>
        <p:spPr>
          <a:xfrm>
            <a:off x="11073384" y="4681728"/>
            <a:ext cx="2788920" cy="1078992"/>
          </a:xfrm>
          <a:prstGeom prst="rect">
            <a:avLst/>
          </a:prstGeom>
          <a:noFill/>
        </p:spPr>
        <p:txBody>
          <a:bodyPr wrap="square" lIns="0" rIns="0" tIns="0" bIns="0">
            <a:spAutoFit/>
          </a:bodyPr>
          <a:lstStyle/>
          <a:p>
            <a:pPr algn="l">
              <a:lnSpc>
                <a:spcPct val="112000"/>
              </a:lnSpc>
              <a:spcBef>
                <a:spcPts val="0"/>
              </a:spcBef>
              <a:spcAft>
                <a:spcPts val="0"/>
              </a:spcAft>
            </a:pPr>
            <a:r>
              <a:rPr sz="1584" b="0">
                <a:solidFill>
                  <a:srgbClr val="D4DEE6"/>
                </a:solidFill>
                <a:latin typeface="Segoe UI"/>
              </a:rPr>
              <a:t>Quote + rewrite checks</a:t>
            </a:r>
          </a:p>
          <a:p>
            <a:pPr algn="l">
              <a:lnSpc>
                <a:spcPct val="112000"/>
              </a:lnSpc>
              <a:spcBef>
                <a:spcPts val="0"/>
              </a:spcBef>
              <a:spcAft>
                <a:spcPts val="0"/>
              </a:spcAft>
            </a:pPr>
            <a:r>
              <a:rPr sz="1584" b="0">
                <a:solidFill>
                  <a:srgbClr val="D4DEE6"/>
                </a:solidFill>
                <a:latin typeface="Segoe UI"/>
              </a:rPr>
              <a:t>Web results kept only</a:t>
            </a:r>
          </a:p>
          <a:p>
            <a:pPr algn="l">
              <a:lnSpc>
                <a:spcPct val="112000"/>
              </a:lnSpc>
              <a:spcBef>
                <a:spcPts val="0"/>
              </a:spcBef>
              <a:spcAft>
                <a:spcPts val="0"/>
              </a:spcAft>
            </a:pPr>
            <a:r>
              <a:rPr sz="1584" b="0">
                <a:solidFill>
                  <a:srgbClr val="D4DEE6"/>
                </a:solidFill>
                <a:latin typeface="Segoe UI"/>
              </a:rPr>
              <a:t>if URL is in evidence</a:t>
            </a:r>
          </a:p>
          <a:p>
            <a:pPr algn="l">
              <a:lnSpc>
                <a:spcPct val="112000"/>
              </a:lnSpc>
              <a:spcBef>
                <a:spcPts val="0"/>
              </a:spcBef>
              <a:spcAft>
                <a:spcPts val="0"/>
              </a:spcAft>
            </a:pPr>
            <a:r>
              <a:rPr sz="1584" b="0">
                <a:solidFill>
                  <a:srgbClr val="D4DEE6"/>
                </a:solidFill>
                <a:latin typeface="Segoe UI"/>
              </a:rPr>
              <a:t>No-new-facts feedback</a:t>
            </a:r>
          </a:p>
        </p:txBody>
      </p:sp>
      <p:sp>
        <p:nvSpPr>
          <p:cNvPr id="28" name="Rounded Rectangle 27"/>
          <p:cNvSpPr/>
          <p:nvPr/>
        </p:nvSpPr>
        <p:spPr>
          <a:xfrm>
            <a:off x="694944" y="6227064"/>
            <a:ext cx="13277088" cy="1078992"/>
          </a:xfrm>
          <a:prstGeom prst="roundRect">
            <a:avLst>
              <a:gd name="adj" fmla="val 8474"/>
            </a:avLst>
          </a:prstGeom>
          <a:solidFill>
            <a:srgbClr val="2943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6409944"/>
            <a:ext cx="347472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F27B43"/>
                </a:solidFill>
                <a:latin typeface="Segoe UI"/>
              </a:rPr>
              <a:t>PRIVACY BOUNDARY</a:t>
            </a:r>
          </a:p>
        </p:txBody>
      </p:sp>
      <p:sp>
        <p:nvSpPr>
          <p:cNvPr id="30" name="TextBox 29"/>
          <p:cNvSpPr txBox="1"/>
          <p:nvPr/>
        </p:nvSpPr>
        <p:spPr>
          <a:xfrm>
            <a:off x="4297680" y="6382512"/>
            <a:ext cx="9418320" cy="338328"/>
          </a:xfrm>
          <a:prstGeom prst="rect">
            <a:avLst/>
          </a:prstGeom>
          <a:noFill/>
        </p:spPr>
        <p:txBody>
          <a:bodyPr wrap="square" lIns="0" rIns="0" tIns="0" bIns="0">
            <a:spAutoFit/>
          </a:bodyPr>
          <a:lstStyle/>
          <a:p>
            <a:pPr algn="l">
              <a:lnSpc>
                <a:spcPct val="112000"/>
              </a:lnSpc>
              <a:spcBef>
                <a:spcPts val="0"/>
              </a:spcBef>
              <a:spcAft>
                <a:spcPts val="0"/>
              </a:spcAft>
            </a:pPr>
            <a:r>
              <a:rPr sz="1872" b="1">
                <a:solidFill>
                  <a:srgbClr val="F7F4EC"/>
                </a:solidFill>
                <a:latin typeface="Segoe UI"/>
              </a:rPr>
              <a:t>Web search gets role, country + skill names — never CV text</a:t>
            </a:r>
          </a:p>
        </p:txBody>
      </p:sp>
      <p:sp>
        <p:nvSpPr>
          <p:cNvPr id="31" name="TextBox 30"/>
          <p:cNvSpPr txBox="1"/>
          <p:nvPr/>
        </p:nvSpPr>
        <p:spPr>
          <a:xfrm>
            <a:off x="960120" y="6867144"/>
            <a:ext cx="12664440" cy="274320"/>
          </a:xfrm>
          <a:prstGeom prst="rect">
            <a:avLst/>
          </a:prstGeom>
          <a:noFill/>
        </p:spPr>
        <p:txBody>
          <a:bodyPr wrap="square" lIns="0" rIns="0" tIns="0" bIns="0">
            <a:spAutoFit/>
          </a:bodyPr>
          <a:lstStyle/>
          <a:p>
            <a:pPr algn="l">
              <a:lnSpc>
                <a:spcPct val="112000"/>
              </a:lnSpc>
              <a:spcBef>
                <a:spcPts val="0"/>
              </a:spcBef>
              <a:spcAft>
                <a:spcPts val="0"/>
              </a:spcAft>
            </a:pPr>
            <a:r>
              <a:rPr sz="1512" b="0">
                <a:solidFill>
                  <a:srgbClr val="D4DEE6"/>
                </a:solidFill>
                <a:latin typeface="Segoe UI"/>
              </a:rPr>
              <a:t>Opt-in for CV + practice · Groq → NVIDIA backup (same 20b model) · web search: Groq only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58368" y="493776"/>
            <a:ext cx="347472" cy="45720"/>
          </a:xfrm>
          <a:prstGeom prst="rect">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79576" y="365760"/>
            <a:ext cx="12070080" cy="283464"/>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586777"/>
                </a:solidFill>
                <a:latin typeface="Segoe UI"/>
              </a:rPr>
              <a:t>05  /  PHONE-FIRST WORKFLOW</a:t>
            </a:r>
          </a:p>
        </p:txBody>
      </p:sp>
      <p:sp>
        <p:nvSpPr>
          <p:cNvPr id="4" name="TextBox 3"/>
          <p:cNvSpPr txBox="1"/>
          <p:nvPr/>
        </p:nvSpPr>
        <p:spPr>
          <a:xfrm>
            <a:off x="658368" y="996696"/>
            <a:ext cx="13313664" cy="1371600"/>
          </a:xfrm>
          <a:prstGeom prst="rect">
            <a:avLst/>
          </a:prstGeom>
          <a:noFill/>
        </p:spPr>
        <p:txBody>
          <a:bodyPr wrap="square" lIns="0" rIns="0" tIns="0" bIns="0">
            <a:spAutoFit/>
          </a:bodyPr>
          <a:lstStyle/>
          <a:p>
            <a:pPr algn="l">
              <a:lnSpc>
                <a:spcPct val="112000"/>
              </a:lnSpc>
              <a:spcBef>
                <a:spcPts val="0"/>
              </a:spcBef>
              <a:spcAft>
                <a:spcPts val="0"/>
              </a:spcAft>
            </a:pPr>
            <a:r>
              <a:rPr sz="4680" b="1">
                <a:solidFill>
                  <a:srgbClr val="1B2D40"/>
                </a:solidFill>
                <a:latin typeface="Georgia"/>
              </a:rPr>
              <a:t>A career next step, from a phone browser.</a:t>
            </a:r>
          </a:p>
        </p:txBody>
      </p:sp>
      <p:sp>
        <p:nvSpPr>
          <p:cNvPr id="5" name="TextBox 4"/>
          <p:cNvSpPr txBox="1"/>
          <p:nvPr/>
        </p:nvSpPr>
        <p:spPr>
          <a:xfrm>
            <a:off x="685800" y="2514600"/>
            <a:ext cx="13167360" cy="640080"/>
          </a:xfrm>
          <a:prstGeom prst="rect">
            <a:avLst/>
          </a:prstGeom>
          <a:noFill/>
        </p:spPr>
        <p:txBody>
          <a:bodyPr wrap="square" lIns="0" rIns="0" tIns="0" bIns="0">
            <a:spAutoFit/>
          </a:bodyPr>
          <a:lstStyle/>
          <a:p>
            <a:pPr algn="l">
              <a:lnSpc>
                <a:spcPct val="112000"/>
              </a:lnSpc>
              <a:spcBef>
                <a:spcPts val="0"/>
              </a:spcBef>
              <a:spcAft>
                <a:spcPts val="0"/>
              </a:spcAft>
            </a:pPr>
            <a:r>
              <a:rPr sz="1872" b="0">
                <a:solidFill>
                  <a:srgbClr val="586777"/>
                </a:solidFill>
                <a:latin typeface="Segoe UI"/>
              </a:rPr>
              <a:t>Built for phone browsers — no app install. Editable panels below illustrate the new journey.</a:t>
            </a:r>
          </a:p>
        </p:txBody>
      </p:sp>
      <p:sp>
        <p:nvSpPr>
          <p:cNvPr id="6" name="Rectangle 5"/>
          <p:cNvSpPr/>
          <p:nvPr/>
        </p:nvSpPr>
        <p:spPr>
          <a:xfrm>
            <a:off x="658368" y="7662672"/>
            <a:ext cx="13313664" cy="9144"/>
          </a:xfrm>
          <a:prstGeom prst="rect">
            <a:avLst/>
          </a:prstGeom>
          <a:solidFill>
            <a:srgbClr val="DDDC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6656" y="7799831"/>
            <a:ext cx="10058400" cy="228600"/>
          </a:xfrm>
          <a:prstGeom prst="rect">
            <a:avLst/>
          </a:prstGeom>
          <a:noFill/>
        </p:spPr>
        <p:txBody>
          <a:bodyPr wrap="square" lIns="0" rIns="0" tIns="0" bIns="0">
            <a:spAutoFit/>
          </a:bodyPr>
          <a:lstStyle/>
          <a:p>
            <a:pPr algn="l">
              <a:lnSpc>
                <a:spcPct val="112000"/>
              </a:lnSpc>
              <a:spcBef>
                <a:spcPts val="0"/>
              </a:spcBef>
              <a:spcAft>
                <a:spcPts val="0"/>
              </a:spcAft>
            </a:pPr>
            <a:r>
              <a:rPr sz="1152" b="0">
                <a:solidFill>
                  <a:srgbClr val="586777"/>
                </a:solidFill>
                <a:latin typeface="Segoe UI"/>
              </a:rPr>
              <a:t>NJIA  /  DHRUZZZ  /  KENYA · ONLINE</a:t>
            </a:r>
          </a:p>
        </p:txBody>
      </p:sp>
      <p:sp>
        <p:nvSpPr>
          <p:cNvPr id="8" name="TextBox 7"/>
          <p:cNvSpPr txBox="1"/>
          <p:nvPr/>
        </p:nvSpPr>
        <p:spPr>
          <a:xfrm>
            <a:off x="12801600" y="7781544"/>
            <a:ext cx="1170432" cy="256032"/>
          </a:xfrm>
          <a:prstGeom prst="rect">
            <a:avLst/>
          </a:prstGeom>
          <a:noFill/>
        </p:spPr>
        <p:txBody>
          <a:bodyPr wrap="square" lIns="0" rIns="0" tIns="0" bIns="0">
            <a:spAutoFit/>
          </a:bodyPr>
          <a:lstStyle/>
          <a:p>
            <a:pPr algn="r">
              <a:lnSpc>
                <a:spcPct val="112000"/>
              </a:lnSpc>
              <a:spcBef>
                <a:spcPts val="0"/>
              </a:spcBef>
              <a:spcAft>
                <a:spcPts val="0"/>
              </a:spcAft>
            </a:pPr>
            <a:r>
              <a:rPr sz="1296" b="0">
                <a:solidFill>
                  <a:srgbClr val="586777"/>
                </a:solidFill>
                <a:latin typeface="Segoe UI"/>
              </a:rPr>
              <a:t>05 / 08</a:t>
            </a:r>
          </a:p>
        </p:txBody>
      </p:sp>
      <p:sp>
        <p:nvSpPr>
          <p:cNvPr id="9" name="TextBox 8"/>
          <p:cNvSpPr txBox="1"/>
          <p:nvPr/>
        </p:nvSpPr>
        <p:spPr>
          <a:xfrm>
            <a:off x="713232" y="3300984"/>
            <a:ext cx="4160520" cy="365760"/>
          </a:xfrm>
          <a:prstGeom prst="rect">
            <a:avLst/>
          </a:prstGeom>
          <a:noFill/>
        </p:spPr>
        <p:txBody>
          <a:bodyPr wrap="square" lIns="0" rIns="0" tIns="0" bIns="0">
            <a:spAutoFit/>
          </a:bodyPr>
          <a:lstStyle/>
          <a:p>
            <a:pPr algn="l">
              <a:lnSpc>
                <a:spcPct val="112000"/>
              </a:lnSpc>
              <a:spcBef>
                <a:spcPts val="0"/>
              </a:spcBef>
              <a:spcAft>
                <a:spcPts val="0"/>
              </a:spcAft>
            </a:pPr>
            <a:r>
              <a:rPr sz="2160" b="1">
                <a:solidFill>
                  <a:srgbClr val="1B2D40"/>
                </a:solidFill>
                <a:latin typeface="Segoe UI"/>
              </a:rPr>
              <a:t>01 / Give context</a:t>
            </a:r>
          </a:p>
        </p:txBody>
      </p:sp>
      <p:sp>
        <p:nvSpPr>
          <p:cNvPr id="10" name="TextBox 9"/>
          <p:cNvSpPr txBox="1"/>
          <p:nvPr/>
        </p:nvSpPr>
        <p:spPr>
          <a:xfrm>
            <a:off x="713232" y="3721608"/>
            <a:ext cx="4160520" cy="320040"/>
          </a:xfrm>
          <a:prstGeom prst="rect">
            <a:avLst/>
          </a:prstGeom>
          <a:noFill/>
        </p:spPr>
        <p:txBody>
          <a:bodyPr wrap="square" lIns="0" rIns="0" tIns="0" bIns="0">
            <a:spAutoFit/>
          </a:bodyPr>
          <a:lstStyle/>
          <a:p>
            <a:pPr algn="l">
              <a:lnSpc>
                <a:spcPct val="112000"/>
              </a:lnSpc>
              <a:spcBef>
                <a:spcPts val="0"/>
              </a:spcBef>
              <a:spcAft>
                <a:spcPts val="0"/>
              </a:spcAft>
            </a:pPr>
            <a:r>
              <a:rPr sz="1655" b="0">
                <a:solidFill>
                  <a:srgbClr val="586777"/>
                </a:solidFill>
                <a:latin typeface="Segoe UI"/>
              </a:rPr>
              <a:t>CV + role + follow-up answers</a:t>
            </a:r>
          </a:p>
        </p:txBody>
      </p:sp>
      <p:sp>
        <p:nvSpPr>
          <p:cNvPr id="11" name="Rounded Rectangle 10"/>
          <p:cNvSpPr/>
          <p:nvPr/>
        </p:nvSpPr>
        <p:spPr>
          <a:xfrm>
            <a:off x="1133856" y="4224528"/>
            <a:ext cx="3236976" cy="3136392"/>
          </a:xfrm>
          <a:prstGeom prst="roundRect">
            <a:avLst>
              <a:gd name="adj" fmla="val 6997"/>
            </a:avLst>
          </a:prstGeom>
          <a:solidFill>
            <a:srgbClr val="14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234440" y="4334256"/>
            <a:ext cx="3035808" cy="2907792"/>
          </a:xfrm>
          <a:prstGeom prst="roundRect">
            <a:avLst>
              <a:gd name="adj" fmla="val 5031"/>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386584" y="4389120"/>
            <a:ext cx="731520" cy="54864"/>
          </a:xfrm>
          <a:prstGeom prst="roundRect">
            <a:avLst>
              <a:gd name="adj" fmla="val 30000"/>
            </a:avLst>
          </a:prstGeom>
          <a:solidFill>
            <a:srgbClr val="14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89888" y="4535424"/>
            <a:ext cx="2633472" cy="338328"/>
          </a:xfrm>
          <a:prstGeom prst="rect">
            <a:avLst/>
          </a:prstGeom>
          <a:noFill/>
        </p:spPr>
        <p:txBody>
          <a:bodyPr wrap="square" lIns="0" rIns="0" tIns="0" bIns="0">
            <a:spAutoFit/>
          </a:bodyPr>
          <a:lstStyle/>
          <a:p>
            <a:pPr algn="l">
              <a:lnSpc>
                <a:spcPct val="112000"/>
              </a:lnSpc>
              <a:spcBef>
                <a:spcPts val="0"/>
              </a:spcBef>
              <a:spcAft>
                <a:spcPts val="0"/>
              </a:spcAft>
            </a:pPr>
            <a:r>
              <a:rPr sz="2088" b="1">
                <a:solidFill>
                  <a:srgbClr val="1B2D40"/>
                </a:solidFill>
                <a:latin typeface="Georgia"/>
              </a:rPr>
              <a:t>njia</a:t>
            </a:r>
          </a:p>
        </p:txBody>
      </p:sp>
      <p:sp>
        <p:nvSpPr>
          <p:cNvPr id="15" name="TextBox 14"/>
          <p:cNvSpPr txBox="1"/>
          <p:nvPr/>
        </p:nvSpPr>
        <p:spPr>
          <a:xfrm>
            <a:off x="1389888" y="4983480"/>
            <a:ext cx="256032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586777"/>
                </a:solidFill>
                <a:latin typeface="Segoe UI"/>
              </a:rPr>
              <a:t>NJIA ASKS · 2 OF 4</a:t>
            </a:r>
          </a:p>
        </p:txBody>
      </p:sp>
      <p:sp>
        <p:nvSpPr>
          <p:cNvPr id="16" name="TextBox 15"/>
          <p:cNvSpPr txBox="1"/>
          <p:nvPr/>
        </p:nvSpPr>
        <p:spPr>
          <a:xfrm>
            <a:off x="1389888" y="5276088"/>
            <a:ext cx="2706624" cy="274320"/>
          </a:xfrm>
          <a:prstGeom prst="rect">
            <a:avLst/>
          </a:prstGeom>
          <a:noFill/>
        </p:spPr>
        <p:txBody>
          <a:bodyPr wrap="square" lIns="0" rIns="0" tIns="0" bIns="0">
            <a:spAutoFit/>
          </a:bodyPr>
          <a:lstStyle/>
          <a:p>
            <a:pPr algn="l">
              <a:lnSpc>
                <a:spcPct val="112000"/>
              </a:lnSpc>
              <a:spcBef>
                <a:spcPts val="0"/>
              </a:spcBef>
              <a:spcAft>
                <a:spcPts val="0"/>
              </a:spcAft>
            </a:pPr>
            <a:r>
              <a:rPr sz="1512" b="1">
                <a:solidFill>
                  <a:srgbClr val="1B2D40"/>
                </a:solidFill>
                <a:latin typeface="Segoe UI"/>
              </a:rPr>
              <a:t>How have you used SQL?</a:t>
            </a:r>
          </a:p>
        </p:txBody>
      </p:sp>
      <p:sp>
        <p:nvSpPr>
          <p:cNvPr id="17" name="Rounded Rectangle 16"/>
          <p:cNvSpPr/>
          <p:nvPr/>
        </p:nvSpPr>
        <p:spPr>
          <a:xfrm>
            <a:off x="1371600" y="5641848"/>
            <a:ext cx="2761488" cy="301752"/>
          </a:xfrm>
          <a:prstGeom prst="roundRect">
            <a:avLst>
              <a:gd name="adj" fmla="val 18181"/>
            </a:avLst>
          </a:prstGeom>
          <a:solidFill>
            <a:srgbClr val="F7F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81328" y="5687568"/>
            <a:ext cx="2596896" cy="219456"/>
          </a:xfrm>
          <a:prstGeom prst="rect">
            <a:avLst/>
          </a:prstGeom>
          <a:noFill/>
        </p:spPr>
        <p:txBody>
          <a:bodyPr wrap="square" lIns="0" rIns="0" tIns="0" bIns="0">
            <a:spAutoFit/>
          </a:bodyPr>
          <a:lstStyle/>
          <a:p>
            <a:pPr algn="l">
              <a:lnSpc>
                <a:spcPct val="112000"/>
              </a:lnSpc>
              <a:spcBef>
                <a:spcPts val="0"/>
              </a:spcBef>
              <a:spcAft>
                <a:spcPts val="0"/>
              </a:spcAft>
            </a:pPr>
            <a:r>
              <a:rPr sz="1224" b="0">
                <a:solidFill>
                  <a:srgbClr val="1B2D40"/>
                </a:solidFill>
                <a:latin typeface="Segoe UI"/>
              </a:rPr>
              <a:t>Used it at work</a:t>
            </a:r>
          </a:p>
        </p:txBody>
      </p:sp>
      <p:sp>
        <p:nvSpPr>
          <p:cNvPr id="19" name="Rounded Rectangle 18"/>
          <p:cNvSpPr/>
          <p:nvPr/>
        </p:nvSpPr>
        <p:spPr>
          <a:xfrm>
            <a:off x="1371600" y="6007608"/>
            <a:ext cx="2761488" cy="301752"/>
          </a:xfrm>
          <a:prstGeom prst="roundRect">
            <a:avLst>
              <a:gd name="adj" fmla="val 18181"/>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81328" y="6053328"/>
            <a:ext cx="2596896" cy="219456"/>
          </a:xfrm>
          <a:prstGeom prst="rect">
            <a:avLst/>
          </a:prstGeom>
          <a:noFill/>
        </p:spPr>
        <p:txBody>
          <a:bodyPr wrap="square" lIns="0" rIns="0" tIns="0" bIns="0">
            <a:spAutoFit/>
          </a:bodyPr>
          <a:lstStyle/>
          <a:p>
            <a:pPr algn="l">
              <a:lnSpc>
                <a:spcPct val="112000"/>
              </a:lnSpc>
              <a:spcBef>
                <a:spcPts val="0"/>
              </a:spcBef>
              <a:spcAft>
                <a:spcPts val="0"/>
              </a:spcAft>
            </a:pPr>
            <a:r>
              <a:rPr sz="1224" b="1">
                <a:solidFill>
                  <a:srgbClr val="14283F"/>
                </a:solidFill>
                <a:latin typeface="Segoe UI"/>
              </a:rPr>
              <a:t>Used it in a project or course</a:t>
            </a:r>
          </a:p>
        </p:txBody>
      </p:sp>
      <p:sp>
        <p:nvSpPr>
          <p:cNvPr id="21" name="Rounded Rectangle 20"/>
          <p:cNvSpPr/>
          <p:nvPr/>
        </p:nvSpPr>
        <p:spPr>
          <a:xfrm>
            <a:off x="1371600" y="6373368"/>
            <a:ext cx="2761488" cy="301752"/>
          </a:xfrm>
          <a:prstGeom prst="roundRect">
            <a:avLst>
              <a:gd name="adj" fmla="val 18181"/>
            </a:avLst>
          </a:prstGeom>
          <a:solidFill>
            <a:srgbClr val="F7F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481328" y="6419088"/>
            <a:ext cx="2596896" cy="219456"/>
          </a:xfrm>
          <a:prstGeom prst="rect">
            <a:avLst/>
          </a:prstGeom>
          <a:noFill/>
        </p:spPr>
        <p:txBody>
          <a:bodyPr wrap="square" lIns="0" rIns="0" tIns="0" bIns="0">
            <a:spAutoFit/>
          </a:bodyPr>
          <a:lstStyle/>
          <a:p>
            <a:pPr algn="l">
              <a:lnSpc>
                <a:spcPct val="112000"/>
              </a:lnSpc>
              <a:spcBef>
                <a:spcPts val="0"/>
              </a:spcBef>
              <a:spcAft>
                <a:spcPts val="0"/>
              </a:spcAft>
            </a:pPr>
            <a:r>
              <a:rPr sz="1224" b="0">
                <a:solidFill>
                  <a:srgbClr val="1B2D40"/>
                </a:solidFill>
                <a:latin typeface="Segoe UI"/>
              </a:rPr>
              <a:t>Still learning it</a:t>
            </a:r>
          </a:p>
        </p:txBody>
      </p:sp>
      <p:sp>
        <p:nvSpPr>
          <p:cNvPr id="23" name="Rounded Rectangle 22"/>
          <p:cNvSpPr/>
          <p:nvPr/>
        </p:nvSpPr>
        <p:spPr>
          <a:xfrm>
            <a:off x="1371600" y="6739128"/>
            <a:ext cx="2761488" cy="301752"/>
          </a:xfrm>
          <a:prstGeom prst="roundRect">
            <a:avLst>
              <a:gd name="adj" fmla="val 18181"/>
            </a:avLst>
          </a:prstGeom>
          <a:solidFill>
            <a:srgbClr val="F7F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81328" y="6784848"/>
            <a:ext cx="2596896" cy="219456"/>
          </a:xfrm>
          <a:prstGeom prst="rect">
            <a:avLst/>
          </a:prstGeom>
          <a:noFill/>
        </p:spPr>
        <p:txBody>
          <a:bodyPr wrap="square" lIns="0" rIns="0" tIns="0" bIns="0">
            <a:spAutoFit/>
          </a:bodyPr>
          <a:lstStyle/>
          <a:p>
            <a:pPr algn="l">
              <a:lnSpc>
                <a:spcPct val="112000"/>
              </a:lnSpc>
              <a:spcBef>
                <a:spcPts val="0"/>
              </a:spcBef>
              <a:spcAft>
                <a:spcPts val="0"/>
              </a:spcAft>
            </a:pPr>
            <a:r>
              <a:rPr sz="1224" b="0">
                <a:solidFill>
                  <a:srgbClr val="1B2D40"/>
                </a:solidFill>
                <a:latin typeface="Segoe UI"/>
              </a:rPr>
              <a:t>Not yet</a:t>
            </a:r>
          </a:p>
        </p:txBody>
      </p:sp>
      <p:sp>
        <p:nvSpPr>
          <p:cNvPr id="25" name="TextBox 24"/>
          <p:cNvSpPr txBox="1"/>
          <p:nvPr/>
        </p:nvSpPr>
        <p:spPr>
          <a:xfrm>
            <a:off x="5239512" y="3300984"/>
            <a:ext cx="4160520" cy="365760"/>
          </a:xfrm>
          <a:prstGeom prst="rect">
            <a:avLst/>
          </a:prstGeom>
          <a:noFill/>
        </p:spPr>
        <p:txBody>
          <a:bodyPr wrap="square" lIns="0" rIns="0" tIns="0" bIns="0">
            <a:spAutoFit/>
          </a:bodyPr>
          <a:lstStyle/>
          <a:p>
            <a:pPr algn="l">
              <a:lnSpc>
                <a:spcPct val="112000"/>
              </a:lnSpc>
              <a:spcBef>
                <a:spcPts val="0"/>
              </a:spcBef>
              <a:spcAft>
                <a:spcPts val="0"/>
              </a:spcAft>
            </a:pPr>
            <a:r>
              <a:rPr sz="2160" b="1">
                <a:solidFill>
                  <a:srgbClr val="1B2D40"/>
                </a:solidFill>
                <a:latin typeface="Segoe UI"/>
              </a:rPr>
              <a:t>02 / Match live jobs</a:t>
            </a:r>
          </a:p>
        </p:txBody>
      </p:sp>
      <p:sp>
        <p:nvSpPr>
          <p:cNvPr id="26" name="TextBox 25"/>
          <p:cNvSpPr txBox="1"/>
          <p:nvPr/>
        </p:nvSpPr>
        <p:spPr>
          <a:xfrm>
            <a:off x="5239512" y="3721608"/>
            <a:ext cx="4160520" cy="320040"/>
          </a:xfrm>
          <a:prstGeom prst="rect">
            <a:avLst/>
          </a:prstGeom>
          <a:noFill/>
        </p:spPr>
        <p:txBody>
          <a:bodyPr wrap="square" lIns="0" rIns="0" tIns="0" bIns="0">
            <a:spAutoFit/>
          </a:bodyPr>
          <a:lstStyle/>
          <a:p>
            <a:pPr algn="l">
              <a:lnSpc>
                <a:spcPct val="112000"/>
              </a:lnSpc>
              <a:spcBef>
                <a:spcPts val="0"/>
              </a:spcBef>
              <a:spcAft>
                <a:spcPts val="0"/>
              </a:spcAft>
            </a:pPr>
            <a:r>
              <a:rPr sz="1655" b="0">
                <a:solidFill>
                  <a:srgbClr val="586777"/>
                </a:solidFill>
                <a:latin typeface="Segoe UI"/>
              </a:rPr>
              <a:t>Open to Kenya + skill match %</a:t>
            </a:r>
          </a:p>
        </p:txBody>
      </p:sp>
      <p:sp>
        <p:nvSpPr>
          <p:cNvPr id="27" name="Rounded Rectangle 26"/>
          <p:cNvSpPr/>
          <p:nvPr/>
        </p:nvSpPr>
        <p:spPr>
          <a:xfrm>
            <a:off x="5660136" y="4224528"/>
            <a:ext cx="3236976" cy="3136392"/>
          </a:xfrm>
          <a:prstGeom prst="roundRect">
            <a:avLst>
              <a:gd name="adj" fmla="val 6997"/>
            </a:avLst>
          </a:prstGeom>
          <a:solidFill>
            <a:srgbClr val="14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760720" y="4334256"/>
            <a:ext cx="3035808" cy="2907792"/>
          </a:xfrm>
          <a:prstGeom prst="roundRect">
            <a:avLst>
              <a:gd name="adj" fmla="val 5031"/>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912864" y="4389120"/>
            <a:ext cx="731520" cy="54864"/>
          </a:xfrm>
          <a:prstGeom prst="roundRect">
            <a:avLst>
              <a:gd name="adj" fmla="val 30000"/>
            </a:avLst>
          </a:prstGeom>
          <a:solidFill>
            <a:srgbClr val="14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16168" y="4535424"/>
            <a:ext cx="2633472" cy="338328"/>
          </a:xfrm>
          <a:prstGeom prst="rect">
            <a:avLst/>
          </a:prstGeom>
          <a:noFill/>
        </p:spPr>
        <p:txBody>
          <a:bodyPr wrap="square" lIns="0" rIns="0" tIns="0" bIns="0">
            <a:spAutoFit/>
          </a:bodyPr>
          <a:lstStyle/>
          <a:p>
            <a:pPr algn="l">
              <a:lnSpc>
                <a:spcPct val="112000"/>
              </a:lnSpc>
              <a:spcBef>
                <a:spcPts val="0"/>
              </a:spcBef>
              <a:spcAft>
                <a:spcPts val="0"/>
              </a:spcAft>
            </a:pPr>
            <a:r>
              <a:rPr sz="2088" b="1">
                <a:solidFill>
                  <a:srgbClr val="1B2D40"/>
                </a:solidFill>
                <a:latin typeface="Georgia"/>
              </a:rPr>
              <a:t>njia</a:t>
            </a:r>
          </a:p>
        </p:txBody>
      </p:sp>
      <p:sp>
        <p:nvSpPr>
          <p:cNvPr id="31" name="TextBox 30"/>
          <p:cNvSpPr txBox="1"/>
          <p:nvPr/>
        </p:nvSpPr>
        <p:spPr>
          <a:xfrm>
            <a:off x="5916168" y="4983480"/>
            <a:ext cx="269748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586777"/>
                </a:solidFill>
                <a:latin typeface="Segoe UI"/>
              </a:rPr>
              <a:t>LIVE · OPEN TO KENYA</a:t>
            </a:r>
          </a:p>
        </p:txBody>
      </p:sp>
      <p:sp>
        <p:nvSpPr>
          <p:cNvPr id="32" name="TextBox 31"/>
          <p:cNvSpPr txBox="1"/>
          <p:nvPr/>
        </p:nvSpPr>
        <p:spPr>
          <a:xfrm>
            <a:off x="5916168" y="5276088"/>
            <a:ext cx="2706624" cy="274320"/>
          </a:xfrm>
          <a:prstGeom prst="rect">
            <a:avLst/>
          </a:prstGeom>
          <a:noFill/>
        </p:spPr>
        <p:txBody>
          <a:bodyPr wrap="square" lIns="0" rIns="0" tIns="0" bIns="0">
            <a:spAutoFit/>
          </a:bodyPr>
          <a:lstStyle/>
          <a:p>
            <a:pPr algn="l">
              <a:lnSpc>
                <a:spcPct val="112000"/>
              </a:lnSpc>
              <a:spcBef>
                <a:spcPts val="0"/>
              </a:spcBef>
              <a:spcAft>
                <a:spcPts val="0"/>
              </a:spcAft>
            </a:pPr>
            <a:r>
              <a:rPr sz="1584" b="1">
                <a:solidFill>
                  <a:srgbClr val="1B2D40"/>
                </a:solidFill>
                <a:latin typeface="Segoe UI"/>
              </a:rPr>
              <a:t>Data Analyst · Remote</a:t>
            </a:r>
          </a:p>
        </p:txBody>
      </p:sp>
      <p:sp>
        <p:nvSpPr>
          <p:cNvPr id="33" name="TextBox 32"/>
          <p:cNvSpPr txBox="1"/>
          <p:nvPr/>
        </p:nvSpPr>
        <p:spPr>
          <a:xfrm>
            <a:off x="5916168" y="5577840"/>
            <a:ext cx="2706624" cy="228600"/>
          </a:xfrm>
          <a:prstGeom prst="rect">
            <a:avLst/>
          </a:prstGeom>
          <a:noFill/>
        </p:spPr>
        <p:txBody>
          <a:bodyPr wrap="square" lIns="0" rIns="0" tIns="0" bIns="0">
            <a:spAutoFit/>
          </a:bodyPr>
          <a:lstStyle/>
          <a:p>
            <a:pPr algn="l">
              <a:lnSpc>
                <a:spcPct val="112000"/>
              </a:lnSpc>
              <a:spcBef>
                <a:spcPts val="0"/>
              </a:spcBef>
              <a:spcAft>
                <a:spcPts val="0"/>
              </a:spcAft>
            </a:pPr>
            <a:r>
              <a:rPr sz="1224" b="0">
                <a:solidFill>
                  <a:srgbClr val="586777"/>
                </a:solidFill>
                <a:latin typeface="Segoe UI"/>
              </a:rPr>
              <a:t>Example posting · worldwide</a:t>
            </a:r>
          </a:p>
        </p:txBody>
      </p:sp>
      <p:sp>
        <p:nvSpPr>
          <p:cNvPr id="34" name="Rounded Rectangle 33"/>
          <p:cNvSpPr/>
          <p:nvPr/>
        </p:nvSpPr>
        <p:spPr>
          <a:xfrm>
            <a:off x="5897880" y="5879592"/>
            <a:ext cx="2761488" cy="804672"/>
          </a:xfrm>
          <a:prstGeom prst="roundRect">
            <a:avLst>
              <a:gd name="adj" fmla="val 6818"/>
            </a:avLst>
          </a:prstGeom>
          <a:solidFill>
            <a:srgbClr val="FFF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16752" y="5952744"/>
            <a:ext cx="2560320" cy="256032"/>
          </a:xfrm>
          <a:prstGeom prst="rect">
            <a:avLst/>
          </a:prstGeom>
          <a:noFill/>
        </p:spPr>
        <p:txBody>
          <a:bodyPr wrap="square" lIns="0" rIns="0" tIns="0" bIns="0">
            <a:spAutoFit/>
          </a:bodyPr>
          <a:lstStyle/>
          <a:p>
            <a:pPr algn="l">
              <a:lnSpc>
                <a:spcPct val="112000"/>
              </a:lnSpc>
              <a:spcBef>
                <a:spcPts val="0"/>
              </a:spcBef>
              <a:spcAft>
                <a:spcPts val="0"/>
              </a:spcAft>
            </a:pPr>
            <a:r>
              <a:rPr sz="1584" b="1">
                <a:solidFill>
                  <a:srgbClr val="1B2D40"/>
                </a:solidFill>
                <a:latin typeface="Segoe UI"/>
              </a:rPr>
              <a:t>Skill match 67%</a:t>
            </a:r>
          </a:p>
        </p:txBody>
      </p:sp>
      <p:sp>
        <p:nvSpPr>
          <p:cNvPr id="36" name="TextBox 35"/>
          <p:cNvSpPr txBox="1"/>
          <p:nvPr/>
        </p:nvSpPr>
        <p:spPr>
          <a:xfrm>
            <a:off x="6016752" y="6245352"/>
            <a:ext cx="2560320" cy="402336"/>
          </a:xfrm>
          <a:prstGeom prst="rect">
            <a:avLst/>
          </a:prstGeom>
          <a:noFill/>
        </p:spPr>
        <p:txBody>
          <a:bodyPr wrap="square" lIns="0" rIns="0" tIns="0" bIns="0">
            <a:spAutoFit/>
          </a:bodyPr>
          <a:lstStyle/>
          <a:p>
            <a:pPr algn="l">
              <a:lnSpc>
                <a:spcPct val="112000"/>
              </a:lnSpc>
              <a:spcBef>
                <a:spcPts val="0"/>
              </a:spcBef>
              <a:spcAft>
                <a:spcPts val="0"/>
              </a:spcAft>
            </a:pPr>
            <a:r>
              <a:rPr sz="1296" b="0">
                <a:solidFill>
                  <a:srgbClr val="586777"/>
                </a:solidFill>
                <a:latin typeface="Segoe UI"/>
              </a:rPr>
              <a:t>Matched: SQL, Excel</a:t>
            </a:r>
          </a:p>
          <a:p>
            <a:pPr algn="l">
              <a:lnSpc>
                <a:spcPct val="112000"/>
              </a:lnSpc>
              <a:spcBef>
                <a:spcPts val="0"/>
              </a:spcBef>
              <a:spcAft>
                <a:spcPts val="0"/>
              </a:spcAft>
            </a:pPr>
            <a:r>
              <a:rPr sz="1296" b="0">
                <a:solidFill>
                  <a:srgbClr val="586777"/>
                </a:solidFill>
                <a:latin typeface="Segoe UI"/>
              </a:rPr>
              <a:t>Missing: Python</a:t>
            </a:r>
          </a:p>
        </p:txBody>
      </p:sp>
      <p:sp>
        <p:nvSpPr>
          <p:cNvPr id="37" name="Rounded Rectangle 36"/>
          <p:cNvSpPr/>
          <p:nvPr/>
        </p:nvSpPr>
        <p:spPr>
          <a:xfrm>
            <a:off x="5897880" y="6784848"/>
            <a:ext cx="2761488" cy="292608"/>
          </a:xfrm>
          <a:prstGeom prst="roundRect">
            <a:avLst>
              <a:gd name="adj" fmla="val 15625"/>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34456" y="6821424"/>
            <a:ext cx="2688336" cy="228600"/>
          </a:xfrm>
          <a:prstGeom prst="rect">
            <a:avLst/>
          </a:prstGeom>
          <a:noFill/>
        </p:spPr>
        <p:txBody>
          <a:bodyPr wrap="square" lIns="0" rIns="0" tIns="0" bIns="0">
            <a:spAutoFit/>
          </a:bodyPr>
          <a:lstStyle/>
          <a:p>
            <a:pPr algn="ctr">
              <a:lnSpc>
                <a:spcPct val="112000"/>
              </a:lnSpc>
              <a:spcBef>
                <a:spcPts val="0"/>
              </a:spcBef>
              <a:spcAft>
                <a:spcPts val="0"/>
              </a:spcAft>
            </a:pPr>
            <a:r>
              <a:rPr sz="1296" b="1">
                <a:solidFill>
                  <a:srgbClr val="14283F"/>
                </a:solidFill>
                <a:latin typeface="Segoe UI"/>
              </a:rPr>
              <a:t>Apply on source →</a:t>
            </a:r>
          </a:p>
        </p:txBody>
      </p:sp>
      <p:sp>
        <p:nvSpPr>
          <p:cNvPr id="39" name="TextBox 38"/>
          <p:cNvSpPr txBox="1"/>
          <p:nvPr/>
        </p:nvSpPr>
        <p:spPr>
          <a:xfrm>
            <a:off x="9765792" y="3300984"/>
            <a:ext cx="4160520" cy="365760"/>
          </a:xfrm>
          <a:prstGeom prst="rect">
            <a:avLst/>
          </a:prstGeom>
          <a:noFill/>
        </p:spPr>
        <p:txBody>
          <a:bodyPr wrap="square" lIns="0" rIns="0" tIns="0" bIns="0">
            <a:spAutoFit/>
          </a:bodyPr>
          <a:lstStyle/>
          <a:p>
            <a:pPr algn="l">
              <a:lnSpc>
                <a:spcPct val="112000"/>
              </a:lnSpc>
              <a:spcBef>
                <a:spcPts val="0"/>
              </a:spcBef>
              <a:spcAft>
                <a:spcPts val="0"/>
              </a:spcAft>
            </a:pPr>
            <a:r>
              <a:rPr sz="2160" b="1">
                <a:solidFill>
                  <a:srgbClr val="1B2D40"/>
                </a:solidFill>
                <a:latin typeface="Segoe UI"/>
              </a:rPr>
              <a:t>03 / Practise</a:t>
            </a:r>
          </a:p>
        </p:txBody>
      </p:sp>
      <p:sp>
        <p:nvSpPr>
          <p:cNvPr id="40" name="TextBox 39"/>
          <p:cNvSpPr txBox="1"/>
          <p:nvPr/>
        </p:nvSpPr>
        <p:spPr>
          <a:xfrm>
            <a:off x="9765792" y="3721608"/>
            <a:ext cx="4160520" cy="320040"/>
          </a:xfrm>
          <a:prstGeom prst="rect">
            <a:avLst/>
          </a:prstGeom>
          <a:noFill/>
        </p:spPr>
        <p:txBody>
          <a:bodyPr wrap="square" lIns="0" rIns="0" tIns="0" bIns="0">
            <a:spAutoFit/>
          </a:bodyPr>
          <a:lstStyle/>
          <a:p>
            <a:pPr algn="l">
              <a:lnSpc>
                <a:spcPct val="112000"/>
              </a:lnSpc>
              <a:spcBef>
                <a:spcPts val="0"/>
              </a:spcBef>
              <a:spcAft>
                <a:spcPts val="0"/>
              </a:spcAft>
            </a:pPr>
            <a:r>
              <a:rPr sz="1655" b="0">
                <a:solidFill>
                  <a:srgbClr val="586777"/>
                </a:solidFill>
                <a:latin typeface="Segoe UI"/>
              </a:rPr>
              <a:t>Real questions + AI feedback</a:t>
            </a:r>
          </a:p>
        </p:txBody>
      </p:sp>
      <p:sp>
        <p:nvSpPr>
          <p:cNvPr id="41" name="Rounded Rectangle 40"/>
          <p:cNvSpPr/>
          <p:nvPr/>
        </p:nvSpPr>
        <p:spPr>
          <a:xfrm>
            <a:off x="10186416" y="4224528"/>
            <a:ext cx="3236976" cy="3136392"/>
          </a:xfrm>
          <a:prstGeom prst="roundRect">
            <a:avLst>
              <a:gd name="adj" fmla="val 6997"/>
            </a:avLst>
          </a:prstGeom>
          <a:solidFill>
            <a:srgbClr val="14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10287000" y="4334256"/>
            <a:ext cx="3035808" cy="2907792"/>
          </a:xfrm>
          <a:prstGeom prst="roundRect">
            <a:avLst>
              <a:gd name="adj" fmla="val 5031"/>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11439144" y="4389120"/>
            <a:ext cx="731520" cy="54864"/>
          </a:xfrm>
          <a:prstGeom prst="roundRect">
            <a:avLst>
              <a:gd name="adj" fmla="val 30000"/>
            </a:avLst>
          </a:prstGeom>
          <a:solidFill>
            <a:srgbClr val="14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442448" y="4535424"/>
            <a:ext cx="2633472" cy="338328"/>
          </a:xfrm>
          <a:prstGeom prst="rect">
            <a:avLst/>
          </a:prstGeom>
          <a:noFill/>
        </p:spPr>
        <p:txBody>
          <a:bodyPr wrap="square" lIns="0" rIns="0" tIns="0" bIns="0">
            <a:spAutoFit/>
          </a:bodyPr>
          <a:lstStyle/>
          <a:p>
            <a:pPr algn="l">
              <a:lnSpc>
                <a:spcPct val="112000"/>
              </a:lnSpc>
              <a:spcBef>
                <a:spcPts val="0"/>
              </a:spcBef>
              <a:spcAft>
                <a:spcPts val="0"/>
              </a:spcAft>
            </a:pPr>
            <a:r>
              <a:rPr sz="2088" b="1">
                <a:solidFill>
                  <a:srgbClr val="1B2D40"/>
                </a:solidFill>
                <a:latin typeface="Georgia"/>
              </a:rPr>
              <a:t>njia</a:t>
            </a:r>
          </a:p>
        </p:txBody>
      </p:sp>
      <p:sp>
        <p:nvSpPr>
          <p:cNvPr id="45" name="TextBox 44"/>
          <p:cNvSpPr txBox="1"/>
          <p:nvPr/>
        </p:nvSpPr>
        <p:spPr>
          <a:xfrm>
            <a:off x="10442448" y="4983480"/>
            <a:ext cx="269748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586777"/>
                </a:solidFill>
                <a:latin typeface="Segoe UI"/>
              </a:rPr>
              <a:t>FROM THE WEB · SOURCED</a:t>
            </a:r>
          </a:p>
        </p:txBody>
      </p:sp>
      <p:sp>
        <p:nvSpPr>
          <p:cNvPr id="46" name="TextBox 45"/>
          <p:cNvSpPr txBox="1"/>
          <p:nvPr/>
        </p:nvSpPr>
        <p:spPr>
          <a:xfrm>
            <a:off x="10442448" y="5276088"/>
            <a:ext cx="2706624" cy="493776"/>
          </a:xfrm>
          <a:prstGeom prst="rect">
            <a:avLst/>
          </a:prstGeom>
          <a:noFill/>
        </p:spPr>
        <p:txBody>
          <a:bodyPr wrap="square" lIns="0" rIns="0" tIns="0" bIns="0">
            <a:spAutoFit/>
          </a:bodyPr>
          <a:lstStyle/>
          <a:p>
            <a:pPr algn="l">
              <a:lnSpc>
                <a:spcPct val="112000"/>
              </a:lnSpc>
              <a:spcBef>
                <a:spcPts val="0"/>
              </a:spcBef>
              <a:spcAft>
                <a:spcPts val="0"/>
              </a:spcAft>
            </a:pPr>
            <a:r>
              <a:rPr sz="1512" b="1">
                <a:solidFill>
                  <a:srgbClr val="1B2D40"/>
                </a:solidFill>
                <a:latin typeface="Segoe UI"/>
              </a:rPr>
              <a:t>“How do you handle</a:t>
            </a:r>
          </a:p>
          <a:p>
            <a:pPr algn="l">
              <a:lnSpc>
                <a:spcPct val="112000"/>
              </a:lnSpc>
              <a:spcBef>
                <a:spcPts val="0"/>
              </a:spcBef>
              <a:spcAft>
                <a:spcPts val="0"/>
              </a:spcAft>
            </a:pPr>
            <a:r>
              <a:rPr sz="1512" b="1">
                <a:solidFill>
                  <a:srgbClr val="1B2D40"/>
                </a:solidFill>
                <a:latin typeface="Segoe UI"/>
              </a:rPr>
              <a:t>missing data?”</a:t>
            </a:r>
          </a:p>
        </p:txBody>
      </p:sp>
      <p:sp>
        <p:nvSpPr>
          <p:cNvPr id="47" name="TextBox 46"/>
          <p:cNvSpPr txBox="1"/>
          <p:nvPr/>
        </p:nvSpPr>
        <p:spPr>
          <a:xfrm>
            <a:off x="10442448" y="5788152"/>
            <a:ext cx="2706624" cy="219456"/>
          </a:xfrm>
          <a:prstGeom prst="rect">
            <a:avLst/>
          </a:prstGeom>
          <a:noFill/>
        </p:spPr>
        <p:txBody>
          <a:bodyPr wrap="square" lIns="0" rIns="0" tIns="0" bIns="0">
            <a:spAutoFit/>
          </a:bodyPr>
          <a:lstStyle/>
          <a:p>
            <a:pPr algn="l">
              <a:lnSpc>
                <a:spcPct val="112000"/>
              </a:lnSpc>
              <a:spcBef>
                <a:spcPts val="0"/>
              </a:spcBef>
              <a:spcAft>
                <a:spcPts val="0"/>
              </a:spcAft>
            </a:pPr>
            <a:r>
              <a:rPr sz="1152" b="0">
                <a:solidFill>
                  <a:srgbClr val="586777"/>
                </a:solidFill>
                <a:latin typeface="Segoe UI"/>
              </a:rPr>
              <a:t>Reported question · source link</a:t>
            </a:r>
          </a:p>
        </p:txBody>
      </p:sp>
      <p:sp>
        <p:nvSpPr>
          <p:cNvPr id="48" name="Rounded Rectangle 47"/>
          <p:cNvSpPr/>
          <p:nvPr/>
        </p:nvSpPr>
        <p:spPr>
          <a:xfrm>
            <a:off x="10424160" y="6089904"/>
            <a:ext cx="2761488" cy="987552"/>
          </a:xfrm>
          <a:prstGeom prst="roundRect">
            <a:avLst>
              <a:gd name="adj" fmla="val 5555"/>
            </a:avLst>
          </a:prstGeom>
          <a:solidFill>
            <a:srgbClr val="FFF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33888" y="6172200"/>
            <a:ext cx="2587752" cy="237744"/>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1B2D40"/>
                </a:solidFill>
                <a:latin typeface="Segoe UI"/>
              </a:rPr>
              <a:t>Score 3 / 5 · STAR check</a:t>
            </a:r>
          </a:p>
        </p:txBody>
      </p:sp>
      <p:sp>
        <p:nvSpPr>
          <p:cNvPr id="50" name="TextBox 49"/>
          <p:cNvSpPr txBox="1"/>
          <p:nvPr/>
        </p:nvSpPr>
        <p:spPr>
          <a:xfrm>
            <a:off x="10533888" y="6464808"/>
            <a:ext cx="2587752" cy="438912"/>
          </a:xfrm>
          <a:prstGeom prst="rect">
            <a:avLst/>
          </a:prstGeom>
          <a:noFill/>
        </p:spPr>
        <p:txBody>
          <a:bodyPr wrap="square" lIns="0" rIns="0" tIns="0" bIns="0">
            <a:spAutoFit/>
          </a:bodyPr>
          <a:lstStyle/>
          <a:p>
            <a:pPr algn="l">
              <a:lnSpc>
                <a:spcPct val="112000"/>
              </a:lnSpc>
              <a:spcBef>
                <a:spcPts val="0"/>
              </a:spcBef>
              <a:spcAft>
                <a:spcPts val="0"/>
              </a:spcAft>
            </a:pPr>
            <a:r>
              <a:rPr sz="1296" b="0">
                <a:solidFill>
                  <a:srgbClr val="1B2D40"/>
                </a:solidFill>
                <a:latin typeface="Segoe UI"/>
              </a:rPr>
              <a:t>Missing: the Result</a:t>
            </a:r>
          </a:p>
          <a:p>
            <a:pPr algn="l">
              <a:lnSpc>
                <a:spcPct val="112000"/>
              </a:lnSpc>
              <a:spcBef>
                <a:spcPts val="0"/>
              </a:spcBef>
              <a:spcAft>
                <a:spcPts val="0"/>
              </a:spcAft>
            </a:pPr>
            <a:r>
              <a:rPr sz="1296" b="0">
                <a:solidFill>
                  <a:srgbClr val="1B2D40"/>
                </a:solidFill>
                <a:latin typeface="Segoe UI"/>
              </a:rPr>
              <a:t>Add: “…led to [your result]”</a:t>
            </a:r>
          </a:p>
        </p:txBody>
      </p:sp>
      <p:sp>
        <p:nvSpPr>
          <p:cNvPr id="51" name="TextBox 50"/>
          <p:cNvSpPr txBox="1"/>
          <p:nvPr/>
        </p:nvSpPr>
        <p:spPr>
          <a:xfrm>
            <a:off x="694944" y="7415783"/>
            <a:ext cx="13167360" cy="219456"/>
          </a:xfrm>
          <a:prstGeom prst="rect">
            <a:avLst/>
          </a:prstGeom>
          <a:noFill/>
        </p:spPr>
        <p:txBody>
          <a:bodyPr wrap="square" lIns="0" rIns="0" tIns="0" bIns="0">
            <a:spAutoFit/>
          </a:bodyPr>
          <a:lstStyle/>
          <a:p>
            <a:pPr algn="l">
              <a:lnSpc>
                <a:spcPct val="112000"/>
              </a:lnSpc>
              <a:spcBef>
                <a:spcPts val="0"/>
              </a:spcBef>
              <a:spcAft>
                <a:spcPts val="0"/>
              </a:spcAft>
            </a:pPr>
            <a:r>
              <a:rPr sz="1152" b="0">
                <a:solidFill>
                  <a:srgbClr val="586777"/>
                </a:solidFill>
                <a:latin typeface="Segoe UI"/>
              </a:rPr>
              <a:t>Panels illustrative. Skill match % = share of a posting's skills you have, not a hiring probability. Tested brief: 39.6% coverage, n = 391.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58368" y="493776"/>
            <a:ext cx="347472" cy="45720"/>
          </a:xfrm>
          <a:prstGeom prst="rect">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79576" y="365760"/>
            <a:ext cx="12070080" cy="283464"/>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586777"/>
                </a:solidFill>
                <a:latin typeface="Segoe UI"/>
              </a:rPr>
              <a:t>06  /  EVIDENCE &amp; HONEST LIMITS</a:t>
            </a:r>
          </a:p>
        </p:txBody>
      </p:sp>
      <p:sp>
        <p:nvSpPr>
          <p:cNvPr id="4" name="TextBox 3"/>
          <p:cNvSpPr txBox="1"/>
          <p:nvPr/>
        </p:nvSpPr>
        <p:spPr>
          <a:xfrm>
            <a:off x="658368" y="996696"/>
            <a:ext cx="13313664" cy="1371600"/>
          </a:xfrm>
          <a:prstGeom prst="rect">
            <a:avLst/>
          </a:prstGeom>
          <a:noFill/>
        </p:spPr>
        <p:txBody>
          <a:bodyPr wrap="square" lIns="0" rIns="0" tIns="0" bIns="0">
            <a:spAutoFit/>
          </a:bodyPr>
          <a:lstStyle/>
          <a:p>
            <a:pPr algn="l">
              <a:lnSpc>
                <a:spcPct val="112000"/>
              </a:lnSpc>
              <a:spcBef>
                <a:spcPts val="0"/>
              </a:spcBef>
              <a:spcAft>
                <a:spcPts val="0"/>
              </a:spcAft>
            </a:pPr>
            <a:r>
              <a:rPr sz="4680" b="1">
                <a:solidFill>
                  <a:srgbClr val="1B2D40"/>
                </a:solidFill>
                <a:latin typeface="Georgia"/>
              </a:rPr>
              <a:t>A working product. Evidence you can inspect.</a:t>
            </a:r>
          </a:p>
        </p:txBody>
      </p:sp>
      <p:sp>
        <p:nvSpPr>
          <p:cNvPr id="5" name="TextBox 4"/>
          <p:cNvSpPr txBox="1"/>
          <p:nvPr/>
        </p:nvSpPr>
        <p:spPr>
          <a:xfrm>
            <a:off x="685800" y="2514600"/>
            <a:ext cx="13167360" cy="640080"/>
          </a:xfrm>
          <a:prstGeom prst="rect">
            <a:avLst/>
          </a:prstGeom>
          <a:noFill/>
        </p:spPr>
        <p:txBody>
          <a:bodyPr wrap="square" lIns="0" rIns="0" tIns="0" bIns="0">
            <a:spAutoFit/>
          </a:bodyPr>
          <a:lstStyle/>
          <a:p>
            <a:pPr algn="l">
              <a:lnSpc>
                <a:spcPct val="112000"/>
              </a:lnSpc>
              <a:spcBef>
                <a:spcPts val="0"/>
              </a:spcBef>
              <a:spcAft>
                <a:spcPts val="0"/>
              </a:spcAft>
            </a:pPr>
            <a:r>
              <a:rPr sz="1872" b="0">
                <a:solidFill>
                  <a:srgbClr val="586777"/>
                </a:solidFill>
                <a:latin typeface="Segoe UI"/>
              </a:rPr>
              <a:t>126 unit tests (owner-reported) · 19 new public recording checks · earlier evidence kept separate.</a:t>
            </a:r>
          </a:p>
        </p:txBody>
      </p:sp>
      <p:sp>
        <p:nvSpPr>
          <p:cNvPr id="6" name="Rectangle 5"/>
          <p:cNvSpPr/>
          <p:nvPr/>
        </p:nvSpPr>
        <p:spPr>
          <a:xfrm>
            <a:off x="658368" y="7662672"/>
            <a:ext cx="13313664" cy="9144"/>
          </a:xfrm>
          <a:prstGeom prst="rect">
            <a:avLst/>
          </a:prstGeom>
          <a:solidFill>
            <a:srgbClr val="DDDC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6656" y="7799831"/>
            <a:ext cx="10058400" cy="228600"/>
          </a:xfrm>
          <a:prstGeom prst="rect">
            <a:avLst/>
          </a:prstGeom>
          <a:noFill/>
        </p:spPr>
        <p:txBody>
          <a:bodyPr wrap="square" lIns="0" rIns="0" tIns="0" bIns="0">
            <a:spAutoFit/>
          </a:bodyPr>
          <a:lstStyle/>
          <a:p>
            <a:pPr algn="l">
              <a:lnSpc>
                <a:spcPct val="112000"/>
              </a:lnSpc>
              <a:spcBef>
                <a:spcPts val="0"/>
              </a:spcBef>
              <a:spcAft>
                <a:spcPts val="0"/>
              </a:spcAft>
            </a:pPr>
            <a:r>
              <a:rPr sz="1152" b="0">
                <a:solidFill>
                  <a:srgbClr val="586777"/>
                </a:solidFill>
                <a:latin typeface="Segoe UI"/>
              </a:rPr>
              <a:t>NJIA  /  DHRUZZZ  /  KENYA · ONLINE</a:t>
            </a:r>
          </a:p>
        </p:txBody>
      </p:sp>
      <p:sp>
        <p:nvSpPr>
          <p:cNvPr id="8" name="TextBox 7"/>
          <p:cNvSpPr txBox="1"/>
          <p:nvPr/>
        </p:nvSpPr>
        <p:spPr>
          <a:xfrm>
            <a:off x="12801600" y="7781544"/>
            <a:ext cx="1170432" cy="256032"/>
          </a:xfrm>
          <a:prstGeom prst="rect">
            <a:avLst/>
          </a:prstGeom>
          <a:noFill/>
        </p:spPr>
        <p:txBody>
          <a:bodyPr wrap="square" lIns="0" rIns="0" tIns="0" bIns="0">
            <a:spAutoFit/>
          </a:bodyPr>
          <a:lstStyle/>
          <a:p>
            <a:pPr algn="r">
              <a:lnSpc>
                <a:spcPct val="112000"/>
              </a:lnSpc>
              <a:spcBef>
                <a:spcPts val="0"/>
              </a:spcBef>
              <a:spcAft>
                <a:spcPts val="0"/>
              </a:spcAft>
            </a:pPr>
            <a:r>
              <a:rPr sz="1296" b="0">
                <a:solidFill>
                  <a:srgbClr val="586777"/>
                </a:solidFill>
                <a:latin typeface="Segoe UI"/>
              </a:rPr>
              <a:t>06 / 08</a:t>
            </a:r>
          </a:p>
        </p:txBody>
      </p:sp>
      <p:sp>
        <p:nvSpPr>
          <p:cNvPr id="9" name="Rounded Rectangle 8"/>
          <p:cNvSpPr/>
          <p:nvPr/>
        </p:nvSpPr>
        <p:spPr>
          <a:xfrm>
            <a:off x="694944" y="3291840"/>
            <a:ext cx="6089904" cy="2057400"/>
          </a:xfrm>
          <a:prstGeom prst="roundRect">
            <a:avLst>
              <a:gd name="adj" fmla="val 5333"/>
            </a:avLst>
          </a:prstGeom>
          <a:solidFill>
            <a:srgbClr val="14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3483864"/>
            <a:ext cx="548640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D4DEE6"/>
                </a:solidFill>
                <a:latin typeface="Segoe UI"/>
              </a:rPr>
              <a:t>PASSED / TWO DISTINCT TEST LAYERS</a:t>
            </a:r>
          </a:p>
        </p:txBody>
      </p:sp>
      <p:sp>
        <p:nvSpPr>
          <p:cNvPr id="11" name="TextBox 10"/>
          <p:cNvSpPr txBox="1"/>
          <p:nvPr/>
        </p:nvSpPr>
        <p:spPr>
          <a:xfrm>
            <a:off x="969264" y="3822191"/>
            <a:ext cx="2743200" cy="896112"/>
          </a:xfrm>
          <a:prstGeom prst="rect">
            <a:avLst/>
          </a:prstGeom>
          <a:noFill/>
        </p:spPr>
        <p:txBody>
          <a:bodyPr wrap="square" lIns="0" rIns="0" tIns="0" bIns="0">
            <a:spAutoFit/>
          </a:bodyPr>
          <a:lstStyle/>
          <a:p>
            <a:pPr algn="l">
              <a:lnSpc>
                <a:spcPct val="112000"/>
              </a:lnSpc>
              <a:spcBef>
                <a:spcPts val="0"/>
              </a:spcBef>
              <a:spcAft>
                <a:spcPts val="0"/>
              </a:spcAft>
            </a:pPr>
            <a:r>
              <a:rPr sz="5904" b="1">
                <a:solidFill>
                  <a:srgbClr val="F7F4EC"/>
                </a:solidFill>
                <a:latin typeface="Georgia"/>
              </a:rPr>
              <a:t>126</a:t>
            </a:r>
          </a:p>
        </p:txBody>
      </p:sp>
      <p:sp>
        <p:nvSpPr>
          <p:cNvPr id="12" name="TextBox 11"/>
          <p:cNvSpPr txBox="1"/>
          <p:nvPr/>
        </p:nvSpPr>
        <p:spPr>
          <a:xfrm>
            <a:off x="3977639" y="3822191"/>
            <a:ext cx="2560320" cy="896112"/>
          </a:xfrm>
          <a:prstGeom prst="rect">
            <a:avLst/>
          </a:prstGeom>
          <a:noFill/>
        </p:spPr>
        <p:txBody>
          <a:bodyPr wrap="square" lIns="0" rIns="0" tIns="0" bIns="0">
            <a:spAutoFit/>
          </a:bodyPr>
          <a:lstStyle/>
          <a:p>
            <a:pPr algn="l">
              <a:lnSpc>
                <a:spcPct val="112000"/>
              </a:lnSpc>
              <a:spcBef>
                <a:spcPts val="0"/>
              </a:spcBef>
              <a:spcAft>
                <a:spcPts val="0"/>
              </a:spcAft>
            </a:pPr>
            <a:r>
              <a:rPr sz="5904" b="1">
                <a:solidFill>
                  <a:srgbClr val="F27B43"/>
                </a:solidFill>
                <a:latin typeface="Georgia"/>
              </a:rPr>
              <a:t>57</a:t>
            </a:r>
          </a:p>
        </p:txBody>
      </p:sp>
      <p:sp>
        <p:nvSpPr>
          <p:cNvPr id="13" name="TextBox 12"/>
          <p:cNvSpPr txBox="1"/>
          <p:nvPr/>
        </p:nvSpPr>
        <p:spPr>
          <a:xfrm>
            <a:off x="1005840" y="4745736"/>
            <a:ext cx="2651760" cy="329184"/>
          </a:xfrm>
          <a:prstGeom prst="rect">
            <a:avLst/>
          </a:prstGeom>
          <a:noFill/>
        </p:spPr>
        <p:txBody>
          <a:bodyPr wrap="square" lIns="0" rIns="0" tIns="0" bIns="0">
            <a:spAutoFit/>
          </a:bodyPr>
          <a:lstStyle/>
          <a:p>
            <a:pPr algn="l">
              <a:lnSpc>
                <a:spcPct val="112000"/>
              </a:lnSpc>
              <a:spcBef>
                <a:spcPts val="0"/>
              </a:spcBef>
              <a:spcAft>
                <a:spcPts val="0"/>
              </a:spcAft>
            </a:pPr>
            <a:r>
              <a:rPr sz="1800" b="0">
                <a:solidFill>
                  <a:srgbClr val="D4DEE6"/>
                </a:solidFill>
                <a:latin typeface="Segoe UI"/>
              </a:rPr>
              <a:t>backend tests</a:t>
            </a:r>
          </a:p>
        </p:txBody>
      </p:sp>
      <p:sp>
        <p:nvSpPr>
          <p:cNvPr id="14" name="TextBox 13"/>
          <p:cNvSpPr txBox="1"/>
          <p:nvPr/>
        </p:nvSpPr>
        <p:spPr>
          <a:xfrm>
            <a:off x="4014215" y="4736592"/>
            <a:ext cx="2651760" cy="301752"/>
          </a:xfrm>
          <a:prstGeom prst="rect">
            <a:avLst/>
          </a:prstGeom>
          <a:noFill/>
        </p:spPr>
        <p:txBody>
          <a:bodyPr wrap="square" lIns="0" rIns="0" tIns="0" bIns="0">
            <a:spAutoFit/>
          </a:bodyPr>
          <a:lstStyle/>
          <a:p>
            <a:pPr algn="l">
              <a:lnSpc>
                <a:spcPct val="112000"/>
              </a:lnSpc>
              <a:spcBef>
                <a:spcPts val="0"/>
              </a:spcBef>
              <a:spcAft>
                <a:spcPts val="0"/>
              </a:spcAft>
            </a:pPr>
            <a:r>
              <a:rPr sz="1655" b="0">
                <a:solidFill>
                  <a:srgbClr val="D4DEE6"/>
                </a:solidFill>
                <a:latin typeface="Segoe UI"/>
              </a:rPr>
              <a:t>earlier public checks</a:t>
            </a:r>
          </a:p>
        </p:txBody>
      </p:sp>
      <p:sp>
        <p:nvSpPr>
          <p:cNvPr id="15" name="TextBox 14"/>
          <p:cNvSpPr txBox="1"/>
          <p:nvPr/>
        </p:nvSpPr>
        <p:spPr>
          <a:xfrm>
            <a:off x="4014215" y="5056632"/>
            <a:ext cx="2651760" cy="228600"/>
          </a:xfrm>
          <a:prstGeom prst="rect">
            <a:avLst/>
          </a:prstGeom>
          <a:noFill/>
        </p:spPr>
        <p:txBody>
          <a:bodyPr wrap="square" lIns="0" rIns="0" tIns="0" bIns="0">
            <a:spAutoFit/>
          </a:bodyPr>
          <a:lstStyle/>
          <a:p>
            <a:pPr algn="l">
              <a:lnSpc>
                <a:spcPct val="112000"/>
              </a:lnSpc>
              <a:spcBef>
                <a:spcPts val="0"/>
              </a:spcBef>
              <a:spcAft>
                <a:spcPts val="0"/>
              </a:spcAft>
            </a:pPr>
            <a:r>
              <a:rPr sz="1296" b="0">
                <a:solidFill>
                  <a:srgbClr val="D4DEE6"/>
                </a:solidFill>
                <a:latin typeface="Segoe UI"/>
              </a:rPr>
              <a:t>48 acceptance + 9 recording</a:t>
            </a:r>
          </a:p>
        </p:txBody>
      </p:sp>
      <p:sp>
        <p:nvSpPr>
          <p:cNvPr id="16" name="Rounded Rectangle 15"/>
          <p:cNvSpPr/>
          <p:nvPr/>
        </p:nvSpPr>
        <p:spPr>
          <a:xfrm>
            <a:off x="7132320" y="3291840"/>
            <a:ext cx="6839712" cy="2057400"/>
          </a:xfrm>
          <a:prstGeom prst="roundRect">
            <a:avLst>
              <a:gd name="adj" fmla="val 5333"/>
            </a:avLst>
          </a:prstGeom>
          <a:solidFill>
            <a:srgbClr val="FFF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24927" y="3483864"/>
            <a:ext cx="630936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1B2D40"/>
                </a:solidFill>
                <a:latin typeface="Segoe UI"/>
              </a:rPr>
              <a:t>NEW PUBLIC RECORDING / GROQ · GPT-OSS-20B</a:t>
            </a:r>
          </a:p>
        </p:txBody>
      </p:sp>
      <p:sp>
        <p:nvSpPr>
          <p:cNvPr id="18" name="TextBox 17"/>
          <p:cNvSpPr txBox="1"/>
          <p:nvPr/>
        </p:nvSpPr>
        <p:spPr>
          <a:xfrm>
            <a:off x="7424927" y="3877056"/>
            <a:ext cx="6309360" cy="914400"/>
          </a:xfrm>
          <a:prstGeom prst="rect">
            <a:avLst/>
          </a:prstGeom>
          <a:noFill/>
        </p:spPr>
        <p:txBody>
          <a:bodyPr wrap="square" lIns="0" rIns="0" tIns="0" bIns="0">
            <a:spAutoFit/>
          </a:bodyPr>
          <a:lstStyle/>
          <a:p>
            <a:pPr algn="l">
              <a:lnSpc>
                <a:spcPct val="112000"/>
              </a:lnSpc>
              <a:spcBef>
                <a:spcPts val="0"/>
              </a:spcBef>
              <a:spcAft>
                <a:spcPts val="0"/>
              </a:spcAft>
            </a:pPr>
            <a:r>
              <a:rPr sz="1943" b="0">
                <a:solidFill>
                  <a:srgbClr val="1B2D40"/>
                </a:solidFill>
                <a:latin typeface="Segoe UI"/>
              </a:rPr>
              <a:t>1.271s PDF + follow-ups / 1.450s brief</a:t>
            </a:r>
          </a:p>
          <a:p>
            <a:pPr algn="l">
              <a:lnSpc>
                <a:spcPct val="112000"/>
              </a:lnSpc>
              <a:spcBef>
                <a:spcPts val="0"/>
              </a:spcBef>
              <a:spcAft>
                <a:spcPts val="0"/>
              </a:spcAft>
            </a:pPr>
            <a:r>
              <a:rPr sz="1943" b="0">
                <a:solidFill>
                  <a:srgbClr val="1B2D40"/>
                </a:solidFill>
                <a:latin typeface="Segoe UI"/>
              </a:rPr>
              <a:t>0.844s feedback · score 4/5</a:t>
            </a:r>
          </a:p>
          <a:p>
            <a:pPr algn="l">
              <a:lnSpc>
                <a:spcPct val="112000"/>
              </a:lnSpc>
              <a:spcBef>
                <a:spcPts val="0"/>
              </a:spcBef>
              <a:spcAft>
                <a:spcPts val="0"/>
              </a:spcAft>
            </a:pPr>
            <a:r>
              <a:rPr sz="1943" b="0">
                <a:solidFill>
                  <a:srgbClr val="1B2D40"/>
                </a:solidFill>
                <a:latin typeface="Segoe UI"/>
              </a:rPr>
              <a:t>0 JavaScript errors · 90s video · 1× playback</a:t>
            </a:r>
          </a:p>
        </p:txBody>
      </p:sp>
      <p:sp>
        <p:nvSpPr>
          <p:cNvPr id="19" name="TextBox 18"/>
          <p:cNvSpPr txBox="1"/>
          <p:nvPr/>
        </p:nvSpPr>
        <p:spPr>
          <a:xfrm>
            <a:off x="7424927" y="4937760"/>
            <a:ext cx="6309360" cy="246888"/>
          </a:xfrm>
          <a:prstGeom prst="rect">
            <a:avLst/>
          </a:prstGeom>
          <a:noFill/>
        </p:spPr>
        <p:txBody>
          <a:bodyPr wrap="square" lIns="0" rIns="0" tIns="0" bIns="0">
            <a:spAutoFit/>
          </a:bodyPr>
          <a:lstStyle/>
          <a:p>
            <a:pPr algn="l">
              <a:lnSpc>
                <a:spcPct val="112000"/>
              </a:lnSpc>
              <a:spcBef>
                <a:spcPts val="0"/>
              </a:spcBef>
              <a:spcAft>
                <a:spcPts val="0"/>
              </a:spcAft>
            </a:pPr>
            <a:r>
              <a:rPr sz="1439" b="0">
                <a:solidFill>
                  <a:srgbClr val="586777"/>
                </a:solidFill>
                <a:latin typeface="Segoe UI"/>
              </a:rPr>
              <a:t>Observed once; NVIDIA API Catalog backup not exercised.</a:t>
            </a:r>
          </a:p>
        </p:txBody>
      </p:sp>
      <p:sp>
        <p:nvSpPr>
          <p:cNvPr id="20" name="Rounded Rectangle 19"/>
          <p:cNvSpPr/>
          <p:nvPr/>
        </p:nvSpPr>
        <p:spPr>
          <a:xfrm>
            <a:off x="694944" y="5513832"/>
            <a:ext cx="13277088" cy="731520"/>
          </a:xfrm>
          <a:prstGeom prst="roundRect">
            <a:avLst>
              <a:gd name="adj" fmla="val 125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4944" y="5513832"/>
            <a:ext cx="54864" cy="731520"/>
          </a:xfrm>
          <a:prstGeom prst="rect">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5605272"/>
            <a:ext cx="1280160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1B2D40"/>
                </a:solidFill>
                <a:latin typeface="Segoe UI"/>
              </a:rPr>
              <a:t>NEW TODAY / FOLLOW-UPS · LIVE JOBS · WEB INTERVIEW QUESTIONS · ANSWER FEEDBACK</a:t>
            </a:r>
          </a:p>
        </p:txBody>
      </p:sp>
      <p:sp>
        <p:nvSpPr>
          <p:cNvPr id="23" name="TextBox 22"/>
          <p:cNvSpPr txBox="1"/>
          <p:nvPr/>
        </p:nvSpPr>
        <p:spPr>
          <a:xfrm>
            <a:off x="969264" y="5897880"/>
            <a:ext cx="12801600" cy="256032"/>
          </a:xfrm>
          <a:prstGeom prst="rect">
            <a:avLst/>
          </a:prstGeom>
          <a:noFill/>
        </p:spPr>
        <p:txBody>
          <a:bodyPr wrap="square" lIns="0" rIns="0" tIns="0" bIns="0">
            <a:spAutoFit/>
          </a:bodyPr>
          <a:lstStyle/>
          <a:p>
            <a:pPr algn="l">
              <a:lnSpc>
                <a:spcPct val="112000"/>
              </a:lnSpc>
              <a:spcBef>
                <a:spcPts val="0"/>
              </a:spcBef>
              <a:spcAft>
                <a:spcPts val="0"/>
              </a:spcAft>
            </a:pPr>
            <a:r>
              <a:rPr sz="1512" b="0">
                <a:solidFill>
                  <a:srgbClr val="586777"/>
                </a:solidFill>
                <a:latin typeface="Segoe UI"/>
              </a:rPr>
              <a:t>8 remote + 3 local job cards shown  ·  8 source-linked interview questions  ·  19 new recording checks passed</a:t>
            </a:r>
          </a:p>
        </p:txBody>
      </p:sp>
      <p:sp>
        <p:nvSpPr>
          <p:cNvPr id="24" name="TextBox 23"/>
          <p:cNvSpPr txBox="1"/>
          <p:nvPr/>
        </p:nvSpPr>
        <p:spPr>
          <a:xfrm>
            <a:off x="694944" y="6419088"/>
            <a:ext cx="4297680" cy="365760"/>
          </a:xfrm>
          <a:prstGeom prst="rect">
            <a:avLst/>
          </a:prstGeom>
          <a:noFill/>
        </p:spPr>
        <p:txBody>
          <a:bodyPr wrap="square" lIns="0" rIns="0" tIns="0" bIns="0">
            <a:spAutoFit/>
          </a:bodyPr>
          <a:lstStyle/>
          <a:p>
            <a:pPr algn="l">
              <a:lnSpc>
                <a:spcPct val="112000"/>
              </a:lnSpc>
              <a:spcBef>
                <a:spcPts val="0"/>
              </a:spcBef>
              <a:spcAft>
                <a:spcPts val="0"/>
              </a:spcAft>
            </a:pPr>
            <a:r>
              <a:rPr sz="2016" b="1">
                <a:solidFill>
                  <a:srgbClr val="1B2D40"/>
                </a:solidFill>
                <a:latin typeface="Georgia"/>
              </a:rPr>
              <a:t>Data + match %</a:t>
            </a:r>
          </a:p>
        </p:txBody>
      </p:sp>
      <p:sp>
        <p:nvSpPr>
          <p:cNvPr id="25" name="TextBox 24"/>
          <p:cNvSpPr txBox="1"/>
          <p:nvPr/>
        </p:nvSpPr>
        <p:spPr>
          <a:xfrm>
            <a:off x="694944" y="6821424"/>
            <a:ext cx="4297680" cy="475488"/>
          </a:xfrm>
          <a:prstGeom prst="rect">
            <a:avLst/>
          </a:prstGeom>
          <a:noFill/>
        </p:spPr>
        <p:txBody>
          <a:bodyPr wrap="square" lIns="0" rIns="0" tIns="0" bIns="0">
            <a:spAutoFit/>
          </a:bodyPr>
          <a:lstStyle/>
          <a:p>
            <a:pPr algn="l">
              <a:lnSpc>
                <a:spcPct val="112000"/>
              </a:lnSpc>
              <a:spcBef>
                <a:spcPts val="0"/>
              </a:spcBef>
              <a:spcAft>
                <a:spcPts val="0"/>
              </a:spcAft>
            </a:pPr>
            <a:r>
              <a:rPr sz="1512" b="0">
                <a:solidFill>
                  <a:srgbClr val="586777"/>
                </a:solidFill>
                <a:latin typeface="Segoe UI"/>
              </a:rPr>
              <a:t>2023 sample sets the priorities.</a:t>
            </a:r>
          </a:p>
          <a:p>
            <a:pPr algn="l">
              <a:lnSpc>
                <a:spcPct val="112000"/>
              </a:lnSpc>
              <a:spcBef>
                <a:spcPts val="0"/>
              </a:spcBef>
              <a:spcAft>
                <a:spcPts val="0"/>
              </a:spcAft>
            </a:pPr>
            <a:r>
              <a:rPr sz="1512" b="0">
                <a:solidFill>
                  <a:srgbClr val="586777"/>
                </a:solidFill>
                <a:latin typeface="Segoe UI"/>
              </a:rPr>
              <a:t>Match % is not a hiring probability.</a:t>
            </a:r>
          </a:p>
        </p:txBody>
      </p:sp>
      <p:sp>
        <p:nvSpPr>
          <p:cNvPr id="26" name="TextBox 25"/>
          <p:cNvSpPr txBox="1"/>
          <p:nvPr/>
        </p:nvSpPr>
        <p:spPr>
          <a:xfrm>
            <a:off x="5239512" y="6419088"/>
            <a:ext cx="4297680" cy="365760"/>
          </a:xfrm>
          <a:prstGeom prst="rect">
            <a:avLst/>
          </a:prstGeom>
          <a:noFill/>
        </p:spPr>
        <p:txBody>
          <a:bodyPr wrap="square" lIns="0" rIns="0" tIns="0" bIns="0">
            <a:spAutoFit/>
          </a:bodyPr>
          <a:lstStyle/>
          <a:p>
            <a:pPr algn="l">
              <a:lnSpc>
                <a:spcPct val="112000"/>
              </a:lnSpc>
              <a:spcBef>
                <a:spcPts val="0"/>
              </a:spcBef>
              <a:spcAft>
                <a:spcPts val="0"/>
              </a:spcAft>
            </a:pPr>
            <a:r>
              <a:rPr sz="2016" b="1">
                <a:solidFill>
                  <a:srgbClr val="1B2D40"/>
                </a:solidFill>
                <a:latin typeface="Georgia"/>
              </a:rPr>
              <a:t>Human factual review</a:t>
            </a:r>
          </a:p>
        </p:txBody>
      </p:sp>
      <p:sp>
        <p:nvSpPr>
          <p:cNvPr id="27" name="TextBox 26"/>
          <p:cNvSpPr txBox="1"/>
          <p:nvPr/>
        </p:nvSpPr>
        <p:spPr>
          <a:xfrm>
            <a:off x="5239512" y="6821424"/>
            <a:ext cx="4297680" cy="475488"/>
          </a:xfrm>
          <a:prstGeom prst="rect">
            <a:avLst/>
          </a:prstGeom>
          <a:noFill/>
        </p:spPr>
        <p:txBody>
          <a:bodyPr wrap="square" lIns="0" rIns="0" tIns="0" bIns="0">
            <a:spAutoFit/>
          </a:bodyPr>
          <a:lstStyle/>
          <a:p>
            <a:pPr algn="l">
              <a:lnSpc>
                <a:spcPct val="112000"/>
              </a:lnSpc>
              <a:spcBef>
                <a:spcPts val="0"/>
              </a:spcBef>
              <a:spcAft>
                <a:spcPts val="0"/>
              </a:spcAft>
            </a:pPr>
            <a:r>
              <a:rPr sz="1512" b="0">
                <a:solidFill>
                  <a:srgbClr val="586777"/>
                </a:solidFill>
                <a:latin typeface="Segoe UI"/>
              </a:rPr>
              <a:t>Numbers/tools checked; unsupported</a:t>
            </a:r>
          </a:p>
          <a:p>
            <a:pPr algn="l">
              <a:lnSpc>
                <a:spcPct val="112000"/>
              </a:lnSpc>
              <a:spcBef>
                <a:spcPts val="0"/>
              </a:spcBef>
              <a:spcAft>
                <a:spcPts val="0"/>
              </a:spcAft>
            </a:pPr>
            <a:r>
              <a:rPr sz="1512" b="0">
                <a:solidFill>
                  <a:srgbClr val="586777"/>
                </a:solidFill>
                <a:latin typeface="Segoe UI"/>
              </a:rPr>
              <a:t>claims can still slip through.</a:t>
            </a:r>
          </a:p>
        </p:txBody>
      </p:sp>
      <p:sp>
        <p:nvSpPr>
          <p:cNvPr id="28" name="TextBox 27"/>
          <p:cNvSpPr txBox="1"/>
          <p:nvPr/>
        </p:nvSpPr>
        <p:spPr>
          <a:xfrm>
            <a:off x="9784080" y="6419088"/>
            <a:ext cx="4297680" cy="365760"/>
          </a:xfrm>
          <a:prstGeom prst="rect">
            <a:avLst/>
          </a:prstGeom>
          <a:noFill/>
        </p:spPr>
        <p:txBody>
          <a:bodyPr wrap="square" lIns="0" rIns="0" tIns="0" bIns="0">
            <a:spAutoFit/>
          </a:bodyPr>
          <a:lstStyle/>
          <a:p>
            <a:pPr algn="l">
              <a:lnSpc>
                <a:spcPct val="112000"/>
              </a:lnSpc>
              <a:spcBef>
                <a:spcPts val="0"/>
              </a:spcBef>
              <a:spcAft>
                <a:spcPts val="0"/>
              </a:spcAft>
            </a:pPr>
            <a:r>
              <a:rPr sz="2016" b="1">
                <a:solidFill>
                  <a:srgbClr val="1B2D40"/>
                </a:solidFill>
                <a:latin typeface="Georgia"/>
              </a:rPr>
              <a:t>Impact</a:t>
            </a:r>
          </a:p>
        </p:txBody>
      </p:sp>
      <p:sp>
        <p:nvSpPr>
          <p:cNvPr id="29" name="TextBox 28"/>
          <p:cNvSpPr txBox="1"/>
          <p:nvPr/>
        </p:nvSpPr>
        <p:spPr>
          <a:xfrm>
            <a:off x="9784080" y="6821424"/>
            <a:ext cx="4297680" cy="475488"/>
          </a:xfrm>
          <a:prstGeom prst="rect">
            <a:avLst/>
          </a:prstGeom>
          <a:noFill/>
        </p:spPr>
        <p:txBody>
          <a:bodyPr wrap="square" lIns="0" rIns="0" tIns="0" bIns="0">
            <a:spAutoFit/>
          </a:bodyPr>
          <a:lstStyle/>
          <a:p>
            <a:pPr algn="l">
              <a:lnSpc>
                <a:spcPct val="112000"/>
              </a:lnSpc>
              <a:spcBef>
                <a:spcPts val="0"/>
              </a:spcBef>
              <a:spcAft>
                <a:spcPts val="0"/>
              </a:spcAft>
            </a:pPr>
            <a:r>
              <a:rPr sz="1512" b="0">
                <a:solidFill>
                  <a:srgbClr val="586777"/>
                </a:solidFill>
                <a:latin typeface="Segoe UI"/>
              </a:rPr>
              <a:t>No measured employment outcomes</a:t>
            </a:r>
          </a:p>
          <a:p>
            <a:pPr algn="l">
              <a:lnSpc>
                <a:spcPct val="112000"/>
              </a:lnSpc>
              <a:spcBef>
                <a:spcPts val="0"/>
              </a:spcBef>
              <a:spcAft>
                <a:spcPts val="0"/>
              </a:spcAft>
            </a:pPr>
            <a:r>
              <a:rPr sz="1512" b="0">
                <a:solidFill>
                  <a:srgbClr val="586777"/>
                </a:solidFill>
                <a:latin typeface="Segoe UI"/>
              </a:rPr>
              <a:t>or real-user adoption claimed.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58368" y="493776"/>
            <a:ext cx="347472" cy="45720"/>
          </a:xfrm>
          <a:prstGeom prst="rect">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79576" y="365760"/>
            <a:ext cx="12070080" cy="283464"/>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586777"/>
                </a:solidFill>
                <a:latin typeface="Segoe UI"/>
              </a:rPr>
              <a:t>07  /  ADOPTION PLAN &amp; AWARD FIT</a:t>
            </a:r>
          </a:p>
        </p:txBody>
      </p:sp>
      <p:sp>
        <p:nvSpPr>
          <p:cNvPr id="4" name="TextBox 3"/>
          <p:cNvSpPr txBox="1"/>
          <p:nvPr/>
        </p:nvSpPr>
        <p:spPr>
          <a:xfrm>
            <a:off x="658368" y="996696"/>
            <a:ext cx="13313664" cy="1371600"/>
          </a:xfrm>
          <a:prstGeom prst="rect">
            <a:avLst/>
          </a:prstGeom>
          <a:noFill/>
        </p:spPr>
        <p:txBody>
          <a:bodyPr wrap="square" lIns="0" rIns="0" tIns="0" bIns="0">
            <a:spAutoFit/>
          </a:bodyPr>
          <a:lstStyle/>
          <a:p>
            <a:pPr algn="l">
              <a:lnSpc>
                <a:spcPct val="112000"/>
              </a:lnSpc>
              <a:spcBef>
                <a:spcPts val="0"/>
              </a:spcBef>
              <a:spcAft>
                <a:spcPts val="0"/>
              </a:spcAft>
            </a:pPr>
            <a:r>
              <a:rPr sz="4680" b="1">
                <a:solidFill>
                  <a:srgbClr val="1B2D40"/>
                </a:solidFill>
                <a:latin typeface="Georgia"/>
              </a:rPr>
              <a:t>Start small. Measure a useful next step.</a:t>
            </a:r>
          </a:p>
        </p:txBody>
      </p:sp>
      <p:sp>
        <p:nvSpPr>
          <p:cNvPr id="5" name="TextBox 4"/>
          <p:cNvSpPr txBox="1"/>
          <p:nvPr/>
        </p:nvSpPr>
        <p:spPr>
          <a:xfrm>
            <a:off x="685800" y="2514600"/>
            <a:ext cx="13167360" cy="640080"/>
          </a:xfrm>
          <a:prstGeom prst="rect">
            <a:avLst/>
          </a:prstGeom>
          <a:noFill/>
        </p:spPr>
        <p:txBody>
          <a:bodyPr wrap="square" lIns="0" rIns="0" tIns="0" bIns="0">
            <a:spAutoFit/>
          </a:bodyPr>
          <a:lstStyle/>
          <a:p>
            <a:pPr algn="l">
              <a:lnSpc>
                <a:spcPct val="112000"/>
              </a:lnSpc>
              <a:spcBef>
                <a:spcPts val="0"/>
              </a:spcBef>
              <a:spcAft>
                <a:spcPts val="0"/>
              </a:spcAft>
            </a:pPr>
            <a:r>
              <a:rPr sz="1872" b="0">
                <a:solidFill>
                  <a:srgbClr val="586777"/>
                </a:solidFill>
                <a:latin typeface="Segoe UI"/>
              </a:rPr>
              <a:t>Proposed pilot with Kenyan learners and a training partner — recruitment has not started.</a:t>
            </a:r>
          </a:p>
        </p:txBody>
      </p:sp>
      <p:sp>
        <p:nvSpPr>
          <p:cNvPr id="6" name="Rectangle 5"/>
          <p:cNvSpPr/>
          <p:nvPr/>
        </p:nvSpPr>
        <p:spPr>
          <a:xfrm>
            <a:off x="658368" y="7662672"/>
            <a:ext cx="13313664" cy="9144"/>
          </a:xfrm>
          <a:prstGeom prst="rect">
            <a:avLst/>
          </a:prstGeom>
          <a:solidFill>
            <a:srgbClr val="DDDC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6656" y="7799831"/>
            <a:ext cx="10058400" cy="228600"/>
          </a:xfrm>
          <a:prstGeom prst="rect">
            <a:avLst/>
          </a:prstGeom>
          <a:noFill/>
        </p:spPr>
        <p:txBody>
          <a:bodyPr wrap="square" lIns="0" rIns="0" tIns="0" bIns="0">
            <a:spAutoFit/>
          </a:bodyPr>
          <a:lstStyle/>
          <a:p>
            <a:pPr algn="l">
              <a:lnSpc>
                <a:spcPct val="112000"/>
              </a:lnSpc>
              <a:spcBef>
                <a:spcPts val="0"/>
              </a:spcBef>
              <a:spcAft>
                <a:spcPts val="0"/>
              </a:spcAft>
            </a:pPr>
            <a:r>
              <a:rPr sz="1152" b="0">
                <a:solidFill>
                  <a:srgbClr val="586777"/>
                </a:solidFill>
                <a:latin typeface="Segoe UI"/>
              </a:rPr>
              <a:t>NJIA  /  DHRUZZZ  /  KENYA · ONLINE</a:t>
            </a:r>
          </a:p>
        </p:txBody>
      </p:sp>
      <p:sp>
        <p:nvSpPr>
          <p:cNvPr id="8" name="TextBox 7"/>
          <p:cNvSpPr txBox="1"/>
          <p:nvPr/>
        </p:nvSpPr>
        <p:spPr>
          <a:xfrm>
            <a:off x="12801600" y="7781544"/>
            <a:ext cx="1170432" cy="256032"/>
          </a:xfrm>
          <a:prstGeom prst="rect">
            <a:avLst/>
          </a:prstGeom>
          <a:noFill/>
        </p:spPr>
        <p:txBody>
          <a:bodyPr wrap="square" lIns="0" rIns="0" tIns="0" bIns="0">
            <a:spAutoFit/>
          </a:bodyPr>
          <a:lstStyle/>
          <a:p>
            <a:pPr algn="r">
              <a:lnSpc>
                <a:spcPct val="112000"/>
              </a:lnSpc>
              <a:spcBef>
                <a:spcPts val="0"/>
              </a:spcBef>
              <a:spcAft>
                <a:spcPts val="0"/>
              </a:spcAft>
            </a:pPr>
            <a:r>
              <a:rPr sz="1296" b="0">
                <a:solidFill>
                  <a:srgbClr val="586777"/>
                </a:solidFill>
                <a:latin typeface="Segoe UI"/>
              </a:rPr>
              <a:t>07 / 08</a:t>
            </a:r>
          </a:p>
        </p:txBody>
      </p:sp>
      <p:sp>
        <p:nvSpPr>
          <p:cNvPr id="9" name="TextBox 8"/>
          <p:cNvSpPr txBox="1"/>
          <p:nvPr/>
        </p:nvSpPr>
        <p:spPr>
          <a:xfrm>
            <a:off x="694944" y="3538728"/>
            <a:ext cx="416052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586777"/>
                </a:solidFill>
                <a:latin typeface="Segoe UI"/>
              </a:rPr>
              <a:t>RECRUIT</a:t>
            </a:r>
          </a:p>
        </p:txBody>
      </p:sp>
      <p:sp>
        <p:nvSpPr>
          <p:cNvPr id="10" name="Rectangle 9"/>
          <p:cNvSpPr/>
          <p:nvPr/>
        </p:nvSpPr>
        <p:spPr>
          <a:xfrm>
            <a:off x="694944" y="3959352"/>
            <a:ext cx="4133087" cy="36576"/>
          </a:xfrm>
          <a:prstGeom prst="rect">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4251960"/>
            <a:ext cx="4151376" cy="713232"/>
          </a:xfrm>
          <a:prstGeom prst="rect">
            <a:avLst/>
          </a:prstGeom>
          <a:noFill/>
        </p:spPr>
        <p:txBody>
          <a:bodyPr wrap="square" lIns="0" rIns="0" tIns="0" bIns="0">
            <a:spAutoFit/>
          </a:bodyPr>
          <a:lstStyle/>
          <a:p>
            <a:pPr algn="l">
              <a:lnSpc>
                <a:spcPct val="112000"/>
              </a:lnSpc>
              <a:spcBef>
                <a:spcPts val="0"/>
              </a:spcBef>
              <a:spcAft>
                <a:spcPts val="0"/>
              </a:spcAft>
            </a:pPr>
            <a:r>
              <a:rPr sz="2376" b="1">
                <a:solidFill>
                  <a:srgbClr val="1B2D40"/>
                </a:solidFill>
                <a:latin typeface="Georgia"/>
              </a:rPr>
              <a:t>10 learners + 1 partner</a:t>
            </a:r>
          </a:p>
        </p:txBody>
      </p:sp>
      <p:sp>
        <p:nvSpPr>
          <p:cNvPr id="12" name="TextBox 11"/>
          <p:cNvSpPr txBox="1"/>
          <p:nvPr/>
        </p:nvSpPr>
        <p:spPr>
          <a:xfrm>
            <a:off x="694944" y="5120640"/>
            <a:ext cx="4251960" cy="886968"/>
          </a:xfrm>
          <a:prstGeom prst="rect">
            <a:avLst/>
          </a:prstGeom>
          <a:noFill/>
        </p:spPr>
        <p:txBody>
          <a:bodyPr wrap="square" lIns="0" rIns="0" tIns="0" bIns="0">
            <a:spAutoFit/>
          </a:bodyPr>
          <a:lstStyle/>
          <a:p>
            <a:pPr algn="l">
              <a:lnSpc>
                <a:spcPct val="112000"/>
              </a:lnSpc>
              <a:spcBef>
                <a:spcPts val="0"/>
              </a:spcBef>
              <a:spcAft>
                <a:spcPts val="0"/>
              </a:spcAft>
            </a:pPr>
            <a:r>
              <a:rPr sz="1728" b="0">
                <a:solidFill>
                  <a:srgbClr val="586777"/>
                </a:solidFill>
                <a:latin typeface="Segoe UI"/>
              </a:rPr>
              <a:t>Invite Kenyan career starters.</a:t>
            </a:r>
          </a:p>
          <a:p>
            <a:pPr algn="l">
              <a:lnSpc>
                <a:spcPct val="112000"/>
              </a:lnSpc>
              <a:spcBef>
                <a:spcPts val="0"/>
              </a:spcBef>
              <a:spcAft>
                <a:spcPts val="0"/>
              </a:spcAft>
            </a:pPr>
            <a:r>
              <a:rPr sz="1728" b="0">
                <a:solidFill>
                  <a:srgbClr val="586777"/>
                </a:solidFill>
                <a:latin typeface="Segoe UI"/>
              </a:rPr>
              <a:t>Observe the mobile CV journey.</a:t>
            </a:r>
          </a:p>
        </p:txBody>
      </p:sp>
      <p:sp>
        <p:nvSpPr>
          <p:cNvPr id="13" name="TextBox 12"/>
          <p:cNvSpPr txBox="1"/>
          <p:nvPr/>
        </p:nvSpPr>
        <p:spPr>
          <a:xfrm>
            <a:off x="5239512" y="3538728"/>
            <a:ext cx="416052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586777"/>
                </a:solidFill>
                <a:latin typeface="Segoe UI"/>
              </a:rPr>
              <a:t>REVIEW</a:t>
            </a:r>
          </a:p>
        </p:txBody>
      </p:sp>
      <p:sp>
        <p:nvSpPr>
          <p:cNvPr id="14" name="Rectangle 13"/>
          <p:cNvSpPr/>
          <p:nvPr/>
        </p:nvSpPr>
        <p:spPr>
          <a:xfrm>
            <a:off x="5239512" y="3959352"/>
            <a:ext cx="4133087" cy="36576"/>
          </a:xfrm>
          <a:prstGeom prst="rect">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9512" y="4251960"/>
            <a:ext cx="4151376" cy="713232"/>
          </a:xfrm>
          <a:prstGeom prst="rect">
            <a:avLst/>
          </a:prstGeom>
          <a:noFill/>
        </p:spPr>
        <p:txBody>
          <a:bodyPr wrap="square" lIns="0" rIns="0" tIns="0" bIns="0">
            <a:spAutoFit/>
          </a:bodyPr>
          <a:lstStyle/>
          <a:p>
            <a:pPr algn="l">
              <a:lnSpc>
                <a:spcPct val="112000"/>
              </a:lnSpc>
              <a:spcBef>
                <a:spcPts val="0"/>
              </a:spcBef>
              <a:spcAft>
                <a:spcPts val="0"/>
              </a:spcAft>
            </a:pPr>
            <a:r>
              <a:rPr sz="2376" b="1">
                <a:solidFill>
                  <a:srgbClr val="1B2D40"/>
                </a:solidFill>
                <a:latin typeface="Georgia"/>
              </a:rPr>
              <a:t>Human-check the advice</a:t>
            </a:r>
          </a:p>
        </p:txBody>
      </p:sp>
      <p:sp>
        <p:nvSpPr>
          <p:cNvPr id="16" name="TextBox 15"/>
          <p:cNvSpPr txBox="1"/>
          <p:nvPr/>
        </p:nvSpPr>
        <p:spPr>
          <a:xfrm>
            <a:off x="5239512" y="5120640"/>
            <a:ext cx="4251960" cy="886968"/>
          </a:xfrm>
          <a:prstGeom prst="rect">
            <a:avLst/>
          </a:prstGeom>
          <a:noFill/>
        </p:spPr>
        <p:txBody>
          <a:bodyPr wrap="square" lIns="0" rIns="0" tIns="0" bIns="0">
            <a:spAutoFit/>
          </a:bodyPr>
          <a:lstStyle/>
          <a:p>
            <a:pPr algn="l">
              <a:lnSpc>
                <a:spcPct val="112000"/>
              </a:lnSpc>
              <a:spcBef>
                <a:spcPts val="0"/>
              </a:spcBef>
              <a:spcAft>
                <a:spcPts val="0"/>
              </a:spcAft>
            </a:pPr>
            <a:r>
              <a:rPr sz="1728" b="0">
                <a:solidFill>
                  <a:srgbClr val="586777"/>
                </a:solidFill>
                <a:latin typeface="Segoe UI"/>
              </a:rPr>
              <a:t>Check that rewrites keep the facts</a:t>
            </a:r>
          </a:p>
          <a:p>
            <a:pPr algn="l">
              <a:lnSpc>
                <a:spcPct val="112000"/>
              </a:lnSpc>
              <a:spcBef>
                <a:spcPts val="0"/>
              </a:spcBef>
              <a:spcAft>
                <a:spcPts val="0"/>
              </a:spcAft>
            </a:pPr>
            <a:r>
              <a:rPr sz="1728" b="0">
                <a:solidFill>
                  <a:srgbClr val="586777"/>
                </a:solidFill>
                <a:latin typeface="Segoe UI"/>
              </a:rPr>
              <a:t>and job matches are relevant.</a:t>
            </a:r>
          </a:p>
        </p:txBody>
      </p:sp>
      <p:sp>
        <p:nvSpPr>
          <p:cNvPr id="17" name="TextBox 16"/>
          <p:cNvSpPr txBox="1"/>
          <p:nvPr/>
        </p:nvSpPr>
        <p:spPr>
          <a:xfrm>
            <a:off x="9784080" y="3538728"/>
            <a:ext cx="416052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586777"/>
                </a:solidFill>
                <a:latin typeface="Segoe UI"/>
              </a:rPr>
              <a:t>FOLLOW UP</a:t>
            </a:r>
          </a:p>
        </p:txBody>
      </p:sp>
      <p:sp>
        <p:nvSpPr>
          <p:cNvPr id="18" name="Rectangle 17"/>
          <p:cNvSpPr/>
          <p:nvPr/>
        </p:nvSpPr>
        <p:spPr>
          <a:xfrm>
            <a:off x="9784080" y="3959352"/>
            <a:ext cx="4133087" cy="36576"/>
          </a:xfrm>
          <a:prstGeom prst="rect">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84080" y="4251960"/>
            <a:ext cx="4151376" cy="713232"/>
          </a:xfrm>
          <a:prstGeom prst="rect">
            <a:avLst/>
          </a:prstGeom>
          <a:noFill/>
        </p:spPr>
        <p:txBody>
          <a:bodyPr wrap="square" lIns="0" rIns="0" tIns="0" bIns="0">
            <a:spAutoFit/>
          </a:bodyPr>
          <a:lstStyle/>
          <a:p>
            <a:pPr algn="l">
              <a:lnSpc>
                <a:spcPct val="112000"/>
              </a:lnSpc>
              <a:spcBef>
                <a:spcPts val="0"/>
              </a:spcBef>
              <a:spcAft>
                <a:spcPts val="0"/>
              </a:spcAft>
            </a:pPr>
            <a:r>
              <a:rPr sz="2376" b="1">
                <a:solidFill>
                  <a:srgbClr val="1B2D40"/>
                </a:solidFill>
                <a:latin typeface="Georgia"/>
              </a:rPr>
              <a:t>Return after 7 days</a:t>
            </a:r>
          </a:p>
        </p:txBody>
      </p:sp>
      <p:sp>
        <p:nvSpPr>
          <p:cNvPr id="20" name="TextBox 19"/>
          <p:cNvSpPr txBox="1"/>
          <p:nvPr/>
        </p:nvSpPr>
        <p:spPr>
          <a:xfrm>
            <a:off x="9784080" y="5120640"/>
            <a:ext cx="4251960" cy="886968"/>
          </a:xfrm>
          <a:prstGeom prst="rect">
            <a:avLst/>
          </a:prstGeom>
          <a:noFill/>
        </p:spPr>
        <p:txBody>
          <a:bodyPr wrap="square" lIns="0" rIns="0" tIns="0" bIns="0">
            <a:spAutoFit/>
          </a:bodyPr>
          <a:lstStyle/>
          <a:p>
            <a:pPr algn="l">
              <a:lnSpc>
                <a:spcPct val="112000"/>
              </a:lnSpc>
              <a:spcBef>
                <a:spcPts val="0"/>
              </a:spcBef>
              <a:spcAft>
                <a:spcPts val="0"/>
              </a:spcAft>
            </a:pPr>
            <a:r>
              <a:rPr sz="1728" b="0">
                <a:solidFill>
                  <a:srgbClr val="586777"/>
                </a:solidFill>
                <a:latin typeface="Segoe UI"/>
              </a:rPr>
              <a:t>Count practice answers and</a:t>
            </a:r>
          </a:p>
          <a:p>
            <a:pPr algn="l">
              <a:lnSpc>
                <a:spcPct val="112000"/>
              </a:lnSpc>
              <a:spcBef>
                <a:spcPts val="0"/>
              </a:spcBef>
              <a:spcAft>
                <a:spcPts val="0"/>
              </a:spcAft>
            </a:pPr>
            <a:r>
              <a:rPr sz="1728" b="0">
                <a:solidFill>
                  <a:srgbClr val="586777"/>
                </a:solidFill>
                <a:latin typeface="Segoe UI"/>
              </a:rPr>
              <a:t>applications started. Ask what</a:t>
            </a:r>
          </a:p>
          <a:p>
            <a:pPr algn="l">
              <a:lnSpc>
                <a:spcPct val="112000"/>
              </a:lnSpc>
              <a:spcBef>
                <a:spcPts val="0"/>
              </a:spcBef>
              <a:spcAft>
                <a:spcPts val="0"/>
              </a:spcAft>
            </a:pPr>
            <a:r>
              <a:rPr sz="1728" b="0">
                <a:solidFill>
                  <a:srgbClr val="586777"/>
                </a:solidFill>
                <a:latin typeface="Segoe UI"/>
              </a:rPr>
              <a:t>helped and what blocked progress.</a:t>
            </a:r>
          </a:p>
        </p:txBody>
      </p:sp>
      <p:sp>
        <p:nvSpPr>
          <p:cNvPr id="21" name="Rounded Rectangle 20"/>
          <p:cNvSpPr/>
          <p:nvPr/>
        </p:nvSpPr>
        <p:spPr>
          <a:xfrm>
            <a:off x="694944" y="6281928"/>
            <a:ext cx="13277088" cy="1069848"/>
          </a:xfrm>
          <a:prstGeom prst="roundRect">
            <a:avLst>
              <a:gd name="adj" fmla="val 10256"/>
            </a:avLst>
          </a:prstGeom>
          <a:solidFill>
            <a:srgbClr val="1428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87552" y="6473952"/>
            <a:ext cx="521208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F27B43"/>
                </a:solidFill>
                <a:latin typeface="Segoe UI"/>
              </a:rPr>
              <a:t>CLICK MOBILE / KENYA ONLINE</a:t>
            </a:r>
          </a:p>
        </p:txBody>
      </p:sp>
      <p:sp>
        <p:nvSpPr>
          <p:cNvPr id="23" name="TextBox 22"/>
          <p:cNvSpPr txBox="1"/>
          <p:nvPr/>
        </p:nvSpPr>
        <p:spPr>
          <a:xfrm>
            <a:off x="6035040" y="6455664"/>
            <a:ext cx="7680960" cy="347472"/>
          </a:xfrm>
          <a:prstGeom prst="rect">
            <a:avLst/>
          </a:prstGeom>
          <a:noFill/>
        </p:spPr>
        <p:txBody>
          <a:bodyPr wrap="square" lIns="0" rIns="0" tIns="0" bIns="0">
            <a:spAutoFit/>
          </a:bodyPr>
          <a:lstStyle/>
          <a:p>
            <a:pPr algn="l">
              <a:lnSpc>
                <a:spcPct val="112000"/>
              </a:lnSpc>
              <a:spcBef>
                <a:spcPts val="0"/>
              </a:spcBef>
              <a:spcAft>
                <a:spcPts val="0"/>
              </a:spcAft>
            </a:pPr>
            <a:r>
              <a:rPr sz="2016" b="1">
                <a:solidFill>
                  <a:srgbClr val="F7F4EC"/>
                </a:solidFill>
                <a:latin typeface="Segoe UI"/>
              </a:rPr>
              <a:t>Mobile-first coaching for Kenyan learners.</a:t>
            </a:r>
          </a:p>
        </p:txBody>
      </p:sp>
      <p:sp>
        <p:nvSpPr>
          <p:cNvPr id="24" name="TextBox 23"/>
          <p:cNvSpPr txBox="1"/>
          <p:nvPr/>
        </p:nvSpPr>
        <p:spPr>
          <a:xfrm>
            <a:off x="987552" y="6922008"/>
            <a:ext cx="12801600" cy="256032"/>
          </a:xfrm>
          <a:prstGeom prst="rect">
            <a:avLst/>
          </a:prstGeom>
          <a:noFill/>
        </p:spPr>
        <p:txBody>
          <a:bodyPr wrap="square" lIns="0" rIns="0" tIns="0" bIns="0">
            <a:spAutoFit/>
          </a:bodyPr>
          <a:lstStyle/>
          <a:p>
            <a:pPr algn="l">
              <a:lnSpc>
                <a:spcPct val="112000"/>
              </a:lnSpc>
              <a:spcBef>
                <a:spcPts val="0"/>
              </a:spcBef>
              <a:spcAft>
                <a:spcPts val="0"/>
              </a:spcAft>
            </a:pPr>
            <a:r>
              <a:rPr sz="1439" b="0">
                <a:solidFill>
                  <a:srgbClr val="D4DEE6"/>
                </a:solidFill>
                <a:latin typeface="Segoe UI"/>
              </a:rPr>
              <a:t>Award fit: practical phone-browser access · also aligned with Brightest (employability) and Artefact (Data &amp; AI).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283F"/>
        </a:solidFill>
        <a:effectLst/>
      </p:bgPr>
    </p:bg>
    <p:spTree>
      <p:nvGrpSpPr>
        <p:cNvPr id="1" name=""/>
        <p:cNvGrpSpPr/>
        <p:nvPr/>
      </p:nvGrpSpPr>
      <p:grpSpPr/>
      <p:sp>
        <p:nvSpPr>
          <p:cNvPr id="2" name="Rectangle 1"/>
          <p:cNvSpPr/>
          <p:nvPr/>
        </p:nvSpPr>
        <p:spPr>
          <a:xfrm>
            <a:off x="658368" y="493776"/>
            <a:ext cx="347472" cy="45720"/>
          </a:xfrm>
          <a:prstGeom prst="rect">
            <a:avLst/>
          </a:prstGeom>
          <a:solidFill>
            <a:srgbClr val="F27B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79576" y="365760"/>
            <a:ext cx="12070080" cy="283464"/>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F27B43"/>
                </a:solidFill>
                <a:latin typeface="Segoe UI"/>
              </a:rPr>
              <a:t>08  /  TEAM DHRUZZZ</a:t>
            </a:r>
          </a:p>
        </p:txBody>
      </p:sp>
      <p:sp>
        <p:nvSpPr>
          <p:cNvPr id="4" name="TextBox 3"/>
          <p:cNvSpPr txBox="1"/>
          <p:nvPr/>
        </p:nvSpPr>
        <p:spPr>
          <a:xfrm>
            <a:off x="658368" y="996696"/>
            <a:ext cx="13313664" cy="1371600"/>
          </a:xfrm>
          <a:prstGeom prst="rect">
            <a:avLst/>
          </a:prstGeom>
          <a:noFill/>
        </p:spPr>
        <p:txBody>
          <a:bodyPr wrap="square" lIns="0" rIns="0" tIns="0" bIns="0">
            <a:spAutoFit/>
          </a:bodyPr>
          <a:lstStyle/>
          <a:p>
            <a:pPr algn="l">
              <a:lnSpc>
                <a:spcPct val="112000"/>
              </a:lnSpc>
              <a:spcBef>
                <a:spcPts val="0"/>
              </a:spcBef>
              <a:spcAft>
                <a:spcPts val="0"/>
              </a:spcAft>
            </a:pPr>
            <a:r>
              <a:rPr sz="4680" b="1">
                <a:solidFill>
                  <a:srgbClr val="F7F4EC"/>
                </a:solidFill>
                <a:latin typeface="Georgia"/>
              </a:rPr>
              <a:t>Turn experience into a clearer path.</a:t>
            </a:r>
          </a:p>
        </p:txBody>
      </p:sp>
      <p:sp>
        <p:nvSpPr>
          <p:cNvPr id="5" name="Rectangle 4"/>
          <p:cNvSpPr/>
          <p:nvPr/>
        </p:nvSpPr>
        <p:spPr>
          <a:xfrm>
            <a:off x="658368" y="7662672"/>
            <a:ext cx="13313664" cy="9144"/>
          </a:xfrm>
          <a:prstGeom prst="rect">
            <a:avLst/>
          </a:prstGeom>
          <a:solidFill>
            <a:srgbClr val="3850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76656" y="7799831"/>
            <a:ext cx="10058400" cy="228600"/>
          </a:xfrm>
          <a:prstGeom prst="rect">
            <a:avLst/>
          </a:prstGeom>
          <a:noFill/>
        </p:spPr>
        <p:txBody>
          <a:bodyPr wrap="square" lIns="0" rIns="0" tIns="0" bIns="0">
            <a:spAutoFit/>
          </a:bodyPr>
          <a:lstStyle/>
          <a:p>
            <a:pPr algn="l">
              <a:lnSpc>
                <a:spcPct val="112000"/>
              </a:lnSpc>
              <a:spcBef>
                <a:spcPts val="0"/>
              </a:spcBef>
              <a:spcAft>
                <a:spcPts val="0"/>
              </a:spcAft>
            </a:pPr>
            <a:r>
              <a:rPr sz="1152" b="0">
                <a:solidFill>
                  <a:srgbClr val="D4DEE6"/>
                </a:solidFill>
                <a:latin typeface="Segoe UI"/>
              </a:rPr>
              <a:t>NJIA  /  DHRUZZZ  /  KENYA · ONLINE</a:t>
            </a:r>
          </a:p>
        </p:txBody>
      </p:sp>
      <p:sp>
        <p:nvSpPr>
          <p:cNvPr id="7" name="TextBox 6"/>
          <p:cNvSpPr txBox="1"/>
          <p:nvPr/>
        </p:nvSpPr>
        <p:spPr>
          <a:xfrm>
            <a:off x="12801600" y="7781544"/>
            <a:ext cx="1170432" cy="256032"/>
          </a:xfrm>
          <a:prstGeom prst="rect">
            <a:avLst/>
          </a:prstGeom>
          <a:noFill/>
        </p:spPr>
        <p:txBody>
          <a:bodyPr wrap="square" lIns="0" rIns="0" tIns="0" bIns="0">
            <a:spAutoFit/>
          </a:bodyPr>
          <a:lstStyle/>
          <a:p>
            <a:pPr algn="r">
              <a:lnSpc>
                <a:spcPct val="112000"/>
              </a:lnSpc>
              <a:spcBef>
                <a:spcPts val="0"/>
              </a:spcBef>
              <a:spcAft>
                <a:spcPts val="0"/>
              </a:spcAft>
            </a:pPr>
            <a:r>
              <a:rPr sz="1296" b="0">
                <a:solidFill>
                  <a:srgbClr val="D4DEE6"/>
                </a:solidFill>
                <a:latin typeface="Segoe UI"/>
              </a:rPr>
              <a:t>08 / 08</a:t>
            </a:r>
          </a:p>
        </p:txBody>
      </p:sp>
      <p:sp>
        <p:nvSpPr>
          <p:cNvPr id="8" name="TextBox 7"/>
          <p:cNvSpPr txBox="1"/>
          <p:nvPr/>
        </p:nvSpPr>
        <p:spPr>
          <a:xfrm>
            <a:off x="694944" y="2569464"/>
            <a:ext cx="6217920" cy="1216152"/>
          </a:xfrm>
          <a:prstGeom prst="rect">
            <a:avLst/>
          </a:prstGeom>
          <a:noFill/>
        </p:spPr>
        <p:txBody>
          <a:bodyPr wrap="square" lIns="0" rIns="0" tIns="0" bIns="0">
            <a:spAutoFit/>
          </a:bodyPr>
          <a:lstStyle/>
          <a:p>
            <a:pPr algn="l">
              <a:lnSpc>
                <a:spcPct val="112000"/>
              </a:lnSpc>
              <a:spcBef>
                <a:spcPts val="0"/>
              </a:spcBef>
              <a:spcAft>
                <a:spcPts val="0"/>
              </a:spcAft>
            </a:pPr>
            <a:r>
              <a:rPr sz="7848" b="1">
                <a:solidFill>
                  <a:srgbClr val="F7F4EC"/>
                </a:solidFill>
                <a:latin typeface="Georgia"/>
              </a:rPr>
              <a:t>Njia</a:t>
            </a:r>
          </a:p>
        </p:txBody>
      </p:sp>
      <p:sp>
        <p:nvSpPr>
          <p:cNvPr id="9" name="TextBox 8"/>
          <p:cNvSpPr txBox="1"/>
          <p:nvPr/>
        </p:nvSpPr>
        <p:spPr>
          <a:xfrm>
            <a:off x="731520" y="3886200"/>
            <a:ext cx="12938760" cy="630936"/>
          </a:xfrm>
          <a:prstGeom prst="rect">
            <a:avLst/>
          </a:prstGeom>
          <a:noFill/>
        </p:spPr>
        <p:txBody>
          <a:bodyPr wrap="square" lIns="0" rIns="0" tIns="0" bIns="0">
            <a:spAutoFit/>
          </a:bodyPr>
          <a:lstStyle/>
          <a:p>
            <a:pPr algn="l">
              <a:lnSpc>
                <a:spcPct val="112000"/>
              </a:lnSpc>
              <a:spcBef>
                <a:spcPts val="0"/>
              </a:spcBef>
              <a:spcAft>
                <a:spcPts val="0"/>
              </a:spcAft>
            </a:pPr>
            <a:r>
              <a:rPr sz="2808" b="0">
                <a:solidFill>
                  <a:srgbClr val="F27B43"/>
                </a:solidFill>
                <a:latin typeface="Georgia"/>
              </a:rPr>
              <a:t>Ask. Match. Practise. Your next move.</a:t>
            </a:r>
          </a:p>
        </p:txBody>
      </p:sp>
      <p:sp>
        <p:nvSpPr>
          <p:cNvPr id="10" name="TextBox 9"/>
          <p:cNvSpPr txBox="1"/>
          <p:nvPr/>
        </p:nvSpPr>
        <p:spPr>
          <a:xfrm>
            <a:off x="731520" y="4864608"/>
            <a:ext cx="548640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D4DEE6"/>
                </a:solidFill>
                <a:latin typeface="Segoe UI"/>
              </a:rPr>
              <a:t>KENYA · ONLINE</a:t>
            </a:r>
          </a:p>
        </p:txBody>
      </p:sp>
      <p:sp>
        <p:nvSpPr>
          <p:cNvPr id="11" name="TextBox 10"/>
          <p:cNvSpPr txBox="1"/>
          <p:nvPr/>
        </p:nvSpPr>
        <p:spPr>
          <a:xfrm>
            <a:off x="731520" y="5321808"/>
            <a:ext cx="5669280" cy="1417320"/>
          </a:xfrm>
          <a:prstGeom prst="rect">
            <a:avLst/>
          </a:prstGeom>
          <a:noFill/>
        </p:spPr>
        <p:txBody>
          <a:bodyPr wrap="square" lIns="0" rIns="0" tIns="0" bIns="0">
            <a:spAutoFit/>
          </a:bodyPr>
          <a:lstStyle/>
          <a:p>
            <a:pPr algn="l">
              <a:lnSpc>
                <a:spcPct val="112000"/>
              </a:lnSpc>
              <a:spcBef>
                <a:spcPts val="0"/>
              </a:spcBef>
              <a:spcAft>
                <a:spcPts val="0"/>
              </a:spcAft>
            </a:pPr>
            <a:r>
              <a:rPr sz="2448" b="0">
                <a:solidFill>
                  <a:srgbClr val="F7F4EC"/>
                </a:solidFill>
                <a:latin typeface="Segoe UI"/>
              </a:rPr>
              <a:t>Eeshan Vaghjiani</a:t>
            </a:r>
          </a:p>
          <a:p>
            <a:pPr algn="l">
              <a:lnSpc>
                <a:spcPct val="112000"/>
              </a:lnSpc>
              <a:spcBef>
                <a:spcPts val="0"/>
              </a:spcBef>
              <a:spcAft>
                <a:spcPts val="0"/>
              </a:spcAft>
            </a:pPr>
            <a:r>
              <a:rPr sz="2448" b="0">
                <a:solidFill>
                  <a:srgbClr val="F7F4EC"/>
                </a:solidFill>
                <a:latin typeface="Segoe UI"/>
              </a:rPr>
              <a:t>Bhavin Mepani</a:t>
            </a:r>
          </a:p>
          <a:p>
            <a:pPr algn="l">
              <a:lnSpc>
                <a:spcPct val="112000"/>
              </a:lnSpc>
              <a:spcBef>
                <a:spcPts val="0"/>
              </a:spcBef>
              <a:spcAft>
                <a:spcPts val="0"/>
              </a:spcAft>
            </a:pPr>
            <a:r>
              <a:rPr sz="2448" b="0">
                <a:solidFill>
                  <a:srgbClr val="F7F4EC"/>
                </a:solidFill>
                <a:latin typeface="Segoe UI"/>
              </a:rPr>
              <a:t>Dhruvin Bhudia</a:t>
            </a:r>
          </a:p>
        </p:txBody>
      </p:sp>
      <p:sp>
        <p:nvSpPr>
          <p:cNvPr id="12" name="Rounded Rectangle 11"/>
          <p:cNvSpPr/>
          <p:nvPr/>
        </p:nvSpPr>
        <p:spPr>
          <a:xfrm>
            <a:off x="7260336" y="4837176"/>
            <a:ext cx="6711696" cy="2459736"/>
          </a:xfrm>
          <a:prstGeom prst="roundRect">
            <a:avLst>
              <a:gd name="adj" fmla="val 4460"/>
            </a:avLst>
          </a:prstGeom>
          <a:solidFill>
            <a:srgbClr val="203A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62088" y="5047488"/>
            <a:ext cx="576072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F27B43"/>
                </a:solidFill>
                <a:latin typeface="Segoe UI"/>
              </a:rPr>
              <a:t>LIVE</a:t>
            </a:r>
          </a:p>
        </p:txBody>
      </p:sp>
      <p:sp>
        <p:nvSpPr>
          <p:cNvPr id="14" name="TextBox 13"/>
          <p:cNvSpPr txBox="1"/>
          <p:nvPr/>
        </p:nvSpPr>
        <p:spPr>
          <a:xfrm>
            <a:off x="7562088" y="5321808"/>
            <a:ext cx="6117336" cy="347472"/>
          </a:xfrm>
          <a:prstGeom prst="rect">
            <a:avLst/>
          </a:prstGeom>
          <a:noFill/>
        </p:spPr>
        <p:txBody>
          <a:bodyPr wrap="square" lIns="0" rIns="0" tIns="0" bIns="0">
            <a:spAutoFit/>
          </a:bodyPr>
          <a:lstStyle/>
          <a:p>
            <a:pPr algn="l">
              <a:lnSpc>
                <a:spcPct val="112000"/>
              </a:lnSpc>
              <a:spcBef>
                <a:spcPts val="0"/>
              </a:spcBef>
              <a:spcAft>
                <a:spcPts val="0"/>
              </a:spcAft>
            </a:pPr>
            <a:r>
              <a:rPr sz="1728" b="0">
                <a:solidFill>
                  <a:srgbClr val="F7F4EC"/>
                </a:solidFill>
                <a:latin typeface="Segoe UI"/>
                <a:hlinkClick r:id="rId2"/>
              </a:rPr>
              <a:t>gomycode-2026.vercel.app</a:t>
            </a:r>
          </a:p>
        </p:txBody>
      </p:sp>
      <p:sp>
        <p:nvSpPr>
          <p:cNvPr id="15" name="TextBox 14"/>
          <p:cNvSpPr txBox="1"/>
          <p:nvPr/>
        </p:nvSpPr>
        <p:spPr>
          <a:xfrm>
            <a:off x="7562088" y="5724144"/>
            <a:ext cx="576072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F27B43"/>
                </a:solidFill>
                <a:latin typeface="Segoe UI"/>
              </a:rPr>
              <a:t>SOURCE</a:t>
            </a:r>
          </a:p>
        </p:txBody>
      </p:sp>
      <p:sp>
        <p:nvSpPr>
          <p:cNvPr id="16" name="TextBox 15"/>
          <p:cNvSpPr txBox="1"/>
          <p:nvPr/>
        </p:nvSpPr>
        <p:spPr>
          <a:xfrm>
            <a:off x="7562088" y="5998464"/>
            <a:ext cx="6117336" cy="347472"/>
          </a:xfrm>
          <a:prstGeom prst="rect">
            <a:avLst/>
          </a:prstGeom>
          <a:noFill/>
        </p:spPr>
        <p:txBody>
          <a:bodyPr wrap="square" lIns="0" rIns="0" tIns="0" bIns="0">
            <a:spAutoFit/>
          </a:bodyPr>
          <a:lstStyle/>
          <a:p>
            <a:pPr algn="l">
              <a:lnSpc>
                <a:spcPct val="112000"/>
              </a:lnSpc>
              <a:spcBef>
                <a:spcPts val="0"/>
              </a:spcBef>
              <a:spcAft>
                <a:spcPts val="0"/>
              </a:spcAft>
            </a:pPr>
            <a:r>
              <a:rPr sz="1728" b="0">
                <a:solidFill>
                  <a:srgbClr val="F7F4EC"/>
                </a:solidFill>
                <a:latin typeface="Segoe UI"/>
                <a:hlinkClick r:id="rId3"/>
              </a:rPr>
              <a:t>github.com/Eeshan-Vaghjiani/njia</a:t>
            </a:r>
          </a:p>
        </p:txBody>
      </p:sp>
      <p:sp>
        <p:nvSpPr>
          <p:cNvPr id="17" name="TextBox 16"/>
          <p:cNvSpPr txBox="1"/>
          <p:nvPr/>
        </p:nvSpPr>
        <p:spPr>
          <a:xfrm>
            <a:off x="7562088" y="6400800"/>
            <a:ext cx="5760720" cy="292608"/>
          </a:xfrm>
          <a:prstGeom prst="rect">
            <a:avLst/>
          </a:prstGeom>
          <a:noFill/>
        </p:spPr>
        <p:txBody>
          <a:bodyPr wrap="square" lIns="0" rIns="0" tIns="0" bIns="0">
            <a:spAutoFit/>
          </a:bodyPr>
          <a:lstStyle/>
          <a:p>
            <a:pPr algn="l">
              <a:lnSpc>
                <a:spcPct val="112000"/>
              </a:lnSpc>
              <a:spcBef>
                <a:spcPts val="0"/>
              </a:spcBef>
              <a:spcAft>
                <a:spcPts val="0"/>
              </a:spcAft>
            </a:pPr>
            <a:r>
              <a:rPr sz="1368" b="1">
                <a:solidFill>
                  <a:srgbClr val="F27B43"/>
                </a:solidFill>
                <a:latin typeface="Segoe UI"/>
              </a:rPr>
              <a:t>90-SECOND DEMO</a:t>
            </a:r>
          </a:p>
        </p:txBody>
      </p:sp>
      <p:sp>
        <p:nvSpPr>
          <p:cNvPr id="18" name="TextBox 17"/>
          <p:cNvSpPr txBox="1"/>
          <p:nvPr/>
        </p:nvSpPr>
        <p:spPr>
          <a:xfrm>
            <a:off x="7562088" y="6675120"/>
            <a:ext cx="6117336" cy="347472"/>
          </a:xfrm>
          <a:prstGeom prst="rect">
            <a:avLst/>
          </a:prstGeom>
          <a:noFill/>
        </p:spPr>
        <p:txBody>
          <a:bodyPr wrap="square" lIns="0" rIns="0" tIns="0" bIns="0">
            <a:spAutoFit/>
          </a:bodyPr>
          <a:lstStyle/>
          <a:p>
            <a:pPr algn="l">
              <a:lnSpc>
                <a:spcPct val="112000"/>
              </a:lnSpc>
              <a:spcBef>
                <a:spcPts val="0"/>
              </a:spcBef>
              <a:spcAft>
                <a:spcPts val="0"/>
              </a:spcAft>
            </a:pPr>
            <a:r>
              <a:rPr sz="1584" b="0">
                <a:solidFill>
                  <a:srgbClr val="F7F4EC"/>
                </a:solidFill>
                <a:latin typeface="Segoe UI"/>
                <a:hlinkClick r:id="rId4"/>
              </a:rPr>
              <a:t>njia-demo-90s.mp4 · published</a:t>
            </a:r>
          </a:p>
        </p:txBody>
      </p:sp>
      <p:sp>
        <p:nvSpPr>
          <p:cNvPr id="19" name="TextBox 18"/>
          <p:cNvSpPr txBox="1"/>
          <p:nvPr/>
        </p:nvSpPr>
        <p:spPr>
          <a:xfrm>
            <a:off x="731520" y="7022592"/>
            <a:ext cx="6400800" cy="338328"/>
          </a:xfrm>
          <a:prstGeom prst="rect">
            <a:avLst/>
          </a:prstGeom>
          <a:noFill/>
        </p:spPr>
        <p:txBody>
          <a:bodyPr wrap="square" lIns="0" rIns="0" tIns="0" bIns="0">
            <a:spAutoFit/>
          </a:bodyPr>
          <a:lstStyle/>
          <a:p>
            <a:pPr algn="l">
              <a:lnSpc>
                <a:spcPct val="112000"/>
              </a:lnSpc>
              <a:spcBef>
                <a:spcPts val="0"/>
              </a:spcBef>
              <a:spcAft>
                <a:spcPts val="0"/>
              </a:spcAft>
            </a:pPr>
            <a:r>
              <a:rPr sz="1728" b="0">
                <a:solidFill>
                  <a:srgbClr val="D4DEE6"/>
                </a:solidFill>
                <a:latin typeface="Segoe UI"/>
              </a:rPr>
              <a:t>Pilot invitation: Kenyan learners + training partners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Njia — Team Dhruzzz</dc:title>
  <dc:subject>Ask. Match. Practise. Evidence-grounded career coaching for Kenyan learners</dc:subject>
  <dc:creator>Team Dhruzzz</dc:creator>
  <cp:keywords>Njia, Kenya, Dhruzzz, career guidance, live jobs, interview practice, historical demand</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